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8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89" d="100"/>
          <a:sy n="89" d="100"/>
        </p:scale>
        <p:origin x="2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1201573" y="1080996"/>
          <a:ext cx="1373993" cy="118856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1429263" y="1277957"/>
        <a:ext cx="918613" cy="794638"/>
      </dsp:txXfrm>
    </dsp:sp>
    <dsp:sp modelId="{16108406-D824-48AA-986F-F20B13B82A81}">
      <dsp:nvSpPr>
        <dsp:cNvPr id="0" name=""/>
        <dsp:cNvSpPr/>
      </dsp:nvSpPr>
      <dsp:spPr>
        <a:xfrm>
          <a:off x="2061957" y="512350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1328137" y="0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1514736" y="161430"/>
        <a:ext cx="752780" cy="651243"/>
      </dsp:txXfrm>
    </dsp:sp>
    <dsp:sp modelId="{322F9847-0308-445A-A02E-9697140899BE}">
      <dsp:nvSpPr>
        <dsp:cNvPr id="0" name=""/>
        <dsp:cNvSpPr/>
      </dsp:nvSpPr>
      <dsp:spPr>
        <a:xfrm>
          <a:off x="2666974" y="1347392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2360790" y="59913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2547389" y="760568"/>
        <a:ext cx="752780" cy="651243"/>
      </dsp:txXfrm>
    </dsp:sp>
    <dsp:sp modelId="{76DF7524-118F-4A3C-8039-C7730AC993D2}">
      <dsp:nvSpPr>
        <dsp:cNvPr id="0" name=""/>
        <dsp:cNvSpPr/>
      </dsp:nvSpPr>
      <dsp:spPr>
        <a:xfrm>
          <a:off x="2246690" y="228999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2360790" y="177697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2547389" y="1938406"/>
        <a:ext cx="752780" cy="651243"/>
      </dsp:txXfrm>
    </dsp:sp>
    <dsp:sp modelId="{6A5105C0-DF27-4B27-8885-6430EAC6309F}">
      <dsp:nvSpPr>
        <dsp:cNvPr id="0" name=""/>
        <dsp:cNvSpPr/>
      </dsp:nvSpPr>
      <dsp:spPr>
        <a:xfrm>
          <a:off x="1204130" y="2387843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1328137" y="2376785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1514736" y="2538215"/>
        <a:ext cx="752780" cy="651243"/>
      </dsp:txXfrm>
    </dsp:sp>
    <dsp:sp modelId="{49B31C55-29E4-4F65-B048-7407A37441AB}">
      <dsp:nvSpPr>
        <dsp:cNvPr id="0" name=""/>
        <dsp:cNvSpPr/>
      </dsp:nvSpPr>
      <dsp:spPr>
        <a:xfrm>
          <a:off x="589204" y="155313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290691" y="177764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477290" y="1939076"/>
        <a:ext cx="752780" cy="651243"/>
      </dsp:txXfrm>
    </dsp:sp>
    <dsp:sp modelId="{C5A425D9-4151-4A77-AD71-BFDEBC1E8358}">
      <dsp:nvSpPr>
        <dsp:cNvPr id="0" name=""/>
        <dsp:cNvSpPr/>
      </dsp:nvSpPr>
      <dsp:spPr>
        <a:xfrm>
          <a:off x="290691" y="59779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477290" y="759228"/>
        <a:ext cx="752780" cy="6512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42287" y="0"/>
          <a:ext cx="9545919" cy="1136074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3838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</a:t>
          </a:r>
        </a:p>
      </dsp:txBody>
      <dsp:txXfrm>
        <a:off x="26021" y="363005"/>
        <a:ext cx="2449593" cy="410063"/>
      </dsp:txXfrm>
    </dsp:sp>
    <dsp:sp modelId="{02C6F657-DC22-4874-B839-ED01F19A363A}">
      <dsp:nvSpPr>
        <dsp:cNvPr id="0" name=""/>
        <dsp:cNvSpPr/>
      </dsp:nvSpPr>
      <dsp:spPr>
        <a:xfrm>
          <a:off x="2913457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 Prep</a:t>
          </a:r>
          <a:endParaRPr lang="en-US" sz="1800" kern="1200" dirty="0"/>
        </a:p>
      </dsp:txBody>
      <dsp:txXfrm>
        <a:off x="2935640" y="363005"/>
        <a:ext cx="2449593" cy="410063"/>
      </dsp:txXfrm>
    </dsp:sp>
    <dsp:sp modelId="{C00E62EC-C631-4907-A6A9-ACFBFA247E6A}">
      <dsp:nvSpPr>
        <dsp:cNvPr id="0" name=""/>
        <dsp:cNvSpPr/>
      </dsp:nvSpPr>
      <dsp:spPr>
        <a:xfrm>
          <a:off x="582307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model</a:t>
          </a:r>
        </a:p>
      </dsp:txBody>
      <dsp:txXfrm>
        <a:off x="5845259" y="363005"/>
        <a:ext cx="2449593" cy="410063"/>
      </dsp:txXfrm>
    </dsp:sp>
    <dsp:sp modelId="{2B39B381-C3F6-40EF-9153-96AC0478B650}">
      <dsp:nvSpPr>
        <dsp:cNvPr id="0" name=""/>
        <dsp:cNvSpPr/>
      </dsp:nvSpPr>
      <dsp:spPr>
        <a:xfrm>
          <a:off x="873269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output</a:t>
          </a:r>
        </a:p>
      </dsp:txBody>
      <dsp:txXfrm>
        <a:off x="8754879" y="363005"/>
        <a:ext cx="2449593" cy="4100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10/23/2026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E530-03B6-8156-802E-3AA1B94E6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139" y="2080620"/>
            <a:ext cx="11238806" cy="920276"/>
          </a:xfrm>
        </p:spPr>
        <p:txBody>
          <a:bodyPr/>
          <a:lstStyle/>
          <a:p>
            <a:pPr algn="ctr"/>
            <a:r>
              <a:rPr lang="en-US" sz="6000" dirty="0"/>
              <a:t>From On-Premises to Cloud: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543AB-30BC-7246-CBF2-7DCB5BA96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8824" y="3000896"/>
            <a:ext cx="10083852" cy="507075"/>
          </a:xfrm>
        </p:spPr>
        <p:txBody>
          <a:bodyPr>
            <a:norm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Lessons Learned from an Enterprise AWS Migration at Fannie Mae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4EC045-ACD7-FDB8-A5CF-6A5B7240BE02}"/>
              </a:ext>
            </a:extLst>
          </p:cNvPr>
          <p:cNvSpPr txBox="1">
            <a:spLocks/>
          </p:cNvSpPr>
          <p:nvPr/>
        </p:nvSpPr>
        <p:spPr bwMode="gray">
          <a:xfrm>
            <a:off x="4705003" y="4771507"/>
            <a:ext cx="2781993" cy="114489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 cap="all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b="1" dirty="0">
                <a:solidFill>
                  <a:schemeClr val="bg1"/>
                </a:solidFill>
                <a:cs typeface="Times New Roman" panose="02020603050405020304" pitchFamily="18" charset="0"/>
              </a:rPr>
              <a:t>Wujian Xue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Oct 2026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Cincinnati, OH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202-98E5-0852-D355-C6C8631CCA54}"/>
              </a:ext>
            </a:extLst>
          </p:cNvPr>
          <p:cNvSpPr txBox="1"/>
          <p:nvPr/>
        </p:nvSpPr>
        <p:spPr>
          <a:xfrm>
            <a:off x="8007875" y="6182405"/>
            <a:ext cx="37130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626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EDF2-8E54-B45D-176B-457D10A4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0401-06A1-81C3-6519-0A37820C4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 - Fannie Mae</a:t>
            </a:r>
          </a:p>
          <a:p>
            <a:r>
              <a:rPr lang="en-US" dirty="0"/>
              <a:t>Cloud Migration</a:t>
            </a:r>
          </a:p>
          <a:p>
            <a:r>
              <a:rPr lang="en-US" dirty="0"/>
              <a:t>My work in the migration</a:t>
            </a:r>
          </a:p>
          <a:p>
            <a:r>
              <a:rPr lang="en-US" dirty="0"/>
              <a:t>Additional value: Efficiency and Accuracy</a:t>
            </a:r>
          </a:p>
          <a:p>
            <a:r>
              <a:rPr lang="en-US" dirty="0"/>
              <a:t>Gen AI and future of code conversion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4E66F-8A13-1A8B-6EEA-628C9B863288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36808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EE76F-279D-D112-43F0-7D1482E7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102" y="915479"/>
            <a:ext cx="11338560" cy="706964"/>
          </a:xfrm>
        </p:spPr>
        <p:txBody>
          <a:bodyPr/>
          <a:lstStyle/>
          <a:p>
            <a:r>
              <a:rPr lang="en-US" dirty="0"/>
              <a:t>1. Background -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B3C0A-E402-FD38-F6EE-47BD7DE45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2719878"/>
            <a:ext cx="7506547" cy="3416300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/>
              <a:t>Business: </a:t>
            </a:r>
          </a:p>
          <a:p>
            <a:pPr lvl="1"/>
            <a:r>
              <a:rPr lang="en-US" dirty="0"/>
              <a:t>Buy mortgage from lenders across the U.S., give lenders cash to make more home loans.</a:t>
            </a:r>
          </a:p>
          <a:p>
            <a:pPr lvl="1"/>
            <a:r>
              <a:rPr lang="en-US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dirty="0"/>
              <a:t>Chartered by the Congress in 1938, under federal conservatorship in 2008. </a:t>
            </a:r>
          </a:p>
          <a:p>
            <a:pPr lvl="1"/>
            <a:r>
              <a:rPr lang="en-US" dirty="0"/>
              <a:t>Hold $4.3 trillion assets,  financed 25%  homes in the U.S. </a:t>
            </a:r>
          </a:p>
          <a:p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8FE3219-9ABF-6031-0DCC-13804982CC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72757125"/>
              </p:ext>
            </p:extLst>
          </p:nvPr>
        </p:nvGraphicFramePr>
        <p:xfrm>
          <a:off x="8127999" y="2878666"/>
          <a:ext cx="3777460" cy="3350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FDC64A-E5D9-9D5C-400B-437AA99E9EAE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67599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00EA9-D2A4-324F-8606-3CDE0F06A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940" y="904805"/>
            <a:ext cx="8761413" cy="706964"/>
          </a:xfrm>
        </p:spPr>
        <p:txBody>
          <a:bodyPr/>
          <a:lstStyle/>
          <a:p>
            <a:r>
              <a:rPr lang="sv-SE" dirty="0"/>
              <a:t>2.Cloud Migration in Fannie Mae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9A460-4838-7CDF-9663-3122CC5F7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354" y="2544234"/>
            <a:ext cx="3908113" cy="402167"/>
          </a:xfrm>
        </p:spPr>
        <p:txBody>
          <a:bodyPr/>
          <a:lstStyle/>
          <a:p>
            <a:r>
              <a:rPr lang="en-US" dirty="0"/>
              <a:t>7 Rs in AWS Cloud Migration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F2936-3CFA-A896-4C17-FEFAFAB20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70" y="3063876"/>
            <a:ext cx="4390862" cy="3636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2EEDFA-C1D6-BA5B-129B-7C8D1B083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621" y="2711877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D3D017-E651-4304-4D01-96CFF661D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97" y="4004579"/>
            <a:ext cx="1388533" cy="1041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0FF08C-CB3B-2CF3-D883-FDF108A0C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19" y="4073065"/>
            <a:ext cx="1253067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804DAD-7251-FD22-EE74-4352BA72A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801" y="5350443"/>
            <a:ext cx="1580274" cy="9398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C02668-4915-94EF-92A8-D28B7FEF46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261" y="4073065"/>
            <a:ext cx="1531814" cy="7089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0F471-1F10-43CA-CBC1-1464D5C19F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5103" y="5438609"/>
            <a:ext cx="1514018" cy="851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BB5AB5-3B15-369B-AC41-4379CF98DF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97392" y="5350443"/>
            <a:ext cx="1577323" cy="10037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EF7885-8894-6379-FF11-E2671C4ACAF7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5925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DDE69-3F80-8204-405C-BCA5C05A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27" y="872232"/>
            <a:ext cx="10164979" cy="706964"/>
          </a:xfrm>
        </p:spPr>
        <p:txBody>
          <a:bodyPr/>
          <a:lstStyle/>
          <a:p>
            <a:r>
              <a:rPr lang="en-US" dirty="0"/>
              <a:t>2.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73DF9-3166-A60E-52C2-E39C8F06D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2290234"/>
            <a:ext cx="11396134" cy="706964"/>
          </a:xfrm>
        </p:spPr>
        <p:txBody>
          <a:bodyPr/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5AB3C-3BC2-1BB0-A480-079D7BC5D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83" y="4025063"/>
            <a:ext cx="2007612" cy="20076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CB48E5-6543-1116-993A-705850C76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05" y="2957435"/>
            <a:ext cx="1257396" cy="1257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FC7744-7040-39EC-5B32-811FF775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208" y="3021465"/>
            <a:ext cx="1887113" cy="10497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366866-BA32-93EF-E882-DA10563BE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375" y="4463839"/>
            <a:ext cx="1829936" cy="1013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14B818-2604-D038-6A7F-2DFDACE5B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0065" y="4463839"/>
            <a:ext cx="1397559" cy="929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0405E3-91AB-1BC4-4432-802AF71DEA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4386" y="3429000"/>
            <a:ext cx="2105887" cy="5880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3E1CFE-00BD-35DB-84AE-E1D7386211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841" y="4524514"/>
            <a:ext cx="1652317" cy="929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E2673-0819-48AC-AEC6-AEC75FFFA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7163" y="4578302"/>
            <a:ext cx="1167504" cy="7005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CBC153-62D9-D625-079A-DEB8576A0C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68" y="2933161"/>
            <a:ext cx="2244366" cy="13472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8CB34E-20BE-1714-5A1C-D6DA56BD9749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771836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CEDFC-FB8B-5C8E-0043-6AAE4647D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197" y="877915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0E313-0497-11D3-5F35-E50D606AC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248" y="2413649"/>
            <a:ext cx="11287814" cy="462437"/>
          </a:xfrm>
        </p:spPr>
        <p:txBody>
          <a:bodyPr>
            <a:normAutofit/>
          </a:bodyPr>
          <a:lstStyle/>
          <a:p>
            <a:r>
              <a:rPr lang="en-US" altLang="zh-CN" dirty="0"/>
              <a:t>I worked in EMA to migrate CCAF models from SAS to</a:t>
            </a:r>
            <a:r>
              <a:rPr lang="zh-CN" altLang="en-US" dirty="0"/>
              <a:t> </a:t>
            </a:r>
            <a:r>
              <a:rPr lang="en-US" altLang="zh-CN" dirty="0"/>
              <a:t>R/Python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D608DF-4CF0-28B6-9BE2-8FDAC1198024}"/>
              </a:ext>
            </a:extLst>
          </p:cNvPr>
          <p:cNvSpPr/>
          <p:nvPr/>
        </p:nvSpPr>
        <p:spPr>
          <a:xfrm>
            <a:off x="590197" y="2979089"/>
            <a:ext cx="1850969" cy="8942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EMA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9B3F70-0DC5-D7B7-C565-FA648C385C04}"/>
              </a:ext>
            </a:extLst>
          </p:cNvPr>
          <p:cNvSpPr/>
          <p:nvPr/>
        </p:nvSpPr>
        <p:spPr>
          <a:xfrm>
            <a:off x="5184498" y="2987326"/>
            <a:ext cx="1823004" cy="8942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CCFA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BCF8376-67F8-6314-44DB-92293730E99C}"/>
              </a:ext>
            </a:extLst>
          </p:cNvPr>
          <p:cNvSpPr txBox="1">
            <a:spLocks/>
          </p:cNvSpPr>
          <p:nvPr/>
        </p:nvSpPr>
        <p:spPr>
          <a:xfrm>
            <a:off x="4550349" y="4009561"/>
            <a:ext cx="3461737" cy="377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Common Cash Flow Applications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1A2269-9CB7-D78D-F2AA-2C255022BB68}"/>
              </a:ext>
            </a:extLst>
          </p:cNvPr>
          <p:cNvSpPr txBox="1">
            <a:spLocks/>
          </p:cNvSpPr>
          <p:nvPr/>
        </p:nvSpPr>
        <p:spPr>
          <a:xfrm>
            <a:off x="117248" y="4196468"/>
            <a:ext cx="4062668" cy="377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065E8-B245-ACF7-1E53-587354147EDB}"/>
              </a:ext>
            </a:extLst>
          </p:cNvPr>
          <p:cNvSpPr txBox="1"/>
          <p:nvPr/>
        </p:nvSpPr>
        <p:spPr>
          <a:xfrm>
            <a:off x="259643" y="4009561"/>
            <a:ext cx="30987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Enterprise Modeling and Analytics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420277-E640-F602-1271-98EC524CF2D6}"/>
              </a:ext>
            </a:extLst>
          </p:cNvPr>
          <p:cNvSpPr/>
          <p:nvPr/>
        </p:nvSpPr>
        <p:spPr>
          <a:xfrm>
            <a:off x="9684328" y="2987326"/>
            <a:ext cx="1850970" cy="890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Loss severity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3CF30E-B820-0981-059C-A22403E3347E}"/>
              </a:ext>
            </a:extLst>
          </p:cNvPr>
          <p:cNvSpPr txBox="1">
            <a:spLocks/>
          </p:cNvSpPr>
          <p:nvPr/>
        </p:nvSpPr>
        <p:spPr>
          <a:xfrm>
            <a:off x="8753302" y="4001789"/>
            <a:ext cx="3546764" cy="37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Dollar loss / unpaid principal balance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46B9A0-8B8D-3E4A-DEC0-964368D39743}"/>
              </a:ext>
            </a:extLst>
          </p:cNvPr>
          <p:cNvSpPr/>
          <p:nvPr/>
        </p:nvSpPr>
        <p:spPr>
          <a:xfrm>
            <a:off x="618597" y="5558667"/>
            <a:ext cx="922717" cy="442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SAS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A1B61F-DCDF-8FCC-0127-A0A9DE0F238C}"/>
              </a:ext>
            </a:extLst>
          </p:cNvPr>
          <p:cNvSpPr/>
          <p:nvPr/>
        </p:nvSpPr>
        <p:spPr>
          <a:xfrm>
            <a:off x="2441166" y="5250713"/>
            <a:ext cx="1023503" cy="386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R/RStudio</a:t>
            </a:r>
            <a:endParaRPr lang="en-US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E02AED-2106-FDE2-19E1-34D40C3491F9}"/>
              </a:ext>
            </a:extLst>
          </p:cNvPr>
          <p:cNvSpPr/>
          <p:nvPr/>
        </p:nvSpPr>
        <p:spPr>
          <a:xfrm>
            <a:off x="5184933" y="5779946"/>
            <a:ext cx="922717" cy="3987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Unix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E94FFC-12F0-1356-CFB5-F73145587BD5}"/>
              </a:ext>
            </a:extLst>
          </p:cNvPr>
          <p:cNvSpPr/>
          <p:nvPr/>
        </p:nvSpPr>
        <p:spPr>
          <a:xfrm>
            <a:off x="8833758" y="5790567"/>
            <a:ext cx="922717" cy="3924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Putty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091B60-5CA9-8B90-801C-EF861E3BDE58}"/>
              </a:ext>
            </a:extLst>
          </p:cNvPr>
          <p:cNvSpPr/>
          <p:nvPr/>
        </p:nvSpPr>
        <p:spPr>
          <a:xfrm>
            <a:off x="7007502" y="5764108"/>
            <a:ext cx="1023503" cy="4311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WinSCP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E22C01-B998-89AB-8C13-AF595AFC69FB}"/>
              </a:ext>
            </a:extLst>
          </p:cNvPr>
          <p:cNvSpPr/>
          <p:nvPr/>
        </p:nvSpPr>
        <p:spPr>
          <a:xfrm>
            <a:off x="10346874" y="5764108"/>
            <a:ext cx="940940" cy="389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Git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74971-E5B0-9D99-12DB-F048AD38DDA6}"/>
              </a:ext>
            </a:extLst>
          </p:cNvPr>
          <p:cNvSpPr/>
          <p:nvPr/>
        </p:nvSpPr>
        <p:spPr>
          <a:xfrm>
            <a:off x="2435525" y="6178667"/>
            <a:ext cx="922717" cy="386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Python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8D7C319-6BA3-AB7E-C66E-85829E947658}"/>
              </a:ext>
            </a:extLst>
          </p:cNvPr>
          <p:cNvSpPr txBox="1">
            <a:spLocks/>
          </p:cNvSpPr>
          <p:nvPr/>
        </p:nvSpPr>
        <p:spPr>
          <a:xfrm>
            <a:off x="0" y="4681098"/>
            <a:ext cx="11287814" cy="462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Technologies:</a:t>
            </a:r>
            <a:endParaRPr lang="en-U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B7C64D-A991-32E6-C2D8-9B9B57914C51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 flipV="1">
            <a:off x="1541314" y="5443765"/>
            <a:ext cx="899852" cy="336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F47D91-8991-0B5B-DEA9-A18F30F1CFF6}"/>
              </a:ext>
            </a:extLst>
          </p:cNvPr>
          <p:cNvCxnSpPr>
            <a:stCxn id="12" idx="3"/>
            <a:endCxn id="18" idx="1"/>
          </p:cNvCxnSpPr>
          <p:nvPr/>
        </p:nvCxnSpPr>
        <p:spPr>
          <a:xfrm>
            <a:off x="1541314" y="5779946"/>
            <a:ext cx="894211" cy="591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B5F8E24-132B-C328-20AD-389B40BDFB6D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906971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4E6D8-5629-464B-16EF-F19EF89A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90" y="890541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2FB1B-D47B-36EB-3272-31AFE7473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381" y="2345805"/>
            <a:ext cx="11346874" cy="35583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 d</a:t>
            </a:r>
            <a:r>
              <a:rPr lang="en-US" altLang="zh-CN" dirty="0"/>
              <a:t>idn’t</a:t>
            </a:r>
            <a:r>
              <a:rPr lang="en-US" dirty="0"/>
              <a:t> have access to SAS. I only had the SAS code and log files. I had to ask my teammates to create some intermediate datasets.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611D1E-7478-2FC3-6B1F-4EF0867A7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969" y="2816815"/>
            <a:ext cx="4362386" cy="36574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58359-594C-41DC-CFE5-FE178A4C5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" y="2820971"/>
            <a:ext cx="2247708" cy="38215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766DBC-F7D3-BB94-232C-E7402B400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305" y="2867543"/>
            <a:ext cx="4743695" cy="36574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79C72A-35A2-9C99-559F-E435C87ABD65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14D2D-0E06-7D9D-06C1-162B4B6D1463}"/>
              </a:ext>
            </a:extLst>
          </p:cNvPr>
          <p:cNvSpPr/>
          <p:nvPr/>
        </p:nvSpPr>
        <p:spPr>
          <a:xfrm>
            <a:off x="4384102" y="3344158"/>
            <a:ext cx="26582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Sample</a:t>
            </a:r>
          </a:p>
        </p:txBody>
      </p:sp>
    </p:spTree>
    <p:extLst>
      <p:ext uri="{BB962C8B-B14F-4D97-AF65-F5344CB8AC3E}">
        <p14:creationId xmlns:p14="http://schemas.microsoft.com/office/powerpoint/2010/main" val="17387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337D7-0147-3295-D795-C3F0374F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52" y="838200"/>
            <a:ext cx="10042290" cy="706964"/>
          </a:xfrm>
        </p:spPr>
        <p:txBody>
          <a:bodyPr/>
          <a:lstStyle/>
          <a:p>
            <a:r>
              <a:rPr lang="en-US" dirty="0"/>
              <a:t>3. My work – Steps for code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7F445-5021-145D-6E5E-ABD15CE5B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302" y="3429000"/>
            <a:ext cx="2510443" cy="2722418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115888" indent="-115888"/>
            <a:r>
              <a:rPr lang="en-US" sz="1100" dirty="0"/>
              <a:t>Convert sas7bdat to </a:t>
            </a:r>
            <a:r>
              <a:rPr lang="en-US" sz="1100" dirty="0" err="1"/>
              <a:t>rds</a:t>
            </a:r>
            <a:endParaRPr lang="en-US" sz="1100" dirty="0"/>
          </a:p>
          <a:p>
            <a:pPr marL="115888" indent="-115888"/>
            <a:r>
              <a:rPr lang="en-US" sz="1100" dirty="0"/>
              <a:t>Import dataset</a:t>
            </a:r>
          </a:p>
          <a:p>
            <a:pPr marL="115888" indent="-115888"/>
            <a:r>
              <a:rPr lang="en-US" sz="1100" dirty="0"/>
              <a:t>Data format: sas7bdat/</a:t>
            </a:r>
            <a:r>
              <a:rPr lang="en-US" sz="1100" dirty="0" err="1"/>
              <a:t>rds</a:t>
            </a:r>
            <a:r>
              <a:rPr lang="en-US" sz="1100" dirty="0"/>
              <a:t>/parquet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date/month/time,</a:t>
            </a:r>
          </a:p>
          <a:p>
            <a:pPr marL="115888" indent="-115888"/>
            <a:r>
              <a:rPr lang="en-US" sz="1100" dirty="0"/>
              <a:t>Origin date</a:t>
            </a:r>
          </a:p>
          <a:p>
            <a:pPr marL="115888" indent="-115888"/>
            <a:r>
              <a:rPr lang="en-US" sz="1100" dirty="0"/>
              <a:t>missing values, </a:t>
            </a:r>
          </a:p>
          <a:p>
            <a:pPr marL="115888" indent="-115888"/>
            <a:r>
              <a:rPr lang="en-US" sz="1100" dirty="0"/>
              <a:t>N/A 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Updated monthly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CA6D24-3ADA-E3BB-4FBE-869EADDB6510}"/>
              </a:ext>
            </a:extLst>
          </p:cNvPr>
          <p:cNvSpPr txBox="1">
            <a:spLocks/>
          </p:cNvSpPr>
          <p:nvPr/>
        </p:nvSpPr>
        <p:spPr>
          <a:xfrm>
            <a:off x="3358705" y="3429000"/>
            <a:ext cx="2755306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100" dirty="0"/>
              <a:t>Variables: filter data </a:t>
            </a:r>
          </a:p>
          <a:p>
            <a:pPr marL="115888" indent="-115888"/>
            <a:r>
              <a:rPr lang="en-US" sz="1100" dirty="0"/>
              <a:t>merge tables</a:t>
            </a:r>
          </a:p>
          <a:p>
            <a:pPr marL="515938" lvl="1" indent="-115888"/>
            <a:r>
              <a:rPr lang="en-US" sz="900" dirty="0"/>
              <a:t>Concatenate</a:t>
            </a:r>
          </a:p>
          <a:p>
            <a:pPr marL="515938" lvl="1" indent="-115888"/>
            <a:r>
              <a:rPr lang="en-US" sz="900" dirty="0"/>
              <a:t>match merging (with n= dataset option)</a:t>
            </a:r>
          </a:p>
          <a:p>
            <a:pPr marL="515938" lvl="1" indent="-115888"/>
            <a:r>
              <a:rPr lang="en-US" sz="900" dirty="0"/>
              <a:t>match merging (if a and b)</a:t>
            </a:r>
          </a:p>
          <a:p>
            <a:pPr marL="115888" indent="-115888"/>
            <a:r>
              <a:rPr lang="en-US" sz="1100" dirty="0"/>
              <a:t>Loops: </a:t>
            </a:r>
          </a:p>
          <a:p>
            <a:pPr marL="515938" lvl="1" indent="-115888"/>
            <a:r>
              <a:rPr lang="en-US" sz="900" dirty="0"/>
              <a:t>do until</a:t>
            </a:r>
          </a:p>
          <a:p>
            <a:pPr marL="515938" lvl="1" indent="-115888"/>
            <a:r>
              <a:rPr lang="en-US" sz="900" dirty="0"/>
              <a:t>Nested do loops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B6D6B54-A311-EB16-8BD2-E3485F3BBABB}"/>
              </a:ext>
            </a:extLst>
          </p:cNvPr>
          <p:cNvSpPr txBox="1">
            <a:spLocks/>
          </p:cNvSpPr>
          <p:nvPr/>
        </p:nvSpPr>
        <p:spPr>
          <a:xfrm>
            <a:off x="6400800" y="3429000"/>
            <a:ext cx="2435629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Spline in Linear/logistic regression</a:t>
            </a:r>
          </a:p>
          <a:p>
            <a:pPr marL="115888" indent="-115888"/>
            <a:r>
              <a:rPr lang="en-US" sz="1200" dirty="0"/>
              <a:t>Two step regression</a:t>
            </a:r>
          </a:p>
          <a:p>
            <a:endParaRPr lang="en-US" sz="1200" dirty="0"/>
          </a:p>
          <a:p>
            <a:endParaRPr lang="en-US" dirty="0"/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4207582E-C159-7D00-332B-C4D21A4671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554497"/>
              </p:ext>
            </p:extLst>
          </p:nvPr>
        </p:nvGraphicFramePr>
        <p:xfrm>
          <a:off x="498764" y="2292926"/>
          <a:ext cx="11230494" cy="11360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FA28388-176F-6365-7397-2844E903A1F6}"/>
              </a:ext>
            </a:extLst>
          </p:cNvPr>
          <p:cNvSpPr txBox="1">
            <a:spLocks/>
          </p:cNvSpPr>
          <p:nvPr/>
        </p:nvSpPr>
        <p:spPr>
          <a:xfrm>
            <a:off x="9320313" y="3429000"/>
            <a:ext cx="2372924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Comparison </a:t>
            </a:r>
          </a:p>
          <a:p>
            <a:pPr marL="115888" indent="-115888"/>
            <a:r>
              <a:rPr lang="en-US" sz="1200" dirty="0"/>
              <a:t>Explanations</a:t>
            </a:r>
          </a:p>
          <a:p>
            <a:pPr marL="115888" indent="-115888"/>
            <a:r>
              <a:rPr lang="en-US" sz="1200" dirty="0"/>
              <a:t>Tables: modify R outputs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7131A5-54F0-841D-69D4-7EEE7184D6DB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213553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518D-1434-AE71-CCC6-D64E0691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10607555" cy="706964"/>
          </a:xfrm>
        </p:spPr>
        <p:txBody>
          <a:bodyPr/>
          <a:lstStyle/>
          <a:p>
            <a:r>
              <a:rPr lang="en-US" dirty="0"/>
              <a:t>Frequently used PROC/function/libraries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A42F75-680C-A81B-84A0-DA0E40F2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6399" y="2509751"/>
            <a:ext cx="1626104" cy="6667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BD5840-F2C6-1A5A-1517-943BC2A31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120" y="2509751"/>
            <a:ext cx="2143471" cy="8031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6CB4E1-CEBD-AED6-2445-998877250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4201" y="3434225"/>
            <a:ext cx="992039" cy="1144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B084F-E479-8EF3-2BB0-A5822B0EF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516" y="3434225"/>
            <a:ext cx="990658" cy="11432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4A1EED-0038-873F-C6BA-0E355F8E3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1097" y="4546149"/>
            <a:ext cx="992039" cy="11449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54C418-AD76-DC26-22AB-85602CD6D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47" y="5759648"/>
            <a:ext cx="1244595" cy="75445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22F3EEE-34DB-D712-B6B4-1B0950501B74}"/>
              </a:ext>
            </a:extLst>
          </p:cNvPr>
          <p:cNvSpPr txBox="1">
            <a:spLocks/>
          </p:cNvSpPr>
          <p:nvPr/>
        </p:nvSpPr>
        <p:spPr>
          <a:xfrm>
            <a:off x="356827" y="3547788"/>
            <a:ext cx="2512932" cy="307118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PROC GENMOD</a:t>
            </a:r>
          </a:p>
          <a:p>
            <a:r>
              <a:rPr lang="en-US" dirty="0"/>
              <a:t>PROC LOGISTIC</a:t>
            </a:r>
          </a:p>
          <a:p>
            <a:r>
              <a:rPr lang="en-US" dirty="0"/>
              <a:t>PROC FORMAT</a:t>
            </a:r>
          </a:p>
          <a:p>
            <a:r>
              <a:rPr lang="en-US" dirty="0"/>
              <a:t>PROC SORT</a:t>
            </a:r>
          </a:p>
          <a:p>
            <a:r>
              <a:rPr lang="en-US" dirty="0"/>
              <a:t>PROC TABULATE</a:t>
            </a:r>
          </a:p>
          <a:p>
            <a:r>
              <a:rPr lang="en-US" dirty="0"/>
              <a:t>PROC SQL</a:t>
            </a:r>
          </a:p>
          <a:p>
            <a:r>
              <a:rPr lang="en-US" dirty="0"/>
              <a:t>MACRO VAR/FUNCTIONS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0F11FFB-9D71-5055-F89A-8C96DA1AECF9}"/>
              </a:ext>
            </a:extLst>
          </p:cNvPr>
          <p:cNvSpPr txBox="1">
            <a:spLocks/>
          </p:cNvSpPr>
          <p:nvPr/>
        </p:nvSpPr>
        <p:spPr>
          <a:xfrm>
            <a:off x="3831513" y="3575727"/>
            <a:ext cx="3984020" cy="304324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readRDS</a:t>
            </a:r>
            <a:r>
              <a:rPr lang="en-US" dirty="0"/>
              <a:t>()/</a:t>
            </a:r>
            <a:r>
              <a:rPr lang="en-US" dirty="0" err="1"/>
              <a:t>save</a:t>
            </a:r>
            <a:r>
              <a:rPr lang="en-US" altLang="zh-CN" dirty="0" err="1"/>
              <a:t>RDS</a:t>
            </a:r>
            <a:r>
              <a:rPr lang="en-US" altLang="zh-CN" dirty="0"/>
              <a:t>()/</a:t>
            </a:r>
            <a:r>
              <a:rPr lang="en-US" altLang="zh-CN" dirty="0" err="1"/>
              <a:t>writecsv</a:t>
            </a:r>
            <a:r>
              <a:rPr lang="en-US" altLang="zh-CN" dirty="0"/>
              <a:t>()</a:t>
            </a:r>
          </a:p>
          <a:p>
            <a:r>
              <a:rPr lang="en-US" dirty="0" err="1"/>
              <a:t>tolower</a:t>
            </a:r>
            <a:r>
              <a:rPr lang="en-US" dirty="0"/>
              <a:t>()</a:t>
            </a:r>
          </a:p>
          <a:p>
            <a:r>
              <a:rPr lang="en-US" dirty="0"/>
              <a:t>Paste/paste0</a:t>
            </a:r>
          </a:p>
          <a:p>
            <a:r>
              <a:rPr lang="en-US" dirty="0"/>
              <a:t>filter()/mutate()/%&gt;%</a:t>
            </a:r>
          </a:p>
          <a:p>
            <a:r>
              <a:rPr lang="en-US" dirty="0" err="1"/>
              <a:t>glm</a:t>
            </a:r>
            <a:r>
              <a:rPr lang="en-US" dirty="0"/>
              <a:t>()</a:t>
            </a:r>
          </a:p>
          <a:p>
            <a:r>
              <a:rPr lang="en-US" dirty="0"/>
              <a:t>merge()</a:t>
            </a:r>
          </a:p>
          <a:p>
            <a:r>
              <a:rPr lang="en-US" dirty="0" err="1"/>
              <a:t>rbind</a:t>
            </a:r>
            <a:r>
              <a:rPr lang="en-US" dirty="0"/>
              <a:t>()/</a:t>
            </a:r>
            <a:r>
              <a:rPr lang="en-US" dirty="0" err="1"/>
              <a:t>cbind</a:t>
            </a:r>
            <a:r>
              <a:rPr lang="en-US" dirty="0"/>
              <a:t>()</a:t>
            </a:r>
          </a:p>
          <a:p>
            <a:r>
              <a:rPr lang="en-US" altLang="zh-CN" dirty="0" err="1"/>
              <a:t>comparedf</a:t>
            </a:r>
            <a:r>
              <a:rPr lang="en-US" altLang="zh-CN" dirty="0"/>
              <a:t>()</a:t>
            </a:r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3F9B9C-956B-C732-641E-A581C2365D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9344" y="4577481"/>
            <a:ext cx="969324" cy="1122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0B4DE2-EDB8-7DD7-DB61-94C8F4CF75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240" y="3429000"/>
            <a:ext cx="992040" cy="11498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107CAE-DC38-55AC-4807-DBCA5CAFAA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3136" y="4577480"/>
            <a:ext cx="894461" cy="10320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2D8D5F-D03C-1E61-BB36-D070D3F9BA54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860636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F2CF-D0AC-0E8C-9D04-8EB2FB39D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4954" y="3341715"/>
                <a:ext cx="8825659" cy="283602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prices are a large numbers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pPr lvl="1"/>
                <a:r>
                  <a:rPr lang="en-US" dirty="0"/>
                  <a:t>median house price in the CA :$750,000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4954" y="3341715"/>
                <a:ext cx="8825659" cy="2836025"/>
              </a:xfrm>
              <a:blipFill>
                <a:blip r:embed="rId2"/>
                <a:stretch>
                  <a:fillRect l="-138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0C520B-F86E-C66F-3DB7-BC685CFD9C82}"/>
              </a:ext>
            </a:extLst>
          </p:cNvPr>
          <p:cNvSpPr txBox="1">
            <a:spLocks/>
          </p:cNvSpPr>
          <p:nvPr/>
        </p:nvSpPr>
        <p:spPr>
          <a:xfrm>
            <a:off x="728234" y="2693863"/>
            <a:ext cx="9737490" cy="4021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When small differences times large numbers, results may have large differences.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7B8A5-B1CB-CA23-C33F-23057A52FDAC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767184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E978-EFBD-18A7-418D-681746303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60EC0-770E-4C8F-CC61-A292DAFC1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8937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316A-BA5A-697B-1570-D44449413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Women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C1E90-8676-4A77-926E-A441CD5C5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48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E73B-C26C-1F3B-30DF-35A921F9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E9B1D-5AA5-C03E-14EC-CB02FBFB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9015589" cy="3416300"/>
          </a:xfrm>
        </p:spPr>
        <p:txBody>
          <a:bodyPr/>
          <a:lstStyle/>
          <a:p>
            <a:r>
              <a:rPr lang="en-US" dirty="0"/>
              <a:t>AWS “Lift and Shift” is the goal. But there are more things to consider in the real-world cloud migration.</a:t>
            </a:r>
          </a:p>
          <a:p>
            <a:r>
              <a:rPr lang="en-US" dirty="0"/>
              <a:t>Everything has a cost. Moving from SAS to free open-source software needs additional effort.</a:t>
            </a:r>
          </a:p>
        </p:txBody>
      </p:sp>
    </p:spTree>
    <p:extLst>
      <p:ext uri="{BB962C8B-B14F-4D97-AF65-F5344CB8AC3E}">
        <p14:creationId xmlns:p14="http://schemas.microsoft.com/office/powerpoint/2010/main" val="3950423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F426-59A4-5223-447C-6452584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07343-168D-D994-90D1-2DD882C57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76183" y="5856698"/>
            <a:ext cx="1571621" cy="3475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LinkedIn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E8A67-972C-0E8C-7674-B326F3540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057" y="3384972"/>
            <a:ext cx="2286875" cy="22868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FD9BF-3BDB-D204-C5A1-EB9B758D8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721" y="3309994"/>
            <a:ext cx="2415264" cy="243682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CD7024-0B03-225D-3126-376E26376C15}"/>
              </a:ext>
            </a:extLst>
          </p:cNvPr>
          <p:cNvSpPr txBox="1">
            <a:spLocks/>
          </p:cNvSpPr>
          <p:nvPr/>
        </p:nvSpPr>
        <p:spPr>
          <a:xfrm>
            <a:off x="7057683" y="5884332"/>
            <a:ext cx="1571621" cy="3475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692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620A4-3589-0D65-34EA-14EC02EEA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210A-0FDC-AC25-79CB-C0A7B4C79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675" y="2553623"/>
            <a:ext cx="9767970" cy="1943562"/>
          </a:xfrm>
        </p:spPr>
        <p:txBody>
          <a:bodyPr>
            <a:normAutofit/>
          </a:bodyPr>
          <a:lstStyle/>
          <a:p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AWS </a:t>
            </a:r>
            <a:r>
              <a:rPr lang="en-US" sz="1200" dirty="0" err="1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re:Invent</a:t>
            </a:r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2021 - Fannie Mae: Migrating at scale without lifting and shifting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Fannie Mae’s Digital Transformation Journey with AWS | Amazon Web Services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Cloud Migration Strategy? - Cloud Migration Strategy Explained – AWS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the “7 Rs” - Cloud Migration Strategies | AWS Builder Center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asnr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-to-r: Translate SAS to 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Code-Transcompiler-using-LLMs-public/README.md at main · </a:t>
            </a:r>
            <a:r>
              <a:rPr lang="en-US" sz="1200" dirty="0" err="1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CSOIreland</a:t>
            </a: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/Code-Transcompiler-using-LLMs-public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8063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{24F95ADF-211B-4389-98CD-4235D7F4A4E4}TF229edf6a-8a49-49ee-a0a6-5037052947485fb3ca0c-bc27bf41d645</Template>
  <TotalTime>339</TotalTime>
  <Words>743</Words>
  <Application>Microsoft Office PowerPoint</Application>
  <PresentationFormat>Widescreen</PresentationFormat>
  <Paragraphs>128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Cambria Math</vt:lpstr>
      <vt:lpstr>Century Gothic</vt:lpstr>
      <vt:lpstr>Times New Roman</vt:lpstr>
      <vt:lpstr>Wingdings 3</vt:lpstr>
      <vt:lpstr>Ion Boardroom</vt:lpstr>
      <vt:lpstr>From On-Premises to Cloud: </vt:lpstr>
      <vt:lpstr>Agenda</vt:lpstr>
      <vt:lpstr>1. Background - Fannie Mae</vt:lpstr>
      <vt:lpstr>2.Cloud Migration in Fannie Mae</vt:lpstr>
      <vt:lpstr>2. Cloud in other organizations</vt:lpstr>
      <vt:lpstr>3. My work in the cloud migration</vt:lpstr>
      <vt:lpstr>3. My work in the cloud migration</vt:lpstr>
      <vt:lpstr>3. My work – Steps for code conversion</vt:lpstr>
      <vt:lpstr>Frequently used PROC/function/libraries</vt:lpstr>
      <vt:lpstr>Accuracy</vt:lpstr>
      <vt:lpstr>Efficiency</vt:lpstr>
      <vt:lpstr>Women in the cloud migration</vt:lpstr>
      <vt:lpstr>Conclusions</vt:lpstr>
      <vt:lpstr>Q&amp;A</vt:lpstr>
      <vt:lpstr>References: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11</cp:revision>
  <dcterms:created xsi:type="dcterms:W3CDTF">2026-10-21T20:39:20Z</dcterms:created>
  <dcterms:modified xsi:type="dcterms:W3CDTF">2026-10-23T21:34:17Z</dcterms:modified>
</cp:coreProperties>
</file>