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68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SAS</a:t>
          </a:r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D4246179-824B-4DC4-8A7C-A9F0CBFC8832}">
      <dgm:prSet phldrT="[Text]" phldr="0"/>
      <dgm:spPr/>
      <dgm:t>
        <a:bodyPr/>
        <a:lstStyle/>
        <a:p>
          <a:r>
            <a:rPr lang="en-US" dirty="0"/>
            <a:t>R</a:t>
          </a:r>
        </a:p>
      </dgm:t>
    </dgm:pt>
    <dgm:pt modelId="{718EF08F-174C-4039-AF76-97E96AB6E283}" type="parTrans" cxnId="{DB601E40-8480-4C5B-9BE0-3B28655872F6}">
      <dgm:prSet/>
      <dgm:spPr/>
      <dgm:t>
        <a:bodyPr/>
        <a:lstStyle/>
        <a:p>
          <a:endParaRPr lang="en-US"/>
        </a:p>
      </dgm:t>
    </dgm:pt>
    <dgm:pt modelId="{61434210-8BBC-4A3A-9310-D6F3F3232608}" type="sibTrans" cxnId="{DB601E40-8480-4C5B-9BE0-3B28655872F6}">
      <dgm:prSet/>
      <dgm:spPr/>
      <dgm:t>
        <a:bodyPr/>
        <a:lstStyle/>
        <a:p>
          <a:endParaRPr lang="en-US"/>
        </a:p>
      </dgm:t>
    </dgm:pt>
    <dgm:pt modelId="{1CF01D51-7744-46DE-AD1E-B33E5AC5DDC4}">
      <dgm:prSet phldrT="[Text]" phldr="0"/>
      <dgm:spPr/>
      <dgm:t>
        <a:bodyPr/>
        <a:lstStyle/>
        <a:p>
          <a:r>
            <a:rPr lang="en-US" dirty="0"/>
            <a:t>Python</a:t>
          </a:r>
        </a:p>
      </dgm:t>
    </dgm:pt>
    <dgm:pt modelId="{3A65EA20-1F98-4FD6-8585-E24364C35285}" type="parTrans" cxnId="{2E51398D-BC6E-4C98-8FF7-D477CAE0EFF5}">
      <dgm:prSet/>
      <dgm:spPr/>
      <dgm:t>
        <a:bodyPr/>
        <a:lstStyle/>
        <a:p>
          <a:endParaRPr lang="en-US"/>
        </a:p>
      </dgm:t>
    </dgm:pt>
    <dgm:pt modelId="{DBF77947-0AA8-4B91-8234-0C0DAEEB42E4}" type="sibTrans" cxnId="{2E51398D-BC6E-4C98-8FF7-D477CAE0EFF5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  <dgm:pt modelId="{02DBC75F-EC9B-4A1C-B9DE-6892275ED7C8}" type="pres">
      <dgm:prSet presAssocID="{718EF08F-174C-4039-AF76-97E96AB6E283}" presName="conn2-1" presStyleLbl="parChTrans1D2" presStyleIdx="0" presStyleCnt="2"/>
      <dgm:spPr/>
    </dgm:pt>
    <dgm:pt modelId="{6DE6DF5F-FDFB-498F-9C05-7C9C22DA9A5D}" type="pres">
      <dgm:prSet presAssocID="{718EF08F-174C-4039-AF76-97E96AB6E283}" presName="connTx" presStyleLbl="parChTrans1D2" presStyleIdx="0" presStyleCnt="2"/>
      <dgm:spPr/>
    </dgm:pt>
    <dgm:pt modelId="{9F18E91C-831F-40F9-B9F3-7913006B6543}" type="pres">
      <dgm:prSet presAssocID="{D4246179-824B-4DC4-8A7C-A9F0CBFC8832}" presName="root2" presStyleCnt="0"/>
      <dgm:spPr/>
    </dgm:pt>
    <dgm:pt modelId="{856966A0-B3E8-4AAF-BADE-F7D74F234487}" type="pres">
      <dgm:prSet presAssocID="{D4246179-824B-4DC4-8A7C-A9F0CBFC8832}" presName="LevelTwoTextNode" presStyleLbl="node2" presStyleIdx="0" presStyleCnt="2">
        <dgm:presLayoutVars>
          <dgm:chPref val="3"/>
        </dgm:presLayoutVars>
      </dgm:prSet>
      <dgm:spPr/>
    </dgm:pt>
    <dgm:pt modelId="{AB728882-FE2A-4955-B847-56733D23CD26}" type="pres">
      <dgm:prSet presAssocID="{D4246179-824B-4DC4-8A7C-A9F0CBFC8832}" presName="level3hierChild" presStyleCnt="0"/>
      <dgm:spPr/>
    </dgm:pt>
    <dgm:pt modelId="{33F576D8-77B8-46AC-942C-78072A82BCB5}" type="pres">
      <dgm:prSet presAssocID="{3A65EA20-1F98-4FD6-8585-E24364C35285}" presName="conn2-1" presStyleLbl="parChTrans1D2" presStyleIdx="1" presStyleCnt="2"/>
      <dgm:spPr/>
    </dgm:pt>
    <dgm:pt modelId="{F7BD3A8E-4790-415D-B029-B7D0C221DAFD}" type="pres">
      <dgm:prSet presAssocID="{3A65EA20-1F98-4FD6-8585-E24364C35285}" presName="connTx" presStyleLbl="parChTrans1D2" presStyleIdx="1" presStyleCnt="2"/>
      <dgm:spPr/>
    </dgm:pt>
    <dgm:pt modelId="{BCA482E7-D9A8-49E1-89DC-71594284EC62}" type="pres">
      <dgm:prSet presAssocID="{1CF01D51-7744-46DE-AD1E-B33E5AC5DDC4}" presName="root2" presStyleCnt="0"/>
      <dgm:spPr/>
    </dgm:pt>
    <dgm:pt modelId="{53CBCBE4-8058-4DC4-8A24-70C23610BF67}" type="pres">
      <dgm:prSet presAssocID="{1CF01D51-7744-46DE-AD1E-B33E5AC5DDC4}" presName="LevelTwoTextNode" presStyleLbl="node2" presStyleIdx="1" presStyleCnt="2">
        <dgm:presLayoutVars>
          <dgm:chPref val="3"/>
        </dgm:presLayoutVars>
      </dgm:prSet>
      <dgm:spPr/>
    </dgm:pt>
    <dgm:pt modelId="{5F9F091C-84EE-44AA-8328-BF021BF379AF}" type="pres">
      <dgm:prSet presAssocID="{1CF01D51-7744-46DE-AD1E-B33E5AC5DDC4}" presName="level3hierChild" presStyleCnt="0"/>
      <dgm:spPr/>
    </dgm:pt>
  </dgm:ptLst>
  <dgm:cxnLst>
    <dgm:cxn modelId="{04571B10-68D9-4BB6-96D5-AA470C9449DE}" type="presOf" srcId="{3A65EA20-1F98-4FD6-8585-E24364C35285}" destId="{F7BD3A8E-4790-415D-B029-B7D0C221DAFD}" srcOrd="1" destOrd="0" presId="urn:microsoft.com/office/officeart/2005/8/layout/hierarchy2"/>
    <dgm:cxn modelId="{DB601E40-8480-4C5B-9BE0-3B28655872F6}" srcId="{60E0BFDE-8E4F-4DF7-83FA-750D549853C2}" destId="{D4246179-824B-4DC4-8A7C-A9F0CBFC8832}" srcOrd="0" destOrd="0" parTransId="{718EF08F-174C-4039-AF76-97E96AB6E283}" sibTransId="{61434210-8BBC-4A3A-9310-D6F3F3232608}"/>
    <dgm:cxn modelId="{17E03A5B-533B-4814-B969-04292DA179A6}" type="presOf" srcId="{D4246179-824B-4DC4-8A7C-A9F0CBFC8832}" destId="{856966A0-B3E8-4AAF-BADE-F7D74F234487}" srcOrd="0" destOrd="0" presId="urn:microsoft.com/office/officeart/2005/8/layout/hierarchy2"/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AB8C5E4A-0783-41D3-9A46-A2BBA46A9105}" type="presOf" srcId="{3A65EA20-1F98-4FD6-8585-E24364C35285}" destId="{33F576D8-77B8-46AC-942C-78072A82BCB5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2E51398D-BC6E-4C98-8FF7-D477CAE0EFF5}" srcId="{60E0BFDE-8E4F-4DF7-83FA-750D549853C2}" destId="{1CF01D51-7744-46DE-AD1E-B33E5AC5DDC4}" srcOrd="1" destOrd="0" parTransId="{3A65EA20-1F98-4FD6-8585-E24364C35285}" sibTransId="{DBF77947-0AA8-4B91-8234-0C0DAEEB42E4}"/>
    <dgm:cxn modelId="{D0BC3C90-5F64-43CC-B7F7-18231C607F08}" type="presOf" srcId="{718EF08F-174C-4039-AF76-97E96AB6E283}" destId="{6DE6DF5F-FDFB-498F-9C05-7C9C22DA9A5D}" srcOrd="1" destOrd="0" presId="urn:microsoft.com/office/officeart/2005/8/layout/hierarchy2"/>
    <dgm:cxn modelId="{315BD194-E9EE-4440-A843-4867B7033A4E}" type="presOf" srcId="{1CF01D51-7744-46DE-AD1E-B33E5AC5DDC4}" destId="{53CBCBE4-8058-4DC4-8A24-70C23610BF67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CFF4EC8-1AA8-4D6A-872B-03ED75B7F555}" type="presOf" srcId="{718EF08F-174C-4039-AF76-97E96AB6E283}" destId="{02DBC75F-EC9B-4A1C-B9DE-6892275ED7C8}" srcOrd="0" destOrd="0" presId="urn:microsoft.com/office/officeart/2005/8/layout/hierarchy2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  <dgm:cxn modelId="{CFBC4AF2-5EDC-455C-A8C8-688A85DA759E}" type="presParOf" srcId="{8F740A56-505D-4FF6-95FF-91ABBA25BC9B}" destId="{02DBC75F-EC9B-4A1C-B9DE-6892275ED7C8}" srcOrd="0" destOrd="0" presId="urn:microsoft.com/office/officeart/2005/8/layout/hierarchy2"/>
    <dgm:cxn modelId="{53D4B1F4-2B7F-48DA-9A18-5A005FCA79FC}" type="presParOf" srcId="{02DBC75F-EC9B-4A1C-B9DE-6892275ED7C8}" destId="{6DE6DF5F-FDFB-498F-9C05-7C9C22DA9A5D}" srcOrd="0" destOrd="0" presId="urn:microsoft.com/office/officeart/2005/8/layout/hierarchy2"/>
    <dgm:cxn modelId="{2D8C66EE-332D-4623-8796-E8960A538CBB}" type="presParOf" srcId="{8F740A56-505D-4FF6-95FF-91ABBA25BC9B}" destId="{9F18E91C-831F-40F9-B9F3-7913006B6543}" srcOrd="1" destOrd="0" presId="urn:microsoft.com/office/officeart/2005/8/layout/hierarchy2"/>
    <dgm:cxn modelId="{B4227B17-8320-4432-9142-1745612424D0}" type="presParOf" srcId="{9F18E91C-831F-40F9-B9F3-7913006B6543}" destId="{856966A0-B3E8-4AAF-BADE-F7D74F234487}" srcOrd="0" destOrd="0" presId="urn:microsoft.com/office/officeart/2005/8/layout/hierarchy2"/>
    <dgm:cxn modelId="{FCC0CA6D-68BF-4F6F-80A2-3D11C3A289D0}" type="presParOf" srcId="{9F18E91C-831F-40F9-B9F3-7913006B6543}" destId="{AB728882-FE2A-4955-B847-56733D23CD26}" srcOrd="1" destOrd="0" presId="urn:microsoft.com/office/officeart/2005/8/layout/hierarchy2"/>
    <dgm:cxn modelId="{9CCCB899-CC44-4597-A53D-1D29CF5C85DC}" type="presParOf" srcId="{8F740A56-505D-4FF6-95FF-91ABBA25BC9B}" destId="{33F576D8-77B8-46AC-942C-78072A82BCB5}" srcOrd="2" destOrd="0" presId="urn:microsoft.com/office/officeart/2005/8/layout/hierarchy2"/>
    <dgm:cxn modelId="{B23C7F87-237F-4A7B-AA45-C720AFF78FB2}" type="presParOf" srcId="{33F576D8-77B8-46AC-942C-78072A82BCB5}" destId="{F7BD3A8E-4790-415D-B029-B7D0C221DAFD}" srcOrd="0" destOrd="0" presId="urn:microsoft.com/office/officeart/2005/8/layout/hierarchy2"/>
    <dgm:cxn modelId="{6C3486A3-CDF1-4C8B-A2BB-8C5363E541E7}" type="presParOf" srcId="{8F740A56-505D-4FF6-95FF-91ABBA25BC9B}" destId="{BCA482E7-D9A8-49E1-89DC-71594284EC62}" srcOrd="3" destOrd="0" presId="urn:microsoft.com/office/officeart/2005/8/layout/hierarchy2"/>
    <dgm:cxn modelId="{23F180CE-BF89-4BDF-8E1D-A377C434AE68}" type="presParOf" srcId="{BCA482E7-D9A8-49E1-89DC-71594284EC62}" destId="{53CBCBE4-8058-4DC4-8A24-70C23610BF67}" srcOrd="0" destOrd="0" presId="urn:microsoft.com/office/officeart/2005/8/layout/hierarchy2"/>
    <dgm:cxn modelId="{24245EDC-3596-4269-8FC2-819AB357161A}" type="presParOf" srcId="{BCA482E7-D9A8-49E1-89DC-71594284EC62}" destId="{5F9F091C-84EE-44AA-8328-BF021BF379AF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CCFA</a:t>
          </a:r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D4246179-824B-4DC4-8A7C-A9F0CBFC8832}">
      <dgm:prSet phldrT="[Text]" phldr="0" custT="1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altLang="zh-CN" sz="1600" dirty="0"/>
            <a:t>Loss severity</a:t>
          </a:r>
          <a:endParaRPr lang="en-US" sz="1600" dirty="0"/>
        </a:p>
      </dgm:t>
    </dgm:pt>
    <dgm:pt modelId="{718EF08F-174C-4039-AF76-97E96AB6E283}" type="parTrans" cxnId="{DB601E40-8480-4C5B-9BE0-3B28655872F6}">
      <dgm:prSet/>
      <dgm:spPr/>
      <dgm:t>
        <a:bodyPr/>
        <a:lstStyle/>
        <a:p>
          <a:endParaRPr lang="en-US"/>
        </a:p>
      </dgm:t>
    </dgm:pt>
    <dgm:pt modelId="{61434210-8BBC-4A3A-9310-D6F3F3232608}" type="sibTrans" cxnId="{DB601E40-8480-4C5B-9BE0-3B28655872F6}">
      <dgm:prSet/>
      <dgm:spPr/>
      <dgm:t>
        <a:bodyPr/>
        <a:lstStyle/>
        <a:p>
          <a:endParaRPr lang="en-US"/>
        </a:p>
      </dgm:t>
    </dgm:pt>
    <dgm:pt modelId="{1CF01D51-7744-46DE-AD1E-B33E5AC5DDC4}">
      <dgm:prSet phldrT="[Text]" phldr="0" custT="1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sz="1600" dirty="0"/>
            <a:t>Default Type</a:t>
          </a:r>
        </a:p>
      </dgm:t>
    </dgm:pt>
    <dgm:pt modelId="{3A65EA20-1F98-4FD6-8585-E24364C35285}" type="parTrans" cxnId="{2E51398D-BC6E-4C98-8FF7-D477CAE0EFF5}">
      <dgm:prSet/>
      <dgm:spPr/>
      <dgm:t>
        <a:bodyPr/>
        <a:lstStyle/>
        <a:p>
          <a:endParaRPr lang="en-US"/>
        </a:p>
      </dgm:t>
    </dgm:pt>
    <dgm:pt modelId="{DBF77947-0AA8-4B91-8234-0C0DAEEB42E4}" type="sibTrans" cxnId="{2E51398D-BC6E-4C98-8FF7-D477CAE0EFF5}">
      <dgm:prSet/>
      <dgm:spPr/>
      <dgm:t>
        <a:bodyPr/>
        <a:lstStyle/>
        <a:p>
          <a:endParaRPr lang="en-US"/>
        </a:p>
      </dgm:t>
    </dgm:pt>
    <dgm:pt modelId="{49A949D1-D7FF-4AF7-8CE4-1729E1E1167E}">
      <dgm:prSet phldrT="[Text]" phldr="0" custT="1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sz="1600" dirty="0"/>
            <a:t>Mortgage Insurance</a:t>
          </a:r>
        </a:p>
      </dgm:t>
    </dgm:pt>
    <dgm:pt modelId="{002127E7-8AC5-4116-BD7C-7DEF0D826E4F}" type="parTrans" cxnId="{87031F8E-FC95-466D-B9EA-941F2E669A01}">
      <dgm:prSet/>
      <dgm:spPr/>
      <dgm:t>
        <a:bodyPr/>
        <a:lstStyle/>
        <a:p>
          <a:endParaRPr lang="en-US"/>
        </a:p>
      </dgm:t>
    </dgm:pt>
    <dgm:pt modelId="{9679669E-9375-4779-A050-BA88460E3603}" type="sibTrans" cxnId="{87031F8E-FC95-466D-B9EA-941F2E669A01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 custLinFactNeighborX="-61894" custLinFactNeighborY="-3668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  <dgm:pt modelId="{02DBC75F-EC9B-4A1C-B9DE-6892275ED7C8}" type="pres">
      <dgm:prSet presAssocID="{718EF08F-174C-4039-AF76-97E96AB6E283}" presName="conn2-1" presStyleLbl="parChTrans1D2" presStyleIdx="0" presStyleCnt="3"/>
      <dgm:spPr/>
    </dgm:pt>
    <dgm:pt modelId="{6DE6DF5F-FDFB-498F-9C05-7C9C22DA9A5D}" type="pres">
      <dgm:prSet presAssocID="{718EF08F-174C-4039-AF76-97E96AB6E283}" presName="connTx" presStyleLbl="parChTrans1D2" presStyleIdx="0" presStyleCnt="3"/>
      <dgm:spPr/>
    </dgm:pt>
    <dgm:pt modelId="{9F18E91C-831F-40F9-B9F3-7913006B6543}" type="pres">
      <dgm:prSet presAssocID="{D4246179-824B-4DC4-8A7C-A9F0CBFC8832}" presName="root2" presStyleCnt="0"/>
      <dgm:spPr/>
    </dgm:pt>
    <dgm:pt modelId="{856966A0-B3E8-4AAF-BADE-F7D74F234487}" type="pres">
      <dgm:prSet presAssocID="{D4246179-824B-4DC4-8A7C-A9F0CBFC8832}" presName="LevelTwoTextNode" presStyleLbl="node2" presStyleIdx="0" presStyleCnt="3">
        <dgm:presLayoutVars>
          <dgm:chPref val="3"/>
        </dgm:presLayoutVars>
      </dgm:prSet>
      <dgm:spPr/>
    </dgm:pt>
    <dgm:pt modelId="{AB728882-FE2A-4955-B847-56733D23CD26}" type="pres">
      <dgm:prSet presAssocID="{D4246179-824B-4DC4-8A7C-A9F0CBFC8832}" presName="level3hierChild" presStyleCnt="0"/>
      <dgm:spPr/>
    </dgm:pt>
    <dgm:pt modelId="{33F576D8-77B8-46AC-942C-78072A82BCB5}" type="pres">
      <dgm:prSet presAssocID="{3A65EA20-1F98-4FD6-8585-E24364C35285}" presName="conn2-1" presStyleLbl="parChTrans1D2" presStyleIdx="1" presStyleCnt="3"/>
      <dgm:spPr/>
    </dgm:pt>
    <dgm:pt modelId="{F7BD3A8E-4790-415D-B029-B7D0C221DAFD}" type="pres">
      <dgm:prSet presAssocID="{3A65EA20-1F98-4FD6-8585-E24364C35285}" presName="connTx" presStyleLbl="parChTrans1D2" presStyleIdx="1" presStyleCnt="3"/>
      <dgm:spPr/>
    </dgm:pt>
    <dgm:pt modelId="{BCA482E7-D9A8-49E1-89DC-71594284EC62}" type="pres">
      <dgm:prSet presAssocID="{1CF01D51-7744-46DE-AD1E-B33E5AC5DDC4}" presName="root2" presStyleCnt="0"/>
      <dgm:spPr/>
    </dgm:pt>
    <dgm:pt modelId="{53CBCBE4-8058-4DC4-8A24-70C23610BF67}" type="pres">
      <dgm:prSet presAssocID="{1CF01D51-7744-46DE-AD1E-B33E5AC5DDC4}" presName="LevelTwoTextNode" presStyleLbl="node2" presStyleIdx="1" presStyleCnt="3">
        <dgm:presLayoutVars>
          <dgm:chPref val="3"/>
        </dgm:presLayoutVars>
      </dgm:prSet>
      <dgm:spPr/>
    </dgm:pt>
    <dgm:pt modelId="{5F9F091C-84EE-44AA-8328-BF021BF379AF}" type="pres">
      <dgm:prSet presAssocID="{1CF01D51-7744-46DE-AD1E-B33E5AC5DDC4}" presName="level3hierChild" presStyleCnt="0"/>
      <dgm:spPr/>
    </dgm:pt>
    <dgm:pt modelId="{AD5DA7A3-BB8B-4ED2-ADB7-EBF9C8A7B90C}" type="pres">
      <dgm:prSet presAssocID="{002127E7-8AC5-4116-BD7C-7DEF0D826E4F}" presName="conn2-1" presStyleLbl="parChTrans1D2" presStyleIdx="2" presStyleCnt="3"/>
      <dgm:spPr/>
    </dgm:pt>
    <dgm:pt modelId="{5AA69DEC-3041-44FD-BEA9-03B93F901A88}" type="pres">
      <dgm:prSet presAssocID="{002127E7-8AC5-4116-BD7C-7DEF0D826E4F}" presName="connTx" presStyleLbl="parChTrans1D2" presStyleIdx="2" presStyleCnt="3"/>
      <dgm:spPr/>
    </dgm:pt>
    <dgm:pt modelId="{27086270-9615-462E-BCFB-2F76F1B17EFB}" type="pres">
      <dgm:prSet presAssocID="{49A949D1-D7FF-4AF7-8CE4-1729E1E1167E}" presName="root2" presStyleCnt="0"/>
      <dgm:spPr/>
    </dgm:pt>
    <dgm:pt modelId="{657F305A-03D9-4556-BA21-F3EBCB0C16D5}" type="pres">
      <dgm:prSet presAssocID="{49A949D1-D7FF-4AF7-8CE4-1729E1E1167E}" presName="LevelTwoTextNode" presStyleLbl="node2" presStyleIdx="2" presStyleCnt="3">
        <dgm:presLayoutVars>
          <dgm:chPref val="3"/>
        </dgm:presLayoutVars>
      </dgm:prSet>
      <dgm:spPr/>
    </dgm:pt>
    <dgm:pt modelId="{36A38DDD-B3AB-40B8-B04E-A5AD30836395}" type="pres">
      <dgm:prSet presAssocID="{49A949D1-D7FF-4AF7-8CE4-1729E1E1167E}" presName="level3hierChild" presStyleCnt="0"/>
      <dgm:spPr/>
    </dgm:pt>
  </dgm:ptLst>
  <dgm:cxnLst>
    <dgm:cxn modelId="{04571B10-68D9-4BB6-96D5-AA470C9449DE}" type="presOf" srcId="{3A65EA20-1F98-4FD6-8585-E24364C35285}" destId="{F7BD3A8E-4790-415D-B029-B7D0C221DAFD}" srcOrd="1" destOrd="0" presId="urn:microsoft.com/office/officeart/2005/8/layout/hierarchy2"/>
    <dgm:cxn modelId="{76A2422F-AF26-40A3-A77A-97D6907C82C3}" type="presOf" srcId="{002127E7-8AC5-4116-BD7C-7DEF0D826E4F}" destId="{5AA69DEC-3041-44FD-BEA9-03B93F901A88}" srcOrd="1" destOrd="0" presId="urn:microsoft.com/office/officeart/2005/8/layout/hierarchy2"/>
    <dgm:cxn modelId="{DB601E40-8480-4C5B-9BE0-3B28655872F6}" srcId="{60E0BFDE-8E4F-4DF7-83FA-750D549853C2}" destId="{D4246179-824B-4DC4-8A7C-A9F0CBFC8832}" srcOrd="0" destOrd="0" parTransId="{718EF08F-174C-4039-AF76-97E96AB6E283}" sibTransId="{61434210-8BBC-4A3A-9310-D6F3F3232608}"/>
    <dgm:cxn modelId="{17E03A5B-533B-4814-B969-04292DA179A6}" type="presOf" srcId="{D4246179-824B-4DC4-8A7C-A9F0CBFC8832}" destId="{856966A0-B3E8-4AAF-BADE-F7D74F234487}" srcOrd="0" destOrd="0" presId="urn:microsoft.com/office/officeart/2005/8/layout/hierarchy2"/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AB8C5E4A-0783-41D3-9A46-A2BBA46A9105}" type="presOf" srcId="{3A65EA20-1F98-4FD6-8585-E24364C35285}" destId="{33F576D8-77B8-46AC-942C-78072A82BCB5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B2ED9775-4B92-4305-AF51-44A788B3B11D}" type="presOf" srcId="{49A949D1-D7FF-4AF7-8CE4-1729E1E1167E}" destId="{657F305A-03D9-4556-BA21-F3EBCB0C16D5}" srcOrd="0" destOrd="0" presId="urn:microsoft.com/office/officeart/2005/8/layout/hierarchy2"/>
    <dgm:cxn modelId="{2E51398D-BC6E-4C98-8FF7-D477CAE0EFF5}" srcId="{60E0BFDE-8E4F-4DF7-83FA-750D549853C2}" destId="{1CF01D51-7744-46DE-AD1E-B33E5AC5DDC4}" srcOrd="1" destOrd="0" parTransId="{3A65EA20-1F98-4FD6-8585-E24364C35285}" sibTransId="{DBF77947-0AA8-4B91-8234-0C0DAEEB42E4}"/>
    <dgm:cxn modelId="{87031F8E-FC95-466D-B9EA-941F2E669A01}" srcId="{60E0BFDE-8E4F-4DF7-83FA-750D549853C2}" destId="{49A949D1-D7FF-4AF7-8CE4-1729E1E1167E}" srcOrd="2" destOrd="0" parTransId="{002127E7-8AC5-4116-BD7C-7DEF0D826E4F}" sibTransId="{9679669E-9375-4779-A050-BA88460E3603}"/>
    <dgm:cxn modelId="{D0BC3C90-5F64-43CC-B7F7-18231C607F08}" type="presOf" srcId="{718EF08F-174C-4039-AF76-97E96AB6E283}" destId="{6DE6DF5F-FDFB-498F-9C05-7C9C22DA9A5D}" srcOrd="1" destOrd="0" presId="urn:microsoft.com/office/officeart/2005/8/layout/hierarchy2"/>
    <dgm:cxn modelId="{315BD194-E9EE-4440-A843-4867B7033A4E}" type="presOf" srcId="{1CF01D51-7744-46DE-AD1E-B33E5AC5DDC4}" destId="{53CBCBE4-8058-4DC4-8A24-70C23610BF67}" srcOrd="0" destOrd="0" presId="urn:microsoft.com/office/officeart/2005/8/layout/hierarchy2"/>
    <dgm:cxn modelId="{A5CD6C9D-7E45-4A87-BC0A-64E34CC87364}" type="presOf" srcId="{002127E7-8AC5-4116-BD7C-7DEF0D826E4F}" destId="{AD5DA7A3-BB8B-4ED2-ADB7-EBF9C8A7B90C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CFF4EC8-1AA8-4D6A-872B-03ED75B7F555}" type="presOf" srcId="{718EF08F-174C-4039-AF76-97E96AB6E283}" destId="{02DBC75F-EC9B-4A1C-B9DE-6892275ED7C8}" srcOrd="0" destOrd="0" presId="urn:microsoft.com/office/officeart/2005/8/layout/hierarchy2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  <dgm:cxn modelId="{CFBC4AF2-5EDC-455C-A8C8-688A85DA759E}" type="presParOf" srcId="{8F740A56-505D-4FF6-95FF-91ABBA25BC9B}" destId="{02DBC75F-EC9B-4A1C-B9DE-6892275ED7C8}" srcOrd="0" destOrd="0" presId="urn:microsoft.com/office/officeart/2005/8/layout/hierarchy2"/>
    <dgm:cxn modelId="{53D4B1F4-2B7F-48DA-9A18-5A005FCA79FC}" type="presParOf" srcId="{02DBC75F-EC9B-4A1C-B9DE-6892275ED7C8}" destId="{6DE6DF5F-FDFB-498F-9C05-7C9C22DA9A5D}" srcOrd="0" destOrd="0" presId="urn:microsoft.com/office/officeart/2005/8/layout/hierarchy2"/>
    <dgm:cxn modelId="{2D8C66EE-332D-4623-8796-E8960A538CBB}" type="presParOf" srcId="{8F740A56-505D-4FF6-95FF-91ABBA25BC9B}" destId="{9F18E91C-831F-40F9-B9F3-7913006B6543}" srcOrd="1" destOrd="0" presId="urn:microsoft.com/office/officeart/2005/8/layout/hierarchy2"/>
    <dgm:cxn modelId="{B4227B17-8320-4432-9142-1745612424D0}" type="presParOf" srcId="{9F18E91C-831F-40F9-B9F3-7913006B6543}" destId="{856966A0-B3E8-4AAF-BADE-F7D74F234487}" srcOrd="0" destOrd="0" presId="urn:microsoft.com/office/officeart/2005/8/layout/hierarchy2"/>
    <dgm:cxn modelId="{FCC0CA6D-68BF-4F6F-80A2-3D11C3A289D0}" type="presParOf" srcId="{9F18E91C-831F-40F9-B9F3-7913006B6543}" destId="{AB728882-FE2A-4955-B847-56733D23CD26}" srcOrd="1" destOrd="0" presId="urn:microsoft.com/office/officeart/2005/8/layout/hierarchy2"/>
    <dgm:cxn modelId="{9CCCB899-CC44-4597-A53D-1D29CF5C85DC}" type="presParOf" srcId="{8F740A56-505D-4FF6-95FF-91ABBA25BC9B}" destId="{33F576D8-77B8-46AC-942C-78072A82BCB5}" srcOrd="2" destOrd="0" presId="urn:microsoft.com/office/officeart/2005/8/layout/hierarchy2"/>
    <dgm:cxn modelId="{B23C7F87-237F-4A7B-AA45-C720AFF78FB2}" type="presParOf" srcId="{33F576D8-77B8-46AC-942C-78072A82BCB5}" destId="{F7BD3A8E-4790-415D-B029-B7D0C221DAFD}" srcOrd="0" destOrd="0" presId="urn:microsoft.com/office/officeart/2005/8/layout/hierarchy2"/>
    <dgm:cxn modelId="{6C3486A3-CDF1-4C8B-A2BB-8C5363E541E7}" type="presParOf" srcId="{8F740A56-505D-4FF6-95FF-91ABBA25BC9B}" destId="{BCA482E7-D9A8-49E1-89DC-71594284EC62}" srcOrd="3" destOrd="0" presId="urn:microsoft.com/office/officeart/2005/8/layout/hierarchy2"/>
    <dgm:cxn modelId="{23F180CE-BF89-4BDF-8E1D-A377C434AE68}" type="presParOf" srcId="{BCA482E7-D9A8-49E1-89DC-71594284EC62}" destId="{53CBCBE4-8058-4DC4-8A24-70C23610BF67}" srcOrd="0" destOrd="0" presId="urn:microsoft.com/office/officeart/2005/8/layout/hierarchy2"/>
    <dgm:cxn modelId="{24245EDC-3596-4269-8FC2-819AB357161A}" type="presParOf" srcId="{BCA482E7-D9A8-49E1-89DC-71594284EC62}" destId="{5F9F091C-84EE-44AA-8328-BF021BF379AF}" srcOrd="1" destOrd="0" presId="urn:microsoft.com/office/officeart/2005/8/layout/hierarchy2"/>
    <dgm:cxn modelId="{0777CC96-36E5-4D0F-8233-54B9AF5B78FA}" type="presParOf" srcId="{8F740A56-505D-4FF6-95FF-91ABBA25BC9B}" destId="{AD5DA7A3-BB8B-4ED2-ADB7-EBF9C8A7B90C}" srcOrd="4" destOrd="0" presId="urn:microsoft.com/office/officeart/2005/8/layout/hierarchy2"/>
    <dgm:cxn modelId="{BC7148BC-021D-447E-A4CB-520463117AD3}" type="presParOf" srcId="{AD5DA7A3-BB8B-4ED2-ADB7-EBF9C8A7B90C}" destId="{5AA69DEC-3041-44FD-BEA9-03B93F901A88}" srcOrd="0" destOrd="0" presId="urn:microsoft.com/office/officeart/2005/8/layout/hierarchy2"/>
    <dgm:cxn modelId="{D2345CC5-9802-42A5-B3D4-5E9BA58D9977}" type="presParOf" srcId="{8F740A56-505D-4FF6-95FF-91ABBA25BC9B}" destId="{27086270-9615-462E-BCFB-2F76F1B17EFB}" srcOrd="5" destOrd="0" presId="urn:microsoft.com/office/officeart/2005/8/layout/hierarchy2"/>
    <dgm:cxn modelId="{4B2BD113-8E98-4E41-A9A3-653F93C93FED}" type="presParOf" srcId="{27086270-9615-462E-BCFB-2F76F1B17EFB}" destId="{657F305A-03D9-4556-BA21-F3EBCB0C16D5}" srcOrd="0" destOrd="0" presId="urn:microsoft.com/office/officeart/2005/8/layout/hierarchy2"/>
    <dgm:cxn modelId="{D0BF2F68-0323-4CE9-9742-C23B592967DA}" type="presParOf" srcId="{27086270-9615-462E-BCFB-2F76F1B17EFB}" destId="{36A38DDD-B3AB-40B8-B04E-A5AD30836395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59AC54-C077-4F20-8BA0-07AB60BBCF7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E0BFDE-8E4F-4DF7-83FA-750D549853C2}">
      <dgm:prSet phldrT="[Text]" phldr="0"/>
      <dgm:spPr/>
      <dgm:t>
        <a:bodyPr/>
        <a:lstStyle/>
        <a:p>
          <a:r>
            <a:rPr lang="en-US" dirty="0"/>
            <a:t>EMA</a:t>
          </a:r>
        </a:p>
      </dgm:t>
    </dgm:pt>
    <dgm:pt modelId="{EF36957E-8A17-4887-87CE-84AC487564B9}" type="parTrans" cxnId="{91DFE5B3-51F3-4761-9B8B-62F3AA2985CE}">
      <dgm:prSet/>
      <dgm:spPr/>
      <dgm:t>
        <a:bodyPr/>
        <a:lstStyle/>
        <a:p>
          <a:endParaRPr lang="en-US"/>
        </a:p>
      </dgm:t>
    </dgm:pt>
    <dgm:pt modelId="{BFBD4E85-2458-48C5-AE18-7BC7F112227B}" type="sibTrans" cxnId="{91DFE5B3-51F3-4761-9B8B-62F3AA2985CE}">
      <dgm:prSet/>
      <dgm:spPr/>
      <dgm:t>
        <a:bodyPr/>
        <a:lstStyle/>
        <a:p>
          <a:endParaRPr lang="en-US"/>
        </a:p>
      </dgm:t>
    </dgm:pt>
    <dgm:pt modelId="{5F8EA75F-EC62-4E91-976A-A02045F4C260}" type="pres">
      <dgm:prSet presAssocID="{5359AC54-C077-4F20-8BA0-07AB60BBCF7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73C5EAD-FE13-4464-A023-A579E7527B0D}" type="pres">
      <dgm:prSet presAssocID="{60E0BFDE-8E4F-4DF7-83FA-750D549853C2}" presName="root1" presStyleCnt="0"/>
      <dgm:spPr/>
    </dgm:pt>
    <dgm:pt modelId="{3BCAB6E7-3C8B-4AD1-96A7-E15ED4DC1AB0}" type="pres">
      <dgm:prSet presAssocID="{60E0BFDE-8E4F-4DF7-83FA-750D549853C2}" presName="LevelOneTextNode" presStyleLbl="node0" presStyleIdx="0" presStyleCnt="1" custLinFactNeighborX="-61894" custLinFactNeighborY="-3668">
        <dgm:presLayoutVars>
          <dgm:chPref val="3"/>
        </dgm:presLayoutVars>
      </dgm:prSet>
      <dgm:spPr/>
    </dgm:pt>
    <dgm:pt modelId="{8F740A56-505D-4FF6-95FF-91ABBA25BC9B}" type="pres">
      <dgm:prSet presAssocID="{60E0BFDE-8E4F-4DF7-83FA-750D549853C2}" presName="level2hierChild" presStyleCnt="0"/>
      <dgm:spPr/>
    </dgm:pt>
  </dgm:ptLst>
  <dgm:cxnLst>
    <dgm:cxn modelId="{B6BB5A62-96D3-447F-88FC-FB78A62B455D}" type="presOf" srcId="{60E0BFDE-8E4F-4DF7-83FA-750D549853C2}" destId="{3BCAB6E7-3C8B-4AD1-96A7-E15ED4DC1AB0}" srcOrd="0" destOrd="0" presId="urn:microsoft.com/office/officeart/2005/8/layout/hierarchy2"/>
    <dgm:cxn modelId="{82A71850-2D32-497D-B19B-A812D4432542}" type="presOf" srcId="{5359AC54-C077-4F20-8BA0-07AB60BBCF7B}" destId="{5F8EA75F-EC62-4E91-976A-A02045F4C260}" srcOrd="0" destOrd="0" presId="urn:microsoft.com/office/officeart/2005/8/layout/hierarchy2"/>
    <dgm:cxn modelId="{91DFE5B3-51F3-4761-9B8B-62F3AA2985CE}" srcId="{5359AC54-C077-4F20-8BA0-07AB60BBCF7B}" destId="{60E0BFDE-8E4F-4DF7-83FA-750D549853C2}" srcOrd="0" destOrd="0" parTransId="{EF36957E-8A17-4887-87CE-84AC487564B9}" sibTransId="{BFBD4E85-2458-48C5-AE18-7BC7F112227B}"/>
    <dgm:cxn modelId="{56C9358B-CDC9-4DFE-8D6A-263B45105A60}" type="presParOf" srcId="{5F8EA75F-EC62-4E91-976A-A02045F4C260}" destId="{D73C5EAD-FE13-4464-A023-A579E7527B0D}" srcOrd="0" destOrd="0" presId="urn:microsoft.com/office/officeart/2005/8/layout/hierarchy2"/>
    <dgm:cxn modelId="{14BD741F-E829-42F9-953F-256CC824BE9D}" type="presParOf" srcId="{D73C5EAD-FE13-4464-A023-A579E7527B0D}" destId="{3BCAB6E7-3C8B-4AD1-96A7-E15ED4DC1AB0}" srcOrd="0" destOrd="0" presId="urn:microsoft.com/office/officeart/2005/8/layout/hierarchy2"/>
    <dgm:cxn modelId="{796EECED-7F27-4827-977C-108FD0BA6AD4}" type="presParOf" srcId="{D73C5EAD-FE13-4464-A023-A579E7527B0D}" destId="{8F740A56-505D-4FF6-95FF-91ABBA25BC9B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1201573" y="1080996"/>
          <a:ext cx="1373993" cy="118856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1429263" y="1277957"/>
        <a:ext cx="918613" cy="794638"/>
      </dsp:txXfrm>
    </dsp:sp>
    <dsp:sp modelId="{16108406-D824-48AA-986F-F20B13B82A81}">
      <dsp:nvSpPr>
        <dsp:cNvPr id="0" name=""/>
        <dsp:cNvSpPr/>
      </dsp:nvSpPr>
      <dsp:spPr>
        <a:xfrm>
          <a:off x="2061957" y="512350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1328137" y="0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1514736" y="161430"/>
        <a:ext cx="752780" cy="651243"/>
      </dsp:txXfrm>
    </dsp:sp>
    <dsp:sp modelId="{322F9847-0308-445A-A02E-9697140899BE}">
      <dsp:nvSpPr>
        <dsp:cNvPr id="0" name=""/>
        <dsp:cNvSpPr/>
      </dsp:nvSpPr>
      <dsp:spPr>
        <a:xfrm>
          <a:off x="2666974" y="1347392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2360790" y="59913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2547389" y="760568"/>
        <a:ext cx="752780" cy="651243"/>
      </dsp:txXfrm>
    </dsp:sp>
    <dsp:sp modelId="{76DF7524-118F-4A3C-8039-C7730AC993D2}">
      <dsp:nvSpPr>
        <dsp:cNvPr id="0" name=""/>
        <dsp:cNvSpPr/>
      </dsp:nvSpPr>
      <dsp:spPr>
        <a:xfrm>
          <a:off x="2246690" y="228999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2360790" y="177697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2547389" y="1938406"/>
        <a:ext cx="752780" cy="651243"/>
      </dsp:txXfrm>
    </dsp:sp>
    <dsp:sp modelId="{6A5105C0-DF27-4B27-8885-6430EAC6309F}">
      <dsp:nvSpPr>
        <dsp:cNvPr id="0" name=""/>
        <dsp:cNvSpPr/>
      </dsp:nvSpPr>
      <dsp:spPr>
        <a:xfrm>
          <a:off x="1204130" y="2387843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1328137" y="2376785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1514736" y="2538215"/>
        <a:ext cx="752780" cy="651243"/>
      </dsp:txXfrm>
    </dsp:sp>
    <dsp:sp modelId="{49B31C55-29E4-4F65-B048-7407A37441AB}">
      <dsp:nvSpPr>
        <dsp:cNvPr id="0" name=""/>
        <dsp:cNvSpPr/>
      </dsp:nvSpPr>
      <dsp:spPr>
        <a:xfrm>
          <a:off x="589204" y="155313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290691" y="177764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477290" y="1939076"/>
        <a:ext cx="752780" cy="651243"/>
      </dsp:txXfrm>
    </dsp:sp>
    <dsp:sp modelId="{C5A425D9-4151-4A77-AD71-BFDEBC1E8358}">
      <dsp:nvSpPr>
        <dsp:cNvPr id="0" name=""/>
        <dsp:cNvSpPr/>
      </dsp:nvSpPr>
      <dsp:spPr>
        <a:xfrm>
          <a:off x="290691" y="59779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477290" y="759228"/>
        <a:ext cx="752780" cy="6512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1508" y="357856"/>
          <a:ext cx="1236053" cy="6180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SAS</a:t>
          </a:r>
        </a:p>
      </dsp:txBody>
      <dsp:txXfrm>
        <a:off x="19609" y="375957"/>
        <a:ext cx="1199851" cy="581824"/>
      </dsp:txXfrm>
    </dsp:sp>
    <dsp:sp modelId="{02DBC75F-EC9B-4A1C-B9DE-6892275ED7C8}">
      <dsp:nvSpPr>
        <dsp:cNvPr id="0" name=""/>
        <dsp:cNvSpPr/>
      </dsp:nvSpPr>
      <dsp:spPr>
        <a:xfrm rot="19457599">
          <a:off x="1180331" y="447482"/>
          <a:ext cx="608881" cy="83408"/>
        </a:xfrm>
        <a:custGeom>
          <a:avLst/>
          <a:gdLst/>
          <a:ahLst/>
          <a:cxnLst/>
          <a:rect l="0" t="0" r="0" b="0"/>
          <a:pathLst>
            <a:path>
              <a:moveTo>
                <a:pt x="0" y="41704"/>
              </a:moveTo>
              <a:lnTo>
                <a:pt x="608881" y="41704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469550" y="473964"/>
        <a:ext cx="30444" cy="30444"/>
      </dsp:txXfrm>
    </dsp:sp>
    <dsp:sp modelId="{856966A0-B3E8-4AAF-BADE-F7D74F234487}">
      <dsp:nvSpPr>
        <dsp:cNvPr id="0" name=""/>
        <dsp:cNvSpPr/>
      </dsp:nvSpPr>
      <dsp:spPr>
        <a:xfrm>
          <a:off x="1731983" y="2490"/>
          <a:ext cx="1236053" cy="6180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R</a:t>
          </a:r>
        </a:p>
      </dsp:txBody>
      <dsp:txXfrm>
        <a:off x="1750084" y="20591"/>
        <a:ext cx="1199851" cy="581824"/>
      </dsp:txXfrm>
    </dsp:sp>
    <dsp:sp modelId="{33F576D8-77B8-46AC-942C-78072A82BCB5}">
      <dsp:nvSpPr>
        <dsp:cNvPr id="0" name=""/>
        <dsp:cNvSpPr/>
      </dsp:nvSpPr>
      <dsp:spPr>
        <a:xfrm rot="2142401">
          <a:off x="1180331" y="802848"/>
          <a:ext cx="608881" cy="83408"/>
        </a:xfrm>
        <a:custGeom>
          <a:avLst/>
          <a:gdLst/>
          <a:ahLst/>
          <a:cxnLst/>
          <a:rect l="0" t="0" r="0" b="0"/>
          <a:pathLst>
            <a:path>
              <a:moveTo>
                <a:pt x="0" y="41704"/>
              </a:moveTo>
              <a:lnTo>
                <a:pt x="608881" y="41704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469550" y="829330"/>
        <a:ext cx="30444" cy="30444"/>
      </dsp:txXfrm>
    </dsp:sp>
    <dsp:sp modelId="{53CBCBE4-8058-4DC4-8A24-70C23610BF67}">
      <dsp:nvSpPr>
        <dsp:cNvPr id="0" name=""/>
        <dsp:cNvSpPr/>
      </dsp:nvSpPr>
      <dsp:spPr>
        <a:xfrm>
          <a:off x="1731983" y="713221"/>
          <a:ext cx="1236053" cy="6180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Python</a:t>
          </a:r>
        </a:p>
      </dsp:txBody>
      <dsp:txXfrm>
        <a:off x="1750084" y="731322"/>
        <a:ext cx="1199851" cy="58182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229435" y="791579"/>
          <a:ext cx="1419958" cy="70997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CCFA</a:t>
          </a:r>
        </a:p>
      </dsp:txBody>
      <dsp:txXfrm>
        <a:off x="250230" y="812374"/>
        <a:ext cx="1378368" cy="668389"/>
      </dsp:txXfrm>
    </dsp:sp>
    <dsp:sp modelId="{02DBC75F-EC9B-4A1C-B9DE-6892275ED7C8}">
      <dsp:nvSpPr>
        <dsp:cNvPr id="0" name=""/>
        <dsp:cNvSpPr/>
      </dsp:nvSpPr>
      <dsp:spPr>
        <a:xfrm rot="19881099">
          <a:off x="1548477" y="724105"/>
          <a:ext cx="1648686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648686" y="27246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31603" y="710134"/>
        <a:ext cx="82434" cy="82434"/>
      </dsp:txXfrm>
    </dsp:sp>
    <dsp:sp modelId="{856966A0-B3E8-4AAF-BADE-F7D74F234487}">
      <dsp:nvSpPr>
        <dsp:cNvPr id="0" name=""/>
        <dsp:cNvSpPr/>
      </dsp:nvSpPr>
      <dsp:spPr>
        <a:xfrm>
          <a:off x="3096247" y="1145"/>
          <a:ext cx="1419958" cy="709979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kern="1200" dirty="0"/>
            <a:t>Loss severity</a:t>
          </a:r>
          <a:endParaRPr lang="en-US" sz="1600" kern="1200" dirty="0"/>
        </a:p>
      </dsp:txBody>
      <dsp:txXfrm>
        <a:off x="3117042" y="21940"/>
        <a:ext cx="1378368" cy="668389"/>
      </dsp:txXfrm>
    </dsp:sp>
    <dsp:sp modelId="{33F576D8-77B8-46AC-942C-78072A82BCB5}">
      <dsp:nvSpPr>
        <dsp:cNvPr id="0" name=""/>
        <dsp:cNvSpPr/>
      </dsp:nvSpPr>
      <dsp:spPr>
        <a:xfrm rot="61870">
          <a:off x="1649277" y="1132343"/>
          <a:ext cx="1447086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447086" y="27246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36643" y="1123412"/>
        <a:ext cx="72354" cy="72354"/>
      </dsp:txXfrm>
    </dsp:sp>
    <dsp:sp modelId="{53CBCBE4-8058-4DC4-8A24-70C23610BF67}">
      <dsp:nvSpPr>
        <dsp:cNvPr id="0" name=""/>
        <dsp:cNvSpPr/>
      </dsp:nvSpPr>
      <dsp:spPr>
        <a:xfrm>
          <a:off x="3096247" y="817621"/>
          <a:ext cx="1419958" cy="709979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Default Type</a:t>
          </a:r>
        </a:p>
      </dsp:txBody>
      <dsp:txXfrm>
        <a:off x="3117042" y="838416"/>
        <a:ext cx="1378368" cy="668389"/>
      </dsp:txXfrm>
    </dsp:sp>
    <dsp:sp modelId="{AD5DA7A3-BB8B-4ED2-ADB7-EBF9C8A7B90C}">
      <dsp:nvSpPr>
        <dsp:cNvPr id="0" name=""/>
        <dsp:cNvSpPr/>
      </dsp:nvSpPr>
      <dsp:spPr>
        <a:xfrm rot="1812763">
          <a:off x="1535679" y="1540581"/>
          <a:ext cx="1674281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674281" y="27246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30963" y="1525971"/>
        <a:ext cx="83714" cy="83714"/>
      </dsp:txXfrm>
    </dsp:sp>
    <dsp:sp modelId="{657F305A-03D9-4556-BA21-F3EBCB0C16D5}">
      <dsp:nvSpPr>
        <dsp:cNvPr id="0" name=""/>
        <dsp:cNvSpPr/>
      </dsp:nvSpPr>
      <dsp:spPr>
        <a:xfrm>
          <a:off x="3096247" y="1634097"/>
          <a:ext cx="1419958" cy="709979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Mortgage Insurance</a:t>
          </a:r>
        </a:p>
      </dsp:txBody>
      <dsp:txXfrm>
        <a:off x="3117042" y="1654892"/>
        <a:ext cx="1378368" cy="66838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CAB6E7-3C8B-4AD1-96A7-E15ED4DC1AB0}">
      <dsp:nvSpPr>
        <dsp:cNvPr id="0" name=""/>
        <dsp:cNvSpPr/>
      </dsp:nvSpPr>
      <dsp:spPr>
        <a:xfrm>
          <a:off x="0" y="249587"/>
          <a:ext cx="1327678" cy="6638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/>
            <a:t>EMA</a:t>
          </a:r>
        </a:p>
      </dsp:txBody>
      <dsp:txXfrm>
        <a:off x="19443" y="269030"/>
        <a:ext cx="1288792" cy="6249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42287" y="0"/>
          <a:ext cx="9545919" cy="1136074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3838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</a:t>
          </a:r>
        </a:p>
      </dsp:txBody>
      <dsp:txXfrm>
        <a:off x="26021" y="363005"/>
        <a:ext cx="2449593" cy="410063"/>
      </dsp:txXfrm>
    </dsp:sp>
    <dsp:sp modelId="{02C6F657-DC22-4874-B839-ED01F19A363A}">
      <dsp:nvSpPr>
        <dsp:cNvPr id="0" name=""/>
        <dsp:cNvSpPr/>
      </dsp:nvSpPr>
      <dsp:spPr>
        <a:xfrm>
          <a:off x="2913457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 Prep</a:t>
          </a:r>
          <a:endParaRPr lang="en-US" sz="1800" kern="1200" dirty="0"/>
        </a:p>
      </dsp:txBody>
      <dsp:txXfrm>
        <a:off x="2935640" y="363005"/>
        <a:ext cx="2449593" cy="410063"/>
      </dsp:txXfrm>
    </dsp:sp>
    <dsp:sp modelId="{C00E62EC-C631-4907-A6A9-ACFBFA247E6A}">
      <dsp:nvSpPr>
        <dsp:cNvPr id="0" name=""/>
        <dsp:cNvSpPr/>
      </dsp:nvSpPr>
      <dsp:spPr>
        <a:xfrm>
          <a:off x="582307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model</a:t>
          </a:r>
        </a:p>
      </dsp:txBody>
      <dsp:txXfrm>
        <a:off x="5845259" y="363005"/>
        <a:ext cx="2449593" cy="410063"/>
      </dsp:txXfrm>
    </dsp:sp>
    <dsp:sp modelId="{2B39B381-C3F6-40EF-9153-96AC0478B650}">
      <dsp:nvSpPr>
        <dsp:cNvPr id="0" name=""/>
        <dsp:cNvSpPr/>
      </dsp:nvSpPr>
      <dsp:spPr>
        <a:xfrm>
          <a:off x="8732696" y="340822"/>
          <a:ext cx="2493959" cy="45442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output</a:t>
          </a:r>
        </a:p>
      </dsp:txBody>
      <dsp:txXfrm>
        <a:off x="8754879" y="363005"/>
        <a:ext cx="2449593" cy="4100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10/24/2026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13" Type="http://schemas.openxmlformats.org/officeDocument/2006/relationships/diagramLayout" Target="../diagrams/layout4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12" Type="http://schemas.openxmlformats.org/officeDocument/2006/relationships/diagramData" Target="../diagrams/data4.xml"/><Relationship Id="rId2" Type="http://schemas.openxmlformats.org/officeDocument/2006/relationships/diagramData" Target="../diagrams/data2.xml"/><Relationship Id="rId16" Type="http://schemas.microsoft.com/office/2007/relationships/diagramDrawing" Target="../diagrams/drawing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5" Type="http://schemas.openxmlformats.org/officeDocument/2006/relationships/diagramColors" Target="../diagrams/colors4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Relationship Id="rId1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E530-03B6-8156-802E-3AA1B94E6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139" y="2080620"/>
            <a:ext cx="11238806" cy="920276"/>
          </a:xfrm>
        </p:spPr>
        <p:txBody>
          <a:bodyPr/>
          <a:lstStyle/>
          <a:p>
            <a:pPr algn="ctr"/>
            <a:r>
              <a:rPr lang="en-US" sz="6000" dirty="0"/>
              <a:t>From On-Premises to Cloud: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543AB-30BC-7246-CBF2-7DCB5BA96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8824" y="3000896"/>
            <a:ext cx="10083852" cy="507075"/>
          </a:xfrm>
        </p:spPr>
        <p:txBody>
          <a:bodyPr>
            <a:norm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Lessons Learned from an Enterprise AWS Migration at Fannie Mae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4EC045-ACD7-FDB8-A5CF-6A5B7240BE02}"/>
              </a:ext>
            </a:extLst>
          </p:cNvPr>
          <p:cNvSpPr txBox="1">
            <a:spLocks/>
          </p:cNvSpPr>
          <p:nvPr/>
        </p:nvSpPr>
        <p:spPr bwMode="gray">
          <a:xfrm>
            <a:off x="4705003" y="4771507"/>
            <a:ext cx="2781993" cy="114489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 cap="all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b="1" dirty="0">
                <a:solidFill>
                  <a:schemeClr val="bg1"/>
                </a:solidFill>
                <a:cs typeface="Times New Roman" panose="02020603050405020304" pitchFamily="18" charset="0"/>
              </a:rPr>
              <a:t>Wujian Xue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Oct 2026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Cincinnati, OH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202-98E5-0852-D355-C6C8631CCA54}"/>
              </a:ext>
            </a:extLst>
          </p:cNvPr>
          <p:cNvSpPr txBox="1"/>
          <p:nvPr/>
        </p:nvSpPr>
        <p:spPr>
          <a:xfrm>
            <a:off x="8007875" y="6182405"/>
            <a:ext cx="37130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626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EDF2-8E54-B45D-176B-457D10A4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10401-06A1-81C3-6519-0A37820C4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 - Fannie Mae</a:t>
            </a:r>
          </a:p>
          <a:p>
            <a:r>
              <a:rPr lang="en-US" dirty="0"/>
              <a:t>Cloud Migration</a:t>
            </a:r>
          </a:p>
          <a:p>
            <a:r>
              <a:rPr lang="en-US" dirty="0"/>
              <a:t>My work in the migration</a:t>
            </a:r>
          </a:p>
          <a:p>
            <a:r>
              <a:rPr lang="en-US" altLang="zh-CN" dirty="0"/>
              <a:t>Lessons learned</a:t>
            </a:r>
            <a:r>
              <a:rPr lang="en-US" dirty="0"/>
              <a:t>: Efficiency and Accuracy</a:t>
            </a:r>
          </a:p>
          <a:p>
            <a:r>
              <a:rPr lang="en-US" dirty="0"/>
              <a:t>Gen AI and future of code conversion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54E66F-8A13-1A8B-6EEA-628C9B863288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36808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EE76F-279D-D112-43F0-7D1482E70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102" y="915479"/>
            <a:ext cx="11338560" cy="706964"/>
          </a:xfrm>
        </p:spPr>
        <p:txBody>
          <a:bodyPr/>
          <a:lstStyle/>
          <a:p>
            <a:r>
              <a:rPr lang="en-US" dirty="0"/>
              <a:t>1. Background -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B3C0A-E402-FD38-F6EE-47BD7DE45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2719878"/>
            <a:ext cx="7506547" cy="3416300"/>
          </a:xfrm>
        </p:spPr>
        <p:txBody>
          <a:bodyPr>
            <a:normAutofit fontScale="92500" lnSpcReduction="10000"/>
          </a:bodyPr>
          <a:lstStyle/>
          <a:p>
            <a:r>
              <a:rPr lang="en-US" sz="2000" dirty="0"/>
              <a:t>Business: </a:t>
            </a:r>
          </a:p>
          <a:p>
            <a:pPr lvl="1"/>
            <a:r>
              <a:rPr lang="en-US" dirty="0"/>
              <a:t>Buy mortgage from lenders across the U.S., give lenders cash to make more home loans.</a:t>
            </a:r>
          </a:p>
          <a:p>
            <a:pPr lvl="1"/>
            <a:r>
              <a:rPr lang="en-US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dirty="0"/>
              <a:t>Chartered by the Congress in 1938, under federal conservatorship in 2008. </a:t>
            </a:r>
          </a:p>
          <a:p>
            <a:pPr lvl="1"/>
            <a:r>
              <a:rPr lang="en-US" dirty="0"/>
              <a:t>Hold $4.3 trillion assets,  financed 25%  homes in the U.S. </a:t>
            </a:r>
          </a:p>
          <a:p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8FE3219-9ABF-6031-0DCC-13804982CC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72757125"/>
              </p:ext>
            </p:extLst>
          </p:nvPr>
        </p:nvGraphicFramePr>
        <p:xfrm>
          <a:off x="8127999" y="2878666"/>
          <a:ext cx="3777460" cy="3350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8FDC64A-E5D9-9D5C-400B-437AA99E9EAE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675996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00EA9-D2A4-324F-8606-3CDE0F06A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940" y="904805"/>
            <a:ext cx="8761413" cy="706964"/>
          </a:xfrm>
        </p:spPr>
        <p:txBody>
          <a:bodyPr/>
          <a:lstStyle/>
          <a:p>
            <a:r>
              <a:rPr lang="sv-SE" dirty="0"/>
              <a:t>2.Cloud Migration in Fannie Mae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9A460-4838-7CDF-9663-3122CC5F79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354" y="2544234"/>
            <a:ext cx="3908113" cy="402167"/>
          </a:xfrm>
        </p:spPr>
        <p:txBody>
          <a:bodyPr/>
          <a:lstStyle/>
          <a:p>
            <a:r>
              <a:rPr lang="en-US" dirty="0"/>
              <a:t>7 Rs in AWS Cloud Migration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F2936-3CFA-A896-4C17-FEFAFAB20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070" y="3063876"/>
            <a:ext cx="4390862" cy="3636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2EEDFA-C1D6-BA5B-129B-7C8D1B083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621" y="2711877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D3D017-E651-4304-4D01-96CFF661D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97" y="4004579"/>
            <a:ext cx="1388533" cy="1041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0FF08C-CB3B-2CF3-D883-FDF108A0C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2019" y="4073065"/>
            <a:ext cx="1253067" cy="939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804DAD-7251-FD22-EE74-4352BA72A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801" y="5350443"/>
            <a:ext cx="1580274" cy="9398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C02668-4915-94EF-92A8-D28B7FEF46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261" y="4073065"/>
            <a:ext cx="1531814" cy="7089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0F471-1F10-43CA-CBC1-1464D5C19F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5103" y="5438609"/>
            <a:ext cx="1514018" cy="851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BB5AB5-3B15-369B-AC41-4379CF98DF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97392" y="5350443"/>
            <a:ext cx="1577323" cy="10037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EF7885-8894-6379-FF11-E2671C4ACAF7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59250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DDE69-3F80-8204-405C-BCA5C05A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27" y="872232"/>
            <a:ext cx="10164979" cy="706964"/>
          </a:xfrm>
        </p:spPr>
        <p:txBody>
          <a:bodyPr/>
          <a:lstStyle/>
          <a:p>
            <a:r>
              <a:rPr lang="en-US" dirty="0"/>
              <a:t>2.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73DF9-3166-A60E-52C2-E39C8F06D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2290234"/>
            <a:ext cx="11396134" cy="706964"/>
          </a:xfrm>
        </p:spPr>
        <p:txBody>
          <a:bodyPr/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5AB3C-3BC2-1BB0-A480-079D7BC5D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83" y="4025063"/>
            <a:ext cx="2007612" cy="20076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CB48E5-6543-1116-993A-705850C76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605" y="2957435"/>
            <a:ext cx="1257396" cy="1257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FC7744-7040-39EC-5B32-811FF775C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208" y="3021465"/>
            <a:ext cx="1887113" cy="10497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366866-BA32-93EF-E882-DA10563BE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375" y="4463839"/>
            <a:ext cx="1829936" cy="1013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14B818-2604-D038-6A7F-2DFDACE5B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0065" y="4463839"/>
            <a:ext cx="1397559" cy="929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0405E3-91AB-1BC4-4432-802AF71DEA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4386" y="3429000"/>
            <a:ext cx="2105887" cy="5880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3E1CFE-00BD-35DB-84AE-E1D7386211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841" y="4524514"/>
            <a:ext cx="1652317" cy="929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E2673-0819-48AC-AEC6-AEC75FFFA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7163" y="4578302"/>
            <a:ext cx="1167504" cy="7005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2CBC153-62D9-D625-079A-DEB8576A0C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4668" y="2933161"/>
            <a:ext cx="2244366" cy="13472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8CB34E-20BE-1714-5A1C-D6DA56BD9749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771836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CEDFC-FB8B-5C8E-0043-6AAE4647D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197" y="877915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0E313-0497-11D3-5F35-E50D606AC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248" y="2271461"/>
            <a:ext cx="11287814" cy="462437"/>
          </a:xfrm>
        </p:spPr>
        <p:txBody>
          <a:bodyPr>
            <a:normAutofit/>
          </a:bodyPr>
          <a:lstStyle/>
          <a:p>
            <a:r>
              <a:rPr lang="en-US" altLang="zh-CN" dirty="0"/>
              <a:t>I worked in EMA to migrate CCAF models from SAS to</a:t>
            </a:r>
            <a:r>
              <a:rPr lang="zh-CN" altLang="en-US" dirty="0"/>
              <a:t> </a:t>
            </a:r>
            <a:r>
              <a:rPr lang="en-US" altLang="zh-CN" dirty="0"/>
              <a:t>R/Python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BCF8376-67F8-6314-44DB-92293730E99C}"/>
              </a:ext>
            </a:extLst>
          </p:cNvPr>
          <p:cNvSpPr txBox="1">
            <a:spLocks/>
          </p:cNvSpPr>
          <p:nvPr/>
        </p:nvSpPr>
        <p:spPr>
          <a:xfrm>
            <a:off x="3545765" y="4355885"/>
            <a:ext cx="3461737" cy="377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Common Cash Flow Applications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1A2269-9CB7-D78D-F2AA-2C255022BB68}"/>
              </a:ext>
            </a:extLst>
          </p:cNvPr>
          <p:cNvSpPr txBox="1">
            <a:spLocks/>
          </p:cNvSpPr>
          <p:nvPr/>
        </p:nvSpPr>
        <p:spPr>
          <a:xfrm>
            <a:off x="117248" y="4196468"/>
            <a:ext cx="4062668" cy="377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065E8-B245-ACF7-1E53-587354147EDB}"/>
              </a:ext>
            </a:extLst>
          </p:cNvPr>
          <p:cNvSpPr txBox="1"/>
          <p:nvPr/>
        </p:nvSpPr>
        <p:spPr>
          <a:xfrm>
            <a:off x="251374" y="4373321"/>
            <a:ext cx="30987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Enterprise Modeling and Analytics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A3CF30E-B820-0981-059C-A22403E3347E}"/>
              </a:ext>
            </a:extLst>
          </p:cNvPr>
          <p:cNvSpPr txBox="1">
            <a:spLocks/>
          </p:cNvSpPr>
          <p:nvPr/>
        </p:nvSpPr>
        <p:spPr>
          <a:xfrm>
            <a:off x="8503920" y="2887873"/>
            <a:ext cx="3541222" cy="37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Dollar loss / unpaid principal balance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E02AED-2106-FDE2-19E1-34D40C3491F9}"/>
              </a:ext>
            </a:extLst>
          </p:cNvPr>
          <p:cNvSpPr/>
          <p:nvPr/>
        </p:nvSpPr>
        <p:spPr>
          <a:xfrm>
            <a:off x="5184933" y="5779946"/>
            <a:ext cx="922717" cy="3987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Unix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E94FFC-12F0-1356-CFB5-F73145587BD5}"/>
              </a:ext>
            </a:extLst>
          </p:cNvPr>
          <p:cNvSpPr/>
          <p:nvPr/>
        </p:nvSpPr>
        <p:spPr>
          <a:xfrm>
            <a:off x="8833758" y="5790567"/>
            <a:ext cx="922717" cy="3924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Putty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091B60-5CA9-8B90-801C-EF861E3BDE58}"/>
              </a:ext>
            </a:extLst>
          </p:cNvPr>
          <p:cNvSpPr/>
          <p:nvPr/>
        </p:nvSpPr>
        <p:spPr>
          <a:xfrm>
            <a:off x="7007502" y="5764108"/>
            <a:ext cx="1023503" cy="4311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WinSCP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E22C01-B998-89AB-8C13-AF595AFC69FB}"/>
              </a:ext>
            </a:extLst>
          </p:cNvPr>
          <p:cNvSpPr/>
          <p:nvPr/>
        </p:nvSpPr>
        <p:spPr>
          <a:xfrm>
            <a:off x="10346874" y="5788944"/>
            <a:ext cx="940940" cy="389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Git</a:t>
            </a:r>
            <a:endParaRPr lang="en-US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8D7C319-6BA3-AB7E-C66E-85829E947658}"/>
              </a:ext>
            </a:extLst>
          </p:cNvPr>
          <p:cNvSpPr txBox="1">
            <a:spLocks/>
          </p:cNvSpPr>
          <p:nvPr/>
        </p:nvSpPr>
        <p:spPr>
          <a:xfrm>
            <a:off x="2384" y="4998675"/>
            <a:ext cx="11287814" cy="4624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Technologies used in the migration: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5F8E24-132B-C328-20AD-389B40BDFB6D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graphicFrame>
        <p:nvGraphicFramePr>
          <p:cNvPr id="24" name="Diagram 23">
            <a:extLst>
              <a:ext uri="{FF2B5EF4-FFF2-40B4-BE49-F238E27FC236}">
                <a16:creationId xmlns:a16="http://schemas.microsoft.com/office/drawing/2014/main" id="{0A15DD1E-92CE-31F5-DDDA-D5633CAC2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395865"/>
              </p:ext>
            </p:extLst>
          </p:nvPr>
        </p:nvGraphicFramePr>
        <p:xfrm>
          <a:off x="904186" y="5370021"/>
          <a:ext cx="2969545" cy="13337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5" name="Diagram 24">
            <a:extLst>
              <a:ext uri="{FF2B5EF4-FFF2-40B4-BE49-F238E27FC236}">
                <a16:creationId xmlns:a16="http://schemas.microsoft.com/office/drawing/2014/main" id="{B20DBF33-8D8A-6D19-0630-C171097B50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7026739"/>
              </p:ext>
            </p:extLst>
          </p:nvPr>
        </p:nvGraphicFramePr>
        <p:xfrm>
          <a:off x="4058432" y="2725879"/>
          <a:ext cx="5624511" cy="2345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D99993D-52A1-B0FA-788E-01115C444ABE}"/>
              </a:ext>
            </a:extLst>
          </p:cNvPr>
          <p:cNvSpPr txBox="1">
            <a:spLocks/>
          </p:cNvSpPr>
          <p:nvPr/>
        </p:nvSpPr>
        <p:spPr>
          <a:xfrm>
            <a:off x="8576263" y="3760183"/>
            <a:ext cx="1349133" cy="37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PFS, TPS, REO</a:t>
            </a:r>
          </a:p>
        </p:txBody>
      </p:sp>
      <p:graphicFrame>
        <p:nvGraphicFramePr>
          <p:cNvPr id="27" name="Diagram 26">
            <a:extLst>
              <a:ext uri="{FF2B5EF4-FFF2-40B4-BE49-F238E27FC236}">
                <a16:creationId xmlns:a16="http://schemas.microsoft.com/office/drawing/2014/main" id="{22D1D931-35DC-91BC-A18C-0F06DD4FC9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6736822"/>
              </p:ext>
            </p:extLst>
          </p:nvPr>
        </p:nvGraphicFramePr>
        <p:xfrm>
          <a:off x="870324" y="3317682"/>
          <a:ext cx="1329305" cy="121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</p:spTree>
    <p:extLst>
      <p:ext uri="{BB962C8B-B14F-4D97-AF65-F5344CB8AC3E}">
        <p14:creationId xmlns:p14="http://schemas.microsoft.com/office/powerpoint/2010/main" val="1906971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4E6D8-5629-464B-16EF-F19EF89A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90" y="890541"/>
            <a:ext cx="8761413" cy="706964"/>
          </a:xfrm>
        </p:spPr>
        <p:txBody>
          <a:bodyPr/>
          <a:lstStyle/>
          <a:p>
            <a:r>
              <a:rPr lang="en-US" dirty="0"/>
              <a:t>3. My work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2FB1B-D47B-36EB-3272-31AFE7473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381" y="2345805"/>
            <a:ext cx="11346874" cy="35583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 d</a:t>
            </a:r>
            <a:r>
              <a:rPr lang="en-US" altLang="zh-CN" dirty="0"/>
              <a:t>idn’t</a:t>
            </a:r>
            <a:r>
              <a:rPr lang="en-US" dirty="0"/>
              <a:t> have access to SAS. I only had the SAS code and log files. I had to ask my teammates to create some intermediate datasets.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611D1E-7478-2FC3-6B1F-4EF0867A7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969" y="2816815"/>
            <a:ext cx="4362386" cy="36574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58359-594C-41DC-CFE5-FE178A4C5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61" y="2820971"/>
            <a:ext cx="2247708" cy="38215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766DBC-F7D3-BB94-232C-E7402B4003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8305" y="2867543"/>
            <a:ext cx="4743695" cy="36574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79C72A-35A2-9C99-559F-E435C87ABD65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14D2D-0E06-7D9D-06C1-162B4B6D1463}"/>
              </a:ext>
            </a:extLst>
          </p:cNvPr>
          <p:cNvSpPr/>
          <p:nvPr/>
        </p:nvSpPr>
        <p:spPr>
          <a:xfrm>
            <a:off x="4384102" y="3344158"/>
            <a:ext cx="26582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Sample</a:t>
            </a:r>
          </a:p>
        </p:txBody>
      </p:sp>
    </p:spTree>
    <p:extLst>
      <p:ext uri="{BB962C8B-B14F-4D97-AF65-F5344CB8AC3E}">
        <p14:creationId xmlns:p14="http://schemas.microsoft.com/office/powerpoint/2010/main" val="17387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337D7-0147-3295-D795-C3F0374F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52" y="838200"/>
            <a:ext cx="10042290" cy="706964"/>
          </a:xfrm>
        </p:spPr>
        <p:txBody>
          <a:bodyPr/>
          <a:lstStyle/>
          <a:p>
            <a:r>
              <a:rPr lang="en-US" dirty="0"/>
              <a:t>3. My work – Steps for code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7F445-5021-145D-6E5E-ABD15CE5B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302" y="3429000"/>
            <a:ext cx="2510443" cy="2722418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115888" indent="-115888"/>
            <a:r>
              <a:rPr lang="en-US" sz="1100" dirty="0"/>
              <a:t>Convert sas7bdat to </a:t>
            </a:r>
            <a:r>
              <a:rPr lang="en-US" sz="1100" dirty="0" err="1"/>
              <a:t>rds</a:t>
            </a:r>
            <a:endParaRPr lang="en-US" sz="1100" dirty="0"/>
          </a:p>
          <a:p>
            <a:pPr marL="115888" indent="-115888"/>
            <a:r>
              <a:rPr lang="en-US" sz="1100" dirty="0"/>
              <a:t>Import dataset</a:t>
            </a:r>
          </a:p>
          <a:p>
            <a:pPr marL="115888" indent="-115888"/>
            <a:r>
              <a:rPr lang="en-US" sz="1100" dirty="0"/>
              <a:t>Data format: sas7bdat/</a:t>
            </a:r>
            <a:r>
              <a:rPr lang="en-US" sz="1100" dirty="0" err="1"/>
              <a:t>rds</a:t>
            </a:r>
            <a:r>
              <a:rPr lang="en-US" sz="1100" dirty="0"/>
              <a:t>/parquet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date/month/time,</a:t>
            </a:r>
          </a:p>
          <a:p>
            <a:pPr marL="115888" indent="-115888"/>
            <a:r>
              <a:rPr lang="en-US" sz="1100" dirty="0"/>
              <a:t>Origin date</a:t>
            </a:r>
          </a:p>
          <a:p>
            <a:pPr marL="115888" indent="-115888"/>
            <a:r>
              <a:rPr lang="en-US" sz="1100" dirty="0"/>
              <a:t>missing values, </a:t>
            </a:r>
          </a:p>
          <a:p>
            <a:pPr marL="115888" indent="-115888"/>
            <a:r>
              <a:rPr lang="en-US" sz="1100" dirty="0"/>
              <a:t>N/A </a:t>
            </a:r>
          </a:p>
          <a:p>
            <a:pPr marL="115888" indent="-115888"/>
            <a:endParaRPr lang="en-US" sz="1100" dirty="0"/>
          </a:p>
          <a:p>
            <a:pPr marL="115888" indent="-115888"/>
            <a:r>
              <a:rPr lang="en-US" sz="1100" dirty="0"/>
              <a:t>Updated monthly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CA6D24-3ADA-E3BB-4FBE-869EADDB6510}"/>
              </a:ext>
            </a:extLst>
          </p:cNvPr>
          <p:cNvSpPr txBox="1">
            <a:spLocks/>
          </p:cNvSpPr>
          <p:nvPr/>
        </p:nvSpPr>
        <p:spPr>
          <a:xfrm>
            <a:off x="3358705" y="3429000"/>
            <a:ext cx="2755306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100" dirty="0"/>
              <a:t>Variables: filter data </a:t>
            </a:r>
          </a:p>
          <a:p>
            <a:pPr marL="115888" indent="-115888"/>
            <a:r>
              <a:rPr lang="en-US" sz="1100" dirty="0"/>
              <a:t>merge tables</a:t>
            </a:r>
          </a:p>
          <a:p>
            <a:pPr marL="515938" lvl="1" indent="-115888"/>
            <a:r>
              <a:rPr lang="en-US" sz="900" dirty="0"/>
              <a:t>Concatenate</a:t>
            </a:r>
          </a:p>
          <a:p>
            <a:pPr marL="515938" lvl="1" indent="-115888"/>
            <a:r>
              <a:rPr lang="en-US" sz="900" dirty="0"/>
              <a:t>match merging (with n= dataset option)</a:t>
            </a:r>
          </a:p>
          <a:p>
            <a:pPr marL="515938" lvl="1" indent="-115888"/>
            <a:r>
              <a:rPr lang="en-US" sz="900" dirty="0"/>
              <a:t>match merging (if a and b)</a:t>
            </a:r>
          </a:p>
          <a:p>
            <a:pPr marL="115888" indent="-115888"/>
            <a:r>
              <a:rPr lang="en-US" sz="1100" dirty="0"/>
              <a:t>Loops: </a:t>
            </a:r>
          </a:p>
          <a:p>
            <a:pPr marL="515938" lvl="1" indent="-115888"/>
            <a:r>
              <a:rPr lang="en-US" sz="900" dirty="0"/>
              <a:t>do until</a:t>
            </a:r>
          </a:p>
          <a:p>
            <a:pPr marL="515938" lvl="1" indent="-115888"/>
            <a:r>
              <a:rPr lang="en-US" sz="900" dirty="0"/>
              <a:t>Nested do loops</a:t>
            </a:r>
          </a:p>
          <a:p>
            <a:endParaRPr lang="en-US" sz="1200" dirty="0"/>
          </a:p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B6D6B54-A311-EB16-8BD2-E3485F3BBABB}"/>
              </a:ext>
            </a:extLst>
          </p:cNvPr>
          <p:cNvSpPr txBox="1">
            <a:spLocks/>
          </p:cNvSpPr>
          <p:nvPr/>
        </p:nvSpPr>
        <p:spPr>
          <a:xfrm>
            <a:off x="6400800" y="3429000"/>
            <a:ext cx="2435629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Spline in Linear/logistic regression</a:t>
            </a:r>
          </a:p>
          <a:p>
            <a:pPr marL="115888" indent="-115888"/>
            <a:r>
              <a:rPr lang="en-US" sz="1200" dirty="0"/>
              <a:t>Two step regression</a:t>
            </a:r>
          </a:p>
          <a:p>
            <a:endParaRPr lang="en-US" sz="1200" dirty="0"/>
          </a:p>
          <a:p>
            <a:endParaRPr lang="en-US" dirty="0"/>
          </a:p>
        </p:txBody>
      </p:sp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4207582E-C159-7D00-332B-C4D21A4671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554497"/>
              </p:ext>
            </p:extLst>
          </p:nvPr>
        </p:nvGraphicFramePr>
        <p:xfrm>
          <a:off x="498764" y="2292926"/>
          <a:ext cx="11230494" cy="11360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FA28388-176F-6365-7397-2844E903A1F6}"/>
              </a:ext>
            </a:extLst>
          </p:cNvPr>
          <p:cNvSpPr txBox="1">
            <a:spLocks/>
          </p:cNvSpPr>
          <p:nvPr/>
        </p:nvSpPr>
        <p:spPr>
          <a:xfrm>
            <a:off x="9320313" y="3429000"/>
            <a:ext cx="2372924" cy="27224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5888" indent="-115888"/>
            <a:r>
              <a:rPr lang="en-US" sz="1200" dirty="0"/>
              <a:t>Comparison </a:t>
            </a:r>
          </a:p>
          <a:p>
            <a:pPr marL="115888" indent="-115888"/>
            <a:r>
              <a:rPr lang="en-US" sz="1200" dirty="0"/>
              <a:t>Explanations</a:t>
            </a:r>
          </a:p>
          <a:p>
            <a:pPr marL="115888" indent="-115888"/>
            <a:r>
              <a:rPr lang="en-US" sz="1200" dirty="0"/>
              <a:t>Tables: modify R outputs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7131A5-54F0-841D-69D4-7EEE7184D6DB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213553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F518D-1434-AE71-CCC6-D64E06915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10607555" cy="706964"/>
          </a:xfrm>
        </p:spPr>
        <p:txBody>
          <a:bodyPr/>
          <a:lstStyle/>
          <a:p>
            <a:r>
              <a:rPr lang="en-US" dirty="0"/>
              <a:t>Frequently used PROC/function/libraries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A42F75-680C-A81B-84A0-DA0E40F2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6399" y="2509751"/>
            <a:ext cx="1626104" cy="6667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BD5840-F2C6-1A5A-1517-943BC2A31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120" y="2509751"/>
            <a:ext cx="2143471" cy="8031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6CB4E1-CEBD-AED6-2445-998877250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4201" y="3434225"/>
            <a:ext cx="992039" cy="1144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B084F-E479-8EF3-2BB0-A5822B0EF3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516" y="3434225"/>
            <a:ext cx="990658" cy="11432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4A1EED-0038-873F-C6BA-0E355F8E3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1097" y="4546149"/>
            <a:ext cx="992039" cy="11449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54C418-AD76-DC26-22AB-85602CD6D5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47" y="5759648"/>
            <a:ext cx="1244595" cy="75445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22F3EEE-34DB-D712-B6B4-1B0950501B74}"/>
              </a:ext>
            </a:extLst>
          </p:cNvPr>
          <p:cNvSpPr txBox="1">
            <a:spLocks/>
          </p:cNvSpPr>
          <p:nvPr/>
        </p:nvSpPr>
        <p:spPr>
          <a:xfrm>
            <a:off x="356827" y="3547788"/>
            <a:ext cx="2512932" cy="307118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PROC GENMOD</a:t>
            </a:r>
          </a:p>
          <a:p>
            <a:r>
              <a:rPr lang="en-US" dirty="0"/>
              <a:t>PROC LOGISTIC</a:t>
            </a:r>
          </a:p>
          <a:p>
            <a:r>
              <a:rPr lang="en-US" dirty="0"/>
              <a:t>PROC FORMAT</a:t>
            </a:r>
          </a:p>
          <a:p>
            <a:r>
              <a:rPr lang="en-US" dirty="0"/>
              <a:t>PROC SORT</a:t>
            </a:r>
          </a:p>
          <a:p>
            <a:r>
              <a:rPr lang="en-US" dirty="0"/>
              <a:t>PROC TABULATE</a:t>
            </a:r>
          </a:p>
          <a:p>
            <a:r>
              <a:rPr lang="en-US" dirty="0"/>
              <a:t>PROC SQL</a:t>
            </a:r>
          </a:p>
          <a:p>
            <a:r>
              <a:rPr lang="en-US" dirty="0"/>
              <a:t>MACRO VAR/FUNCTIONS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0F11FFB-9D71-5055-F89A-8C96DA1AECF9}"/>
              </a:ext>
            </a:extLst>
          </p:cNvPr>
          <p:cNvSpPr txBox="1">
            <a:spLocks/>
          </p:cNvSpPr>
          <p:nvPr/>
        </p:nvSpPr>
        <p:spPr>
          <a:xfrm>
            <a:off x="3831513" y="3575727"/>
            <a:ext cx="3984020" cy="304324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readRDS</a:t>
            </a:r>
            <a:r>
              <a:rPr lang="en-US" dirty="0"/>
              <a:t>()/</a:t>
            </a:r>
            <a:r>
              <a:rPr lang="en-US" dirty="0" err="1"/>
              <a:t>save</a:t>
            </a:r>
            <a:r>
              <a:rPr lang="en-US" altLang="zh-CN" dirty="0" err="1"/>
              <a:t>RDS</a:t>
            </a:r>
            <a:r>
              <a:rPr lang="en-US" altLang="zh-CN" dirty="0"/>
              <a:t>()/</a:t>
            </a:r>
            <a:r>
              <a:rPr lang="en-US" altLang="zh-CN" dirty="0" err="1"/>
              <a:t>writecsv</a:t>
            </a:r>
            <a:r>
              <a:rPr lang="en-US" altLang="zh-CN" dirty="0"/>
              <a:t>()</a:t>
            </a:r>
          </a:p>
          <a:p>
            <a:r>
              <a:rPr lang="en-US" dirty="0" err="1"/>
              <a:t>tolower</a:t>
            </a:r>
            <a:r>
              <a:rPr lang="en-US" dirty="0"/>
              <a:t>()</a:t>
            </a:r>
          </a:p>
          <a:p>
            <a:r>
              <a:rPr lang="en-US" dirty="0"/>
              <a:t>Paste/paste0</a:t>
            </a:r>
          </a:p>
          <a:p>
            <a:r>
              <a:rPr lang="en-US" dirty="0"/>
              <a:t>filter()/mutate()/%&gt;%</a:t>
            </a:r>
          </a:p>
          <a:p>
            <a:r>
              <a:rPr lang="en-US" dirty="0" err="1"/>
              <a:t>glm</a:t>
            </a:r>
            <a:r>
              <a:rPr lang="en-US" dirty="0"/>
              <a:t>()</a:t>
            </a:r>
          </a:p>
          <a:p>
            <a:r>
              <a:rPr lang="en-US" dirty="0"/>
              <a:t>merge()</a:t>
            </a:r>
          </a:p>
          <a:p>
            <a:r>
              <a:rPr lang="en-US" dirty="0" err="1"/>
              <a:t>rbind</a:t>
            </a:r>
            <a:r>
              <a:rPr lang="en-US" dirty="0"/>
              <a:t>()/</a:t>
            </a:r>
            <a:r>
              <a:rPr lang="en-US" dirty="0" err="1"/>
              <a:t>cbind</a:t>
            </a:r>
            <a:r>
              <a:rPr lang="en-US" dirty="0"/>
              <a:t>()</a:t>
            </a:r>
          </a:p>
          <a:p>
            <a:r>
              <a:rPr lang="en-US" altLang="zh-CN" dirty="0" err="1"/>
              <a:t>comparedf</a:t>
            </a:r>
            <a:r>
              <a:rPr lang="en-US" altLang="zh-CN" dirty="0"/>
              <a:t>()</a:t>
            </a:r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3F9B9C-956B-C732-641E-A581C2365D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9344" y="4577481"/>
            <a:ext cx="969324" cy="1122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0B4DE2-EDB8-7DD7-DB61-94C8F4CF75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240" y="3429000"/>
            <a:ext cx="992040" cy="11498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107CAE-DC38-55AC-4807-DBCA5CAFAA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3136" y="4577480"/>
            <a:ext cx="894461" cy="10320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2D8D5F-D03C-1E61-BB36-D070D3F9BA54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860636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F2CF-D0AC-0E8C-9D04-8EB2FB39D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learned: Accuracy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4954" y="3617765"/>
                <a:ext cx="8825659" cy="283602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prices are a large numbers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pPr lvl="1"/>
                <a:r>
                  <a:rPr lang="en-US" dirty="0"/>
                  <a:t>median house price in the CA :$750,000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3D2D5-F349-838D-05CF-32056AA2E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4954" y="3617765"/>
                <a:ext cx="8825659" cy="2836025"/>
              </a:xfrm>
              <a:blipFill>
                <a:blip r:embed="rId2"/>
                <a:stretch>
                  <a:fillRect l="-138" b="-30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0C520B-F86E-C66F-3DB7-BC685CFD9C82}"/>
              </a:ext>
            </a:extLst>
          </p:cNvPr>
          <p:cNvSpPr txBox="1">
            <a:spLocks/>
          </p:cNvSpPr>
          <p:nvPr/>
        </p:nvSpPr>
        <p:spPr>
          <a:xfrm>
            <a:off x="634914" y="2478417"/>
            <a:ext cx="11424814" cy="11393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know the results from SAS and R can be different. We set tolerance values or percentages.</a:t>
            </a:r>
          </a:p>
          <a:p>
            <a:r>
              <a:rPr lang="en-US" dirty="0"/>
              <a:t>But there are still issues: When small differences times large numbers, results may have large differences.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7B8A5-B1CB-CA23-C33F-23057A52FDAC}"/>
              </a:ext>
            </a:extLst>
          </p:cNvPr>
          <p:cNvSpPr txBox="1"/>
          <p:nvPr/>
        </p:nvSpPr>
        <p:spPr>
          <a:xfrm>
            <a:off x="8318270" y="6642556"/>
            <a:ext cx="3873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767184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E978-EFBD-18A7-418D-681746303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60EC0-770E-4C8F-CC61-A292DAFC1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8937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316A-BA5A-697B-1570-D44449413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Women in the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C1E90-8676-4A77-926E-A441CD5C5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48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E73B-C26C-1F3B-30DF-35A921F9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E9B1D-5AA5-C03E-14EC-CB02FBFB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9015589" cy="3416300"/>
          </a:xfrm>
        </p:spPr>
        <p:txBody>
          <a:bodyPr/>
          <a:lstStyle/>
          <a:p>
            <a:r>
              <a:rPr lang="en-US" dirty="0"/>
              <a:t>AWS “Lift and Shift” is the goal. But there are more things to consider in the real-world cloud migration.</a:t>
            </a:r>
          </a:p>
          <a:p>
            <a:r>
              <a:rPr lang="en-US" dirty="0"/>
              <a:t>Everything has a cost. Moving from SAS to free open-source software needs additional effort.</a:t>
            </a:r>
          </a:p>
        </p:txBody>
      </p:sp>
    </p:spTree>
    <p:extLst>
      <p:ext uri="{BB962C8B-B14F-4D97-AF65-F5344CB8AC3E}">
        <p14:creationId xmlns:p14="http://schemas.microsoft.com/office/powerpoint/2010/main" val="3950423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F426-59A4-5223-447C-64525847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07343-168D-D994-90D1-2DD882C573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76183" y="5856698"/>
            <a:ext cx="1571621" cy="3475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LinkedIn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BE8A67-972C-0E8C-7674-B326F3540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057" y="3384972"/>
            <a:ext cx="2286875" cy="22868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FD9BF-3BDB-D204-C5A1-EB9B758D8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721" y="3309994"/>
            <a:ext cx="2415264" cy="243682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CD7024-0B03-225D-3126-376E26376C15}"/>
              </a:ext>
            </a:extLst>
          </p:cNvPr>
          <p:cNvSpPr txBox="1">
            <a:spLocks/>
          </p:cNvSpPr>
          <p:nvPr/>
        </p:nvSpPr>
        <p:spPr>
          <a:xfrm>
            <a:off x="7057683" y="5884332"/>
            <a:ext cx="1571621" cy="3475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7692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620A4-3589-0D65-34EA-14EC02EEA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9210A-0FDC-AC25-79CB-C0A7B4C79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675" y="2553623"/>
            <a:ext cx="9767970" cy="1943562"/>
          </a:xfrm>
        </p:spPr>
        <p:txBody>
          <a:bodyPr>
            <a:normAutofit/>
          </a:bodyPr>
          <a:lstStyle/>
          <a:p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AWS </a:t>
            </a:r>
            <a:r>
              <a:rPr lang="en-US" sz="1200" dirty="0" err="1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re:Invent</a:t>
            </a:r>
            <a:r>
              <a:rPr lang="en-US" sz="12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2021 - Fannie Mae: Migrating at scale without lifting and shifting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Fannie Mae’s Digital Transformation Journey with AWS | Amazon Web Services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Cloud Migration Strategy? - Cloud Migration Strategy Explained – AWS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the “7 Rs” - Cloud Migration Strategies | AWS Builder Center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asnr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sz="12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</a:t>
            </a:r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-to-r: Translate SAS to R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Code-Transcompiler-using-LLMs-public/README.md at main · </a:t>
            </a:r>
            <a:r>
              <a:rPr lang="en-US" sz="1200" dirty="0" err="1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CSOIreland</a:t>
            </a: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/Code-Transcompiler-using-LLMs-public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8063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{24F95ADF-211B-4389-98CD-4235D7F4A4E4}TF229edf6a-8a49-49ee-a0a6-5037052947485fb3ca0c-bc27bf41d645</Template>
  <TotalTime>634</TotalTime>
  <Words>782</Words>
  <Application>Microsoft Office PowerPoint</Application>
  <PresentationFormat>Widescreen</PresentationFormat>
  <Paragraphs>132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Cambria Math</vt:lpstr>
      <vt:lpstr>Century Gothic</vt:lpstr>
      <vt:lpstr>Times New Roman</vt:lpstr>
      <vt:lpstr>Wingdings 3</vt:lpstr>
      <vt:lpstr>Ion Boardroom</vt:lpstr>
      <vt:lpstr>From On-Premises to Cloud: </vt:lpstr>
      <vt:lpstr>Agenda</vt:lpstr>
      <vt:lpstr>1. Background - Fannie Mae</vt:lpstr>
      <vt:lpstr>2.Cloud Migration in Fannie Mae</vt:lpstr>
      <vt:lpstr>2. Cloud in other organizations</vt:lpstr>
      <vt:lpstr>3. My work in the cloud migration</vt:lpstr>
      <vt:lpstr>3. My work in the cloud migration</vt:lpstr>
      <vt:lpstr>3. My work – Steps for code conversion</vt:lpstr>
      <vt:lpstr>Frequently used PROC/function/libraries</vt:lpstr>
      <vt:lpstr>Lessons learned: Accuracy</vt:lpstr>
      <vt:lpstr>Efficiency</vt:lpstr>
      <vt:lpstr>Women in the cloud migration</vt:lpstr>
      <vt:lpstr>Conclusions</vt:lpstr>
      <vt:lpstr>Q&amp;A</vt:lpstr>
      <vt:lpstr>References: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15</cp:revision>
  <dcterms:created xsi:type="dcterms:W3CDTF">2026-10-21T20:39:20Z</dcterms:created>
  <dcterms:modified xsi:type="dcterms:W3CDTF">2026-10-24T21:01:37Z</dcterms:modified>
</cp:coreProperties>
</file>