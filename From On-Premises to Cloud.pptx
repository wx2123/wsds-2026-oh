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08F64C-0EEF-4D44-B6E6-BFE6459F5DDE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2F0427-6797-43C7-9CFF-39FE5CFA72D9}">
      <dgm:prSet phldrT="[Text]" phldr="0" custT="1"/>
      <dgm:spPr/>
      <dgm:t>
        <a:bodyPr/>
        <a:lstStyle/>
        <a:p>
          <a:r>
            <a:rPr lang="en-US" sz="1200" dirty="0"/>
            <a:t>Cloud migration</a:t>
          </a:r>
        </a:p>
      </dgm:t>
    </dgm:pt>
    <dgm:pt modelId="{936A183E-D86C-4E46-90C7-D408ED3AFE0C}" type="parTrans" cxnId="{0C14DDF5-4ABD-41AD-BB04-C7589277FC11}">
      <dgm:prSet/>
      <dgm:spPr/>
      <dgm:t>
        <a:bodyPr/>
        <a:lstStyle/>
        <a:p>
          <a:endParaRPr lang="en-US" sz="1200"/>
        </a:p>
      </dgm:t>
    </dgm:pt>
    <dgm:pt modelId="{9D912BBE-A4A4-4ECC-BB0A-28828FC6A443}" type="sibTrans" cxnId="{0C14DDF5-4ABD-41AD-BB04-C7589277FC11}">
      <dgm:prSet/>
      <dgm:spPr/>
      <dgm:t>
        <a:bodyPr/>
        <a:lstStyle/>
        <a:p>
          <a:endParaRPr lang="en-US" sz="1200"/>
        </a:p>
      </dgm:t>
    </dgm:pt>
    <dgm:pt modelId="{BE175FE2-498E-448A-B4A7-2283839D76F4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1200" dirty="0"/>
            <a:t>Time to customer value</a:t>
          </a:r>
        </a:p>
      </dgm:t>
    </dgm:pt>
    <dgm:pt modelId="{D22DE5EC-1A0D-44B8-A0B4-B8E22F720A91}" type="parTrans" cxnId="{09912B82-505C-4526-A64D-7C4639D33CF2}">
      <dgm:prSet/>
      <dgm:spPr/>
      <dgm:t>
        <a:bodyPr/>
        <a:lstStyle/>
        <a:p>
          <a:endParaRPr lang="en-US" sz="1200"/>
        </a:p>
      </dgm:t>
    </dgm:pt>
    <dgm:pt modelId="{F7396975-9E05-4FAA-B722-F6253FC2E417}" type="sibTrans" cxnId="{09912B82-505C-4526-A64D-7C4639D33CF2}">
      <dgm:prSet/>
      <dgm:spPr/>
      <dgm:t>
        <a:bodyPr/>
        <a:lstStyle/>
        <a:p>
          <a:endParaRPr lang="en-US" sz="1200"/>
        </a:p>
      </dgm:t>
    </dgm:pt>
    <dgm:pt modelId="{1563DCD7-CC83-4FCC-986E-EF0D88F8C8C9}">
      <dgm:prSet phldrT="[Text]" phldr="0" custT="1"/>
      <dgm:spPr>
        <a:solidFill>
          <a:schemeClr val="accent3"/>
        </a:solidFill>
      </dgm:spPr>
      <dgm:t>
        <a:bodyPr/>
        <a:lstStyle/>
        <a:p>
          <a:r>
            <a:rPr lang="en-US" sz="1200" dirty="0"/>
            <a:t>Organize for effectiveness</a:t>
          </a:r>
        </a:p>
      </dgm:t>
    </dgm:pt>
    <dgm:pt modelId="{59CA1295-6B0D-4D46-9A6E-2BE514C501C1}" type="parTrans" cxnId="{CC0D36AC-DB77-4EAE-B086-2C6AAEFE3F2A}">
      <dgm:prSet/>
      <dgm:spPr/>
      <dgm:t>
        <a:bodyPr/>
        <a:lstStyle/>
        <a:p>
          <a:endParaRPr lang="en-US" sz="1200"/>
        </a:p>
      </dgm:t>
    </dgm:pt>
    <dgm:pt modelId="{E189B592-1F81-44E7-B47F-E1578E5C0D66}" type="sibTrans" cxnId="{CC0D36AC-DB77-4EAE-B086-2C6AAEFE3F2A}">
      <dgm:prSet/>
      <dgm:spPr/>
      <dgm:t>
        <a:bodyPr/>
        <a:lstStyle/>
        <a:p>
          <a:endParaRPr lang="en-US" sz="1200"/>
        </a:p>
      </dgm:t>
    </dgm:pt>
    <dgm:pt modelId="{E9121F76-5EF8-4413-AF26-8697B1A9AA5A}">
      <dgm:prSet phldrT="[Text]" phldr="0" custT="1"/>
      <dgm:spPr>
        <a:solidFill>
          <a:srgbClr val="92D050"/>
        </a:solidFill>
      </dgm:spPr>
      <dgm:t>
        <a:bodyPr/>
        <a:lstStyle/>
        <a:p>
          <a:r>
            <a:rPr lang="en-US" sz="1200" dirty="0"/>
            <a:t>Digital stability</a:t>
          </a:r>
        </a:p>
      </dgm:t>
    </dgm:pt>
    <dgm:pt modelId="{8C532E8D-69F8-4B70-A921-97FB40C76A2F}" type="parTrans" cxnId="{81F62DBD-B899-4930-B398-F865E8B6888B}">
      <dgm:prSet/>
      <dgm:spPr/>
      <dgm:t>
        <a:bodyPr/>
        <a:lstStyle/>
        <a:p>
          <a:endParaRPr lang="en-US" sz="1200"/>
        </a:p>
      </dgm:t>
    </dgm:pt>
    <dgm:pt modelId="{CCB91678-A106-4A6C-87D2-2D693F9505DB}" type="sibTrans" cxnId="{81F62DBD-B899-4930-B398-F865E8B6888B}">
      <dgm:prSet/>
      <dgm:spPr/>
      <dgm:t>
        <a:bodyPr/>
        <a:lstStyle/>
        <a:p>
          <a:endParaRPr lang="en-US" sz="1200"/>
        </a:p>
      </dgm:t>
    </dgm:pt>
    <dgm:pt modelId="{D06E1645-DE76-4E65-BB3C-46F3BAC5AF75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altLang="zh-CN" sz="1200" dirty="0"/>
            <a:t>Business Innovation at speed</a:t>
          </a:r>
          <a:endParaRPr lang="en-US" sz="1200" dirty="0"/>
        </a:p>
      </dgm:t>
    </dgm:pt>
    <dgm:pt modelId="{BE94E7EA-F143-44A5-B81A-3464EC870185}" type="parTrans" cxnId="{CCB88BBB-D2D2-4EE7-BA30-391C3EBAD68C}">
      <dgm:prSet/>
      <dgm:spPr/>
      <dgm:t>
        <a:bodyPr/>
        <a:lstStyle/>
        <a:p>
          <a:endParaRPr lang="en-US" sz="1200"/>
        </a:p>
      </dgm:t>
    </dgm:pt>
    <dgm:pt modelId="{5927F88E-3CFB-42A1-B344-5AA79A4C293A}" type="sibTrans" cxnId="{CCB88BBB-D2D2-4EE7-BA30-391C3EBAD68C}">
      <dgm:prSet/>
      <dgm:spPr/>
      <dgm:t>
        <a:bodyPr/>
        <a:lstStyle/>
        <a:p>
          <a:endParaRPr lang="en-US" sz="1200"/>
        </a:p>
      </dgm:t>
    </dgm:pt>
    <dgm:pt modelId="{BB981C33-12A1-4F6C-8D00-12C6EC1236A6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US" sz="1200" dirty="0"/>
            <a:t>Enable transformation</a:t>
          </a:r>
        </a:p>
      </dgm:t>
    </dgm:pt>
    <dgm:pt modelId="{F7D42D6E-AEC6-4242-B246-7A189388A0F8}" type="parTrans" cxnId="{FA5E902D-85A4-4CD2-87C7-EE50DFA82060}">
      <dgm:prSet/>
      <dgm:spPr/>
      <dgm:t>
        <a:bodyPr/>
        <a:lstStyle/>
        <a:p>
          <a:endParaRPr lang="en-US" sz="1200"/>
        </a:p>
      </dgm:t>
    </dgm:pt>
    <dgm:pt modelId="{A5179DFB-4E52-435E-98B6-48F909660EC9}" type="sibTrans" cxnId="{FA5E902D-85A4-4CD2-87C7-EE50DFA82060}">
      <dgm:prSet/>
      <dgm:spPr/>
      <dgm:t>
        <a:bodyPr/>
        <a:lstStyle/>
        <a:p>
          <a:endParaRPr lang="en-US" sz="1200"/>
        </a:p>
      </dgm:t>
    </dgm:pt>
    <dgm:pt modelId="{E6B28B6F-C093-4492-834A-5B67CB2968D9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en-US" sz="1200" dirty="0"/>
            <a:t>Intelligent </a:t>
          </a:r>
          <a:r>
            <a:rPr lang="en-US" altLang="zh-CN" sz="1200" dirty="0"/>
            <a:t>automation</a:t>
          </a:r>
          <a:endParaRPr lang="en-US" sz="1200" dirty="0"/>
        </a:p>
      </dgm:t>
    </dgm:pt>
    <dgm:pt modelId="{16007CBA-F250-4A92-91E9-E2465ED87B2A}" type="parTrans" cxnId="{E6ECE566-AB50-4692-8DED-B40CF4E97AB2}">
      <dgm:prSet/>
      <dgm:spPr/>
      <dgm:t>
        <a:bodyPr/>
        <a:lstStyle/>
        <a:p>
          <a:endParaRPr lang="en-US" sz="1200"/>
        </a:p>
      </dgm:t>
    </dgm:pt>
    <dgm:pt modelId="{F8A9E26C-260A-45F5-8E9E-ABAE245C49E4}" type="sibTrans" cxnId="{E6ECE566-AB50-4692-8DED-B40CF4E97AB2}">
      <dgm:prSet/>
      <dgm:spPr/>
      <dgm:t>
        <a:bodyPr/>
        <a:lstStyle/>
        <a:p>
          <a:endParaRPr lang="en-US" sz="1200"/>
        </a:p>
      </dgm:t>
    </dgm:pt>
    <dgm:pt modelId="{67D15FC6-E047-48C3-847F-243D66AC66A9}" type="pres">
      <dgm:prSet presAssocID="{3208F64C-0EEF-4D44-B6E6-BFE6459F5DDE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F1D19A2F-77BC-4938-9885-093F435A8A47}" type="pres">
      <dgm:prSet presAssocID="{602F0427-6797-43C7-9CFF-39FE5CFA72D9}" presName="Parent" presStyleLbl="node0" presStyleIdx="0" presStyleCnt="1">
        <dgm:presLayoutVars>
          <dgm:chMax val="6"/>
          <dgm:chPref val="6"/>
        </dgm:presLayoutVars>
      </dgm:prSet>
      <dgm:spPr/>
    </dgm:pt>
    <dgm:pt modelId="{D6EA40F1-8F1D-497B-935A-7440D7458290}" type="pres">
      <dgm:prSet presAssocID="{BE175FE2-498E-448A-B4A7-2283839D76F4}" presName="Accent1" presStyleCnt="0"/>
      <dgm:spPr/>
    </dgm:pt>
    <dgm:pt modelId="{595D05E8-0147-4426-84F2-CAF286F94084}" type="pres">
      <dgm:prSet presAssocID="{BE175FE2-498E-448A-B4A7-2283839D76F4}" presName="Accent" presStyleLbl="bgShp" presStyleIdx="0" presStyleCnt="6"/>
      <dgm:spPr/>
    </dgm:pt>
    <dgm:pt modelId="{0CB0AA78-D63F-4F3A-AFA6-EAE5E0314406}" type="pres">
      <dgm:prSet presAssocID="{BE175FE2-498E-448A-B4A7-2283839D76F4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588526E8-04B5-4B80-AA9B-0D229A69CB08}" type="pres">
      <dgm:prSet presAssocID="{1563DCD7-CC83-4FCC-986E-EF0D88F8C8C9}" presName="Accent2" presStyleCnt="0"/>
      <dgm:spPr/>
    </dgm:pt>
    <dgm:pt modelId="{16108406-D824-48AA-986F-F20B13B82A81}" type="pres">
      <dgm:prSet presAssocID="{1563DCD7-CC83-4FCC-986E-EF0D88F8C8C9}" presName="Accent" presStyleLbl="bgShp" presStyleIdx="1" presStyleCnt="6"/>
      <dgm:spPr/>
    </dgm:pt>
    <dgm:pt modelId="{9699140C-2F89-460C-BE44-85A64DE59F52}" type="pres">
      <dgm:prSet presAssocID="{1563DCD7-CC83-4FCC-986E-EF0D88F8C8C9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B9739F21-4DE0-44C7-A0C1-2C212BC562EA}" type="pres">
      <dgm:prSet presAssocID="{E9121F76-5EF8-4413-AF26-8697B1A9AA5A}" presName="Accent3" presStyleCnt="0"/>
      <dgm:spPr/>
    </dgm:pt>
    <dgm:pt modelId="{322F9847-0308-445A-A02E-9697140899BE}" type="pres">
      <dgm:prSet presAssocID="{E9121F76-5EF8-4413-AF26-8697B1A9AA5A}" presName="Accent" presStyleLbl="bgShp" presStyleIdx="2" presStyleCnt="6"/>
      <dgm:spPr/>
    </dgm:pt>
    <dgm:pt modelId="{55AB8E64-BB27-433B-A701-D00D0ADFE0F2}" type="pres">
      <dgm:prSet presAssocID="{E9121F76-5EF8-4413-AF26-8697B1A9AA5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FE031180-106C-462C-846E-00FB37085631}" type="pres">
      <dgm:prSet presAssocID="{D06E1645-DE76-4E65-BB3C-46F3BAC5AF75}" presName="Accent4" presStyleCnt="0"/>
      <dgm:spPr/>
    </dgm:pt>
    <dgm:pt modelId="{76DF7524-118F-4A3C-8039-C7730AC993D2}" type="pres">
      <dgm:prSet presAssocID="{D06E1645-DE76-4E65-BB3C-46F3BAC5AF75}" presName="Accent" presStyleLbl="bgShp" presStyleIdx="3" presStyleCnt="6"/>
      <dgm:spPr/>
    </dgm:pt>
    <dgm:pt modelId="{D57699A4-5871-457E-B5AC-85BE314A9854}" type="pres">
      <dgm:prSet presAssocID="{D06E1645-DE76-4E65-BB3C-46F3BAC5AF75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5A3A4720-2C82-4FE8-8A1B-0239B901DA21}" type="pres">
      <dgm:prSet presAssocID="{BB981C33-12A1-4F6C-8D00-12C6EC1236A6}" presName="Accent5" presStyleCnt="0"/>
      <dgm:spPr/>
    </dgm:pt>
    <dgm:pt modelId="{6A5105C0-DF27-4B27-8885-6430EAC6309F}" type="pres">
      <dgm:prSet presAssocID="{BB981C33-12A1-4F6C-8D00-12C6EC1236A6}" presName="Accent" presStyleLbl="bgShp" presStyleIdx="4" presStyleCnt="6"/>
      <dgm:spPr/>
    </dgm:pt>
    <dgm:pt modelId="{EDC1BEF1-AC06-4D76-AA94-62F6EB75537B}" type="pres">
      <dgm:prSet presAssocID="{BB981C33-12A1-4F6C-8D00-12C6EC1236A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D077B03-4238-4515-BAC2-1FD4B5D76EA1}" type="pres">
      <dgm:prSet presAssocID="{E6B28B6F-C093-4492-834A-5B67CB2968D9}" presName="Accent6" presStyleCnt="0"/>
      <dgm:spPr/>
    </dgm:pt>
    <dgm:pt modelId="{49B31C55-29E4-4F65-B048-7407A37441AB}" type="pres">
      <dgm:prSet presAssocID="{E6B28B6F-C093-4492-834A-5B67CB2968D9}" presName="Accent" presStyleLbl="bgShp" presStyleIdx="5" presStyleCnt="6"/>
      <dgm:spPr/>
    </dgm:pt>
    <dgm:pt modelId="{C5A425D9-4151-4A77-AD71-BFDEBC1E8358}" type="pres">
      <dgm:prSet presAssocID="{E6B28B6F-C093-4492-834A-5B67CB2968D9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1E61F11-34AE-4A47-A574-9C0EAE61A1D7}" type="presOf" srcId="{E9121F76-5EF8-4413-AF26-8697B1A9AA5A}" destId="{55AB8E64-BB27-433B-A701-D00D0ADFE0F2}" srcOrd="0" destOrd="0" presId="urn:microsoft.com/office/officeart/2011/layout/HexagonRadial"/>
    <dgm:cxn modelId="{FA5E902D-85A4-4CD2-87C7-EE50DFA82060}" srcId="{602F0427-6797-43C7-9CFF-39FE5CFA72D9}" destId="{BB981C33-12A1-4F6C-8D00-12C6EC1236A6}" srcOrd="4" destOrd="0" parTransId="{F7D42D6E-AEC6-4242-B246-7A189388A0F8}" sibTransId="{A5179DFB-4E52-435E-98B6-48F909660EC9}"/>
    <dgm:cxn modelId="{E6ECE566-AB50-4692-8DED-B40CF4E97AB2}" srcId="{602F0427-6797-43C7-9CFF-39FE5CFA72D9}" destId="{E6B28B6F-C093-4492-834A-5B67CB2968D9}" srcOrd="5" destOrd="0" parTransId="{16007CBA-F250-4A92-91E9-E2465ED87B2A}" sibTransId="{F8A9E26C-260A-45F5-8E9E-ABAE245C49E4}"/>
    <dgm:cxn modelId="{B51CFA6D-8734-48C0-80BD-7223A131C12A}" type="presOf" srcId="{602F0427-6797-43C7-9CFF-39FE5CFA72D9}" destId="{F1D19A2F-77BC-4938-9885-093F435A8A47}" srcOrd="0" destOrd="0" presId="urn:microsoft.com/office/officeart/2011/layout/HexagonRadial"/>
    <dgm:cxn modelId="{ADEC6658-7BEA-464C-B0A8-7F9E2D7F4212}" type="presOf" srcId="{D06E1645-DE76-4E65-BB3C-46F3BAC5AF75}" destId="{D57699A4-5871-457E-B5AC-85BE314A9854}" srcOrd="0" destOrd="0" presId="urn:microsoft.com/office/officeart/2011/layout/HexagonRadial"/>
    <dgm:cxn modelId="{09912B82-505C-4526-A64D-7C4639D33CF2}" srcId="{602F0427-6797-43C7-9CFF-39FE5CFA72D9}" destId="{BE175FE2-498E-448A-B4A7-2283839D76F4}" srcOrd="0" destOrd="0" parTransId="{D22DE5EC-1A0D-44B8-A0B4-B8E22F720A91}" sibTransId="{F7396975-9E05-4FAA-B722-F6253FC2E417}"/>
    <dgm:cxn modelId="{E2FF408A-AF54-4325-94F7-C2B965552F11}" type="presOf" srcId="{BB981C33-12A1-4F6C-8D00-12C6EC1236A6}" destId="{EDC1BEF1-AC06-4D76-AA94-62F6EB75537B}" srcOrd="0" destOrd="0" presId="urn:microsoft.com/office/officeart/2011/layout/HexagonRadial"/>
    <dgm:cxn modelId="{CC0D36AC-DB77-4EAE-B086-2C6AAEFE3F2A}" srcId="{602F0427-6797-43C7-9CFF-39FE5CFA72D9}" destId="{1563DCD7-CC83-4FCC-986E-EF0D88F8C8C9}" srcOrd="1" destOrd="0" parTransId="{59CA1295-6B0D-4D46-9A6E-2BE514C501C1}" sibTransId="{E189B592-1F81-44E7-B47F-E1578E5C0D66}"/>
    <dgm:cxn modelId="{DEC95CB3-D37A-42E6-AC0C-303F4F46B98B}" type="presOf" srcId="{BE175FE2-498E-448A-B4A7-2283839D76F4}" destId="{0CB0AA78-D63F-4F3A-AFA6-EAE5E0314406}" srcOrd="0" destOrd="0" presId="urn:microsoft.com/office/officeart/2011/layout/HexagonRadial"/>
    <dgm:cxn modelId="{CCB88BBB-D2D2-4EE7-BA30-391C3EBAD68C}" srcId="{602F0427-6797-43C7-9CFF-39FE5CFA72D9}" destId="{D06E1645-DE76-4E65-BB3C-46F3BAC5AF75}" srcOrd="3" destOrd="0" parTransId="{BE94E7EA-F143-44A5-B81A-3464EC870185}" sibTransId="{5927F88E-3CFB-42A1-B344-5AA79A4C293A}"/>
    <dgm:cxn modelId="{81F62DBD-B899-4930-B398-F865E8B6888B}" srcId="{602F0427-6797-43C7-9CFF-39FE5CFA72D9}" destId="{E9121F76-5EF8-4413-AF26-8697B1A9AA5A}" srcOrd="2" destOrd="0" parTransId="{8C532E8D-69F8-4B70-A921-97FB40C76A2F}" sibTransId="{CCB91678-A106-4A6C-87D2-2D693F9505DB}"/>
    <dgm:cxn modelId="{4AAAA9D4-B283-42CC-9623-26DAF7CFD723}" type="presOf" srcId="{1563DCD7-CC83-4FCC-986E-EF0D88F8C8C9}" destId="{9699140C-2F89-460C-BE44-85A64DE59F52}" srcOrd="0" destOrd="0" presId="urn:microsoft.com/office/officeart/2011/layout/HexagonRadial"/>
    <dgm:cxn modelId="{F538A5E3-09EB-4D0B-B319-7AD4679BA0B9}" type="presOf" srcId="{E6B28B6F-C093-4492-834A-5B67CB2968D9}" destId="{C5A425D9-4151-4A77-AD71-BFDEBC1E8358}" srcOrd="0" destOrd="0" presId="urn:microsoft.com/office/officeart/2011/layout/HexagonRadial"/>
    <dgm:cxn modelId="{10130EE6-D901-4362-9F7A-C6893441B7E9}" type="presOf" srcId="{3208F64C-0EEF-4D44-B6E6-BFE6459F5DDE}" destId="{67D15FC6-E047-48C3-847F-243D66AC66A9}" srcOrd="0" destOrd="0" presId="urn:microsoft.com/office/officeart/2011/layout/HexagonRadial"/>
    <dgm:cxn modelId="{0C14DDF5-4ABD-41AD-BB04-C7589277FC11}" srcId="{3208F64C-0EEF-4D44-B6E6-BFE6459F5DDE}" destId="{602F0427-6797-43C7-9CFF-39FE5CFA72D9}" srcOrd="0" destOrd="0" parTransId="{936A183E-D86C-4E46-90C7-D408ED3AFE0C}" sibTransId="{9D912BBE-A4A4-4ECC-BB0A-28828FC6A443}"/>
    <dgm:cxn modelId="{CC623D90-E105-4648-9BD5-7122F61BFA61}" type="presParOf" srcId="{67D15FC6-E047-48C3-847F-243D66AC66A9}" destId="{F1D19A2F-77BC-4938-9885-093F435A8A47}" srcOrd="0" destOrd="0" presId="urn:microsoft.com/office/officeart/2011/layout/HexagonRadial"/>
    <dgm:cxn modelId="{CE2C9365-E8D9-4FCB-AA71-7D2772F9A388}" type="presParOf" srcId="{67D15FC6-E047-48C3-847F-243D66AC66A9}" destId="{D6EA40F1-8F1D-497B-935A-7440D7458290}" srcOrd="1" destOrd="0" presId="urn:microsoft.com/office/officeart/2011/layout/HexagonRadial"/>
    <dgm:cxn modelId="{A4DCEEFD-8FB7-4C00-B8A9-D7B3F2F2C9BF}" type="presParOf" srcId="{D6EA40F1-8F1D-497B-935A-7440D7458290}" destId="{595D05E8-0147-4426-84F2-CAF286F94084}" srcOrd="0" destOrd="0" presId="urn:microsoft.com/office/officeart/2011/layout/HexagonRadial"/>
    <dgm:cxn modelId="{78894057-7334-43AA-846B-411D0DBC3668}" type="presParOf" srcId="{67D15FC6-E047-48C3-847F-243D66AC66A9}" destId="{0CB0AA78-D63F-4F3A-AFA6-EAE5E0314406}" srcOrd="2" destOrd="0" presId="urn:microsoft.com/office/officeart/2011/layout/HexagonRadial"/>
    <dgm:cxn modelId="{5A590799-2041-45C1-A02F-27236B82E88F}" type="presParOf" srcId="{67D15FC6-E047-48C3-847F-243D66AC66A9}" destId="{588526E8-04B5-4B80-AA9B-0D229A69CB08}" srcOrd="3" destOrd="0" presId="urn:microsoft.com/office/officeart/2011/layout/HexagonRadial"/>
    <dgm:cxn modelId="{57DA7FC2-3729-4E4B-8659-43B4E8875CDA}" type="presParOf" srcId="{588526E8-04B5-4B80-AA9B-0D229A69CB08}" destId="{16108406-D824-48AA-986F-F20B13B82A81}" srcOrd="0" destOrd="0" presId="urn:microsoft.com/office/officeart/2011/layout/HexagonRadial"/>
    <dgm:cxn modelId="{044FEC93-D461-49D5-94B8-EEB96C0D6014}" type="presParOf" srcId="{67D15FC6-E047-48C3-847F-243D66AC66A9}" destId="{9699140C-2F89-460C-BE44-85A64DE59F52}" srcOrd="4" destOrd="0" presId="urn:microsoft.com/office/officeart/2011/layout/HexagonRadial"/>
    <dgm:cxn modelId="{01C43576-FFEF-46BE-974D-5CBA463C22D1}" type="presParOf" srcId="{67D15FC6-E047-48C3-847F-243D66AC66A9}" destId="{B9739F21-4DE0-44C7-A0C1-2C212BC562EA}" srcOrd="5" destOrd="0" presId="urn:microsoft.com/office/officeart/2011/layout/HexagonRadial"/>
    <dgm:cxn modelId="{DF47B44C-D960-4689-8500-79FC13815C82}" type="presParOf" srcId="{B9739F21-4DE0-44C7-A0C1-2C212BC562EA}" destId="{322F9847-0308-445A-A02E-9697140899BE}" srcOrd="0" destOrd="0" presId="urn:microsoft.com/office/officeart/2011/layout/HexagonRadial"/>
    <dgm:cxn modelId="{992E85C7-6CFF-4810-9D0B-449855C9FFC3}" type="presParOf" srcId="{67D15FC6-E047-48C3-847F-243D66AC66A9}" destId="{55AB8E64-BB27-433B-A701-D00D0ADFE0F2}" srcOrd="6" destOrd="0" presId="urn:microsoft.com/office/officeart/2011/layout/HexagonRadial"/>
    <dgm:cxn modelId="{803545BC-FDB9-47AC-86F5-101BFDDCCAC4}" type="presParOf" srcId="{67D15FC6-E047-48C3-847F-243D66AC66A9}" destId="{FE031180-106C-462C-846E-00FB37085631}" srcOrd="7" destOrd="0" presId="urn:microsoft.com/office/officeart/2011/layout/HexagonRadial"/>
    <dgm:cxn modelId="{03504B4D-02BB-4A3A-BEEA-C59BC5A476C0}" type="presParOf" srcId="{FE031180-106C-462C-846E-00FB37085631}" destId="{76DF7524-118F-4A3C-8039-C7730AC993D2}" srcOrd="0" destOrd="0" presId="urn:microsoft.com/office/officeart/2011/layout/HexagonRadial"/>
    <dgm:cxn modelId="{6BED9F9B-0CD9-4647-8CB4-61F7D1DFA8D7}" type="presParOf" srcId="{67D15FC6-E047-48C3-847F-243D66AC66A9}" destId="{D57699A4-5871-457E-B5AC-85BE314A9854}" srcOrd="8" destOrd="0" presId="urn:microsoft.com/office/officeart/2011/layout/HexagonRadial"/>
    <dgm:cxn modelId="{35341C55-6CF0-48FF-8A00-6ED472B85D98}" type="presParOf" srcId="{67D15FC6-E047-48C3-847F-243D66AC66A9}" destId="{5A3A4720-2C82-4FE8-8A1B-0239B901DA21}" srcOrd="9" destOrd="0" presId="urn:microsoft.com/office/officeart/2011/layout/HexagonRadial"/>
    <dgm:cxn modelId="{342F0B4D-CB23-4C8F-9E52-BA9CDAE31D1E}" type="presParOf" srcId="{5A3A4720-2C82-4FE8-8A1B-0239B901DA21}" destId="{6A5105C0-DF27-4B27-8885-6430EAC6309F}" srcOrd="0" destOrd="0" presId="urn:microsoft.com/office/officeart/2011/layout/HexagonRadial"/>
    <dgm:cxn modelId="{A560CD4C-6750-4686-AB68-EA322E49E259}" type="presParOf" srcId="{67D15FC6-E047-48C3-847F-243D66AC66A9}" destId="{EDC1BEF1-AC06-4D76-AA94-62F6EB75537B}" srcOrd="10" destOrd="0" presId="urn:microsoft.com/office/officeart/2011/layout/HexagonRadial"/>
    <dgm:cxn modelId="{4E44BC01-AF6B-458D-BD3F-1F9FEAAA8242}" type="presParOf" srcId="{67D15FC6-E047-48C3-847F-243D66AC66A9}" destId="{0D077B03-4238-4515-BAC2-1FD4B5D76EA1}" srcOrd="11" destOrd="0" presId="urn:microsoft.com/office/officeart/2011/layout/HexagonRadial"/>
    <dgm:cxn modelId="{5CAFD3F7-9D6D-4DDD-95F3-1B3C7EE1D321}" type="presParOf" srcId="{0D077B03-4238-4515-BAC2-1FD4B5D76EA1}" destId="{49B31C55-29E4-4F65-B048-7407A37441AB}" srcOrd="0" destOrd="0" presId="urn:microsoft.com/office/officeart/2011/layout/HexagonRadial"/>
    <dgm:cxn modelId="{71C6330F-7900-413B-8F3E-4C852976D96E}" type="presParOf" srcId="{67D15FC6-E047-48C3-847F-243D66AC66A9}" destId="{C5A425D9-4151-4A77-AD71-BFDEBC1E8358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19A2F-77BC-4938-9885-093F435A8A47}">
      <dsp:nvSpPr>
        <dsp:cNvPr id="0" name=""/>
        <dsp:cNvSpPr/>
      </dsp:nvSpPr>
      <dsp:spPr>
        <a:xfrm>
          <a:off x="1201573" y="1080996"/>
          <a:ext cx="1373993" cy="118856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Cloud migration</a:t>
          </a:r>
        </a:p>
      </dsp:txBody>
      <dsp:txXfrm>
        <a:off x="1429263" y="1277957"/>
        <a:ext cx="918613" cy="794638"/>
      </dsp:txXfrm>
    </dsp:sp>
    <dsp:sp modelId="{16108406-D824-48AA-986F-F20B13B82A81}">
      <dsp:nvSpPr>
        <dsp:cNvPr id="0" name=""/>
        <dsp:cNvSpPr/>
      </dsp:nvSpPr>
      <dsp:spPr>
        <a:xfrm>
          <a:off x="2061957" y="512350"/>
          <a:ext cx="518403" cy="44667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0AA78-D63F-4F3A-AFA6-EAE5E0314406}">
      <dsp:nvSpPr>
        <dsp:cNvPr id="0" name=""/>
        <dsp:cNvSpPr/>
      </dsp:nvSpPr>
      <dsp:spPr>
        <a:xfrm>
          <a:off x="1328137" y="0"/>
          <a:ext cx="1125978" cy="974103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Time to customer value</a:t>
          </a:r>
        </a:p>
      </dsp:txBody>
      <dsp:txXfrm>
        <a:off x="1514736" y="161430"/>
        <a:ext cx="752780" cy="651243"/>
      </dsp:txXfrm>
    </dsp:sp>
    <dsp:sp modelId="{322F9847-0308-445A-A02E-9697140899BE}">
      <dsp:nvSpPr>
        <dsp:cNvPr id="0" name=""/>
        <dsp:cNvSpPr/>
      </dsp:nvSpPr>
      <dsp:spPr>
        <a:xfrm>
          <a:off x="2666974" y="1347392"/>
          <a:ext cx="518403" cy="44667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9140C-2F89-460C-BE44-85A64DE59F52}">
      <dsp:nvSpPr>
        <dsp:cNvPr id="0" name=""/>
        <dsp:cNvSpPr/>
      </dsp:nvSpPr>
      <dsp:spPr>
        <a:xfrm>
          <a:off x="2360790" y="599138"/>
          <a:ext cx="1125978" cy="974103"/>
        </a:xfrm>
        <a:prstGeom prst="hexagon">
          <a:avLst>
            <a:gd name="adj" fmla="val 28570"/>
            <a:gd name="vf" fmla="val 115470"/>
          </a:avLst>
        </a:prstGeom>
        <a:solidFill>
          <a:schemeClr val="accent3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Organize for effectiveness</a:t>
          </a:r>
        </a:p>
      </dsp:txBody>
      <dsp:txXfrm>
        <a:off x="2547389" y="760568"/>
        <a:ext cx="752780" cy="651243"/>
      </dsp:txXfrm>
    </dsp:sp>
    <dsp:sp modelId="{76DF7524-118F-4A3C-8039-C7730AC993D2}">
      <dsp:nvSpPr>
        <dsp:cNvPr id="0" name=""/>
        <dsp:cNvSpPr/>
      </dsp:nvSpPr>
      <dsp:spPr>
        <a:xfrm>
          <a:off x="2246690" y="2289997"/>
          <a:ext cx="518403" cy="44667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AB8E64-BB27-433B-A701-D00D0ADFE0F2}">
      <dsp:nvSpPr>
        <dsp:cNvPr id="0" name=""/>
        <dsp:cNvSpPr/>
      </dsp:nvSpPr>
      <dsp:spPr>
        <a:xfrm>
          <a:off x="2360790" y="1776976"/>
          <a:ext cx="1125978" cy="974103"/>
        </a:xfrm>
        <a:prstGeom prst="hexagon">
          <a:avLst>
            <a:gd name="adj" fmla="val 28570"/>
            <a:gd name="vf" fmla="val 115470"/>
          </a:avLst>
        </a:prstGeom>
        <a:solidFill>
          <a:srgbClr val="92D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Digital stability</a:t>
          </a:r>
        </a:p>
      </dsp:txBody>
      <dsp:txXfrm>
        <a:off x="2547389" y="1938406"/>
        <a:ext cx="752780" cy="651243"/>
      </dsp:txXfrm>
    </dsp:sp>
    <dsp:sp modelId="{6A5105C0-DF27-4B27-8885-6430EAC6309F}">
      <dsp:nvSpPr>
        <dsp:cNvPr id="0" name=""/>
        <dsp:cNvSpPr/>
      </dsp:nvSpPr>
      <dsp:spPr>
        <a:xfrm>
          <a:off x="1204130" y="2387843"/>
          <a:ext cx="518403" cy="44667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699A4-5871-457E-B5AC-85BE314A9854}">
      <dsp:nvSpPr>
        <dsp:cNvPr id="0" name=""/>
        <dsp:cNvSpPr/>
      </dsp:nvSpPr>
      <dsp:spPr>
        <a:xfrm>
          <a:off x="1328137" y="2376785"/>
          <a:ext cx="1125978" cy="974103"/>
        </a:xfrm>
        <a:prstGeom prst="hexagon">
          <a:avLst>
            <a:gd name="adj" fmla="val 28570"/>
            <a:gd name="vf" fmla="val 115470"/>
          </a:avLst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Business Innovation at speed</a:t>
          </a:r>
          <a:endParaRPr lang="en-US" sz="1200" kern="1200" dirty="0"/>
        </a:p>
      </dsp:txBody>
      <dsp:txXfrm>
        <a:off x="1514736" y="2538215"/>
        <a:ext cx="752780" cy="651243"/>
      </dsp:txXfrm>
    </dsp:sp>
    <dsp:sp modelId="{49B31C55-29E4-4F65-B048-7407A37441AB}">
      <dsp:nvSpPr>
        <dsp:cNvPr id="0" name=""/>
        <dsp:cNvSpPr/>
      </dsp:nvSpPr>
      <dsp:spPr>
        <a:xfrm>
          <a:off x="589204" y="1553137"/>
          <a:ext cx="518403" cy="44667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1BEF1-AC06-4D76-AA94-62F6EB75537B}">
      <dsp:nvSpPr>
        <dsp:cNvPr id="0" name=""/>
        <dsp:cNvSpPr/>
      </dsp:nvSpPr>
      <dsp:spPr>
        <a:xfrm>
          <a:off x="290691" y="1777646"/>
          <a:ext cx="1125978" cy="974103"/>
        </a:xfrm>
        <a:prstGeom prst="hexagon">
          <a:avLst>
            <a:gd name="adj" fmla="val 28570"/>
            <a:gd name="vf" fmla="val 115470"/>
          </a:avLst>
        </a:prstGeom>
        <a:solidFill>
          <a:srgbClr val="00206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Enable transformation</a:t>
          </a:r>
        </a:p>
      </dsp:txBody>
      <dsp:txXfrm>
        <a:off x="477290" y="1939076"/>
        <a:ext cx="752780" cy="651243"/>
      </dsp:txXfrm>
    </dsp:sp>
    <dsp:sp modelId="{C5A425D9-4151-4A77-AD71-BFDEBC1E8358}">
      <dsp:nvSpPr>
        <dsp:cNvPr id="0" name=""/>
        <dsp:cNvSpPr/>
      </dsp:nvSpPr>
      <dsp:spPr>
        <a:xfrm>
          <a:off x="290691" y="597798"/>
          <a:ext cx="1125978" cy="974103"/>
        </a:xfrm>
        <a:prstGeom prst="hexagon">
          <a:avLst>
            <a:gd name="adj" fmla="val 28570"/>
            <a:gd name="vf" fmla="val 115470"/>
          </a:avLst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Intelligent </a:t>
          </a:r>
          <a:r>
            <a:rPr lang="en-US" altLang="zh-CN" sz="1200" kern="1200" dirty="0"/>
            <a:t>automation</a:t>
          </a:r>
          <a:endParaRPr lang="en-US" sz="1200" kern="1200" dirty="0"/>
        </a:p>
      </dsp:txBody>
      <dsp:txXfrm>
        <a:off x="477290" y="759228"/>
        <a:ext cx="752780" cy="651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E530-03B6-8156-802E-3AA1B94E6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139" y="2080620"/>
            <a:ext cx="11238806" cy="920276"/>
          </a:xfrm>
        </p:spPr>
        <p:txBody>
          <a:bodyPr/>
          <a:lstStyle/>
          <a:p>
            <a:pPr algn="ctr"/>
            <a:r>
              <a:rPr lang="en-US" sz="6000" dirty="0"/>
              <a:t>From On-Premises to Cloud: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543AB-30BC-7246-CBF2-7DCB5BA96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824" y="3000896"/>
            <a:ext cx="10083852" cy="507075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Lessons Learned from an Enterprise AWS Migration at Fannie Mae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4EC045-ACD7-FDB8-A5CF-6A5B7240BE02}"/>
              </a:ext>
            </a:extLst>
          </p:cNvPr>
          <p:cNvSpPr txBox="1">
            <a:spLocks/>
          </p:cNvSpPr>
          <p:nvPr/>
        </p:nvSpPr>
        <p:spPr bwMode="gray">
          <a:xfrm>
            <a:off x="4705003" y="4771507"/>
            <a:ext cx="2781993" cy="114489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bg1"/>
                </a:solidFill>
                <a:cs typeface="Times New Roman" panose="02020603050405020304" pitchFamily="18" charset="0"/>
              </a:rPr>
              <a:t>Wujian Xue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Oct 2026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Cincinnati, OH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A9202-98E5-0852-D355-C6C8631CCA54}"/>
              </a:ext>
            </a:extLst>
          </p:cNvPr>
          <p:cNvSpPr txBox="1"/>
          <p:nvPr/>
        </p:nvSpPr>
        <p:spPr>
          <a:xfrm>
            <a:off x="8007875" y="6182405"/>
            <a:ext cx="37130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2026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358626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EDF2-8E54-B45D-176B-457D10A4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0401-06A1-81C3-6519-0A37820C4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- Fannie Mae</a:t>
            </a:r>
          </a:p>
          <a:p>
            <a:r>
              <a:rPr lang="en-US" dirty="0"/>
              <a:t>Cloud Migration</a:t>
            </a:r>
          </a:p>
          <a:p>
            <a:r>
              <a:rPr lang="en-US" dirty="0"/>
              <a:t>My work in the migration</a:t>
            </a:r>
          </a:p>
          <a:p>
            <a:r>
              <a:rPr lang="en-US" dirty="0"/>
              <a:t>Additional value: Efficiency and Accuracy</a:t>
            </a:r>
          </a:p>
          <a:p>
            <a:r>
              <a:rPr lang="en-US" dirty="0"/>
              <a:t>Gen AI and future of code conversion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4E66F-8A13-1A8B-6EEA-628C9B863288}"/>
              </a:ext>
            </a:extLst>
          </p:cNvPr>
          <p:cNvSpPr txBox="1"/>
          <p:nvPr/>
        </p:nvSpPr>
        <p:spPr>
          <a:xfrm>
            <a:off x="8318270" y="6642556"/>
            <a:ext cx="3873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2026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3536808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E76F-279D-D112-43F0-7D1482E7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02" y="915479"/>
            <a:ext cx="11338560" cy="706964"/>
          </a:xfrm>
        </p:spPr>
        <p:txBody>
          <a:bodyPr/>
          <a:lstStyle/>
          <a:p>
            <a:r>
              <a:rPr lang="en-US" dirty="0"/>
              <a:t>1. Background - Fannie Mae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B3C0A-E402-FD38-F6EE-47BD7DE45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2719878"/>
            <a:ext cx="7506547" cy="341630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Business: </a:t>
            </a:r>
          </a:p>
          <a:p>
            <a:pPr lvl="1"/>
            <a:r>
              <a:rPr lang="en-US" dirty="0"/>
              <a:t>Buy mortgage from lenders across the U.S., give lenders cash to make more home loans.</a:t>
            </a:r>
          </a:p>
          <a:p>
            <a:pPr lvl="1"/>
            <a:r>
              <a:rPr lang="en-US" dirty="0"/>
              <a:t>Pool most of the loans into mortgage-backed securities(MBS) and guarantees investors timely payment of principal and interest.</a:t>
            </a:r>
          </a:p>
          <a:p>
            <a:pPr lvl="1"/>
            <a:r>
              <a:rPr lang="en-US" dirty="0"/>
              <a:t>Earns guarantee fees on the security and interest income on the loan</a:t>
            </a:r>
          </a:p>
          <a:p>
            <a:endParaRPr lang="en-US" sz="2000" dirty="0"/>
          </a:p>
          <a:p>
            <a:r>
              <a:rPr lang="en-US" sz="2000" dirty="0"/>
              <a:t>Numbers: </a:t>
            </a:r>
          </a:p>
          <a:p>
            <a:pPr lvl="1"/>
            <a:r>
              <a:rPr lang="en-US" dirty="0"/>
              <a:t>Chartered by the Congress in 1938, under federal conservatorship in 2008. </a:t>
            </a:r>
          </a:p>
          <a:p>
            <a:pPr lvl="1"/>
            <a:r>
              <a:rPr lang="en-US" dirty="0"/>
              <a:t>Hold $4.3 trillion assets,  financed 25%  homes in the U.S. </a:t>
            </a: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8FE3219-9ABF-6031-0DCC-13804982CC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2757125"/>
              </p:ext>
            </p:extLst>
          </p:nvPr>
        </p:nvGraphicFramePr>
        <p:xfrm>
          <a:off x="8127999" y="2878666"/>
          <a:ext cx="3777460" cy="335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8FDC64A-E5D9-9D5C-400B-437AA99E9EAE}"/>
              </a:ext>
            </a:extLst>
          </p:cNvPr>
          <p:cNvSpPr txBox="1"/>
          <p:nvPr/>
        </p:nvSpPr>
        <p:spPr>
          <a:xfrm>
            <a:off x="8318270" y="6642556"/>
            <a:ext cx="3873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2026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267599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0EA9-D2A4-324F-8606-3CDE0F06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40" y="904805"/>
            <a:ext cx="8761413" cy="706964"/>
          </a:xfrm>
        </p:spPr>
        <p:txBody>
          <a:bodyPr/>
          <a:lstStyle/>
          <a:p>
            <a:r>
              <a:rPr lang="sv-SE" dirty="0"/>
              <a:t>2.Cloud Migration in Fannie Mae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9A460-4838-7CDF-9663-3122CC5F7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354" y="2544234"/>
            <a:ext cx="3908113" cy="402167"/>
          </a:xfrm>
        </p:spPr>
        <p:txBody>
          <a:bodyPr/>
          <a:lstStyle/>
          <a:p>
            <a:r>
              <a:rPr lang="en-US" dirty="0"/>
              <a:t>7 Rs in AWS Cloud Migration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F2936-3CFA-A896-4C17-FEFAFAB2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70" y="3063876"/>
            <a:ext cx="4390862" cy="3636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2EEDFA-C1D6-BA5B-129B-7C8D1B083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621" y="2711877"/>
            <a:ext cx="1290890" cy="861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3D017-E651-4304-4D01-96CFF661D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97" y="4004579"/>
            <a:ext cx="1388533" cy="104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0FF08C-CB3B-2CF3-D883-FDF108A0C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19" y="4073065"/>
            <a:ext cx="1253067" cy="939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804DAD-7251-FD22-EE74-4352BA72A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801" y="5350443"/>
            <a:ext cx="1580274" cy="939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C02668-4915-94EF-92A8-D28B7FEF4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8261" y="4073065"/>
            <a:ext cx="1531814" cy="7089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10F471-1F10-43CA-CBC1-1464D5C19F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5103" y="5438609"/>
            <a:ext cx="1514018" cy="851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BB5AB5-3B15-369B-AC41-4379CF98DF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7392" y="5350443"/>
            <a:ext cx="1577323" cy="10037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EF7885-8894-6379-FF11-E2671C4ACAF7}"/>
              </a:ext>
            </a:extLst>
          </p:cNvPr>
          <p:cNvSpPr txBox="1"/>
          <p:nvPr/>
        </p:nvSpPr>
        <p:spPr>
          <a:xfrm>
            <a:off x="8318270" y="6642556"/>
            <a:ext cx="3873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2026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45925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DDE69-3F80-8204-405C-BCA5C05A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27" y="872232"/>
            <a:ext cx="10164979" cy="706964"/>
          </a:xfrm>
        </p:spPr>
        <p:txBody>
          <a:bodyPr/>
          <a:lstStyle/>
          <a:p>
            <a:r>
              <a:rPr lang="en-US" dirty="0"/>
              <a:t>2. Cloud in other organizations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3DF9-3166-A60E-52C2-E39C8F06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2290234"/>
            <a:ext cx="11396134" cy="706964"/>
          </a:xfrm>
        </p:spPr>
        <p:txBody>
          <a:bodyPr/>
          <a:lstStyle/>
          <a:p>
            <a:r>
              <a:rPr lang="en-US" dirty="0"/>
              <a:t>Financial regulators, banks, Asset management companies, payment companies and exchanges also have cloud migration.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5AB3C-3BC2-1BB0-A480-079D7BC5D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83" y="4025063"/>
            <a:ext cx="2007612" cy="2007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CB48E5-6543-1116-993A-705850C7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05" y="2957435"/>
            <a:ext cx="1257396" cy="1257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FC7744-7040-39EC-5B32-811FF775C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208" y="3021465"/>
            <a:ext cx="1887113" cy="1049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366866-BA32-93EF-E882-DA10563BE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375" y="4463839"/>
            <a:ext cx="1829936" cy="1013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14B818-2604-D038-6A7F-2DFDACE5B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0065" y="4463839"/>
            <a:ext cx="1397559" cy="929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0405E3-91AB-1BC4-4432-802AF71DEA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4386" y="3429000"/>
            <a:ext cx="2105887" cy="588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3E1CFE-00BD-35DB-84AE-E1D7386211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9841" y="4524514"/>
            <a:ext cx="1652317" cy="9294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EE2673-0819-48AC-AEC6-AEC75FFFAD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7163" y="4578302"/>
            <a:ext cx="1167504" cy="7005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CBC153-62D9-D625-079A-DEB8576A0C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68" y="2933161"/>
            <a:ext cx="2244366" cy="13472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8CB34E-20BE-1714-5A1C-D6DA56BD9749}"/>
              </a:ext>
            </a:extLst>
          </p:cNvPr>
          <p:cNvSpPr txBox="1"/>
          <p:nvPr/>
        </p:nvSpPr>
        <p:spPr>
          <a:xfrm>
            <a:off x="8318270" y="6642556"/>
            <a:ext cx="3873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2026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77183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EDFC-FB8B-5C8E-0043-6AAE4647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197" y="877915"/>
            <a:ext cx="8761413" cy="706964"/>
          </a:xfrm>
        </p:spPr>
        <p:txBody>
          <a:bodyPr/>
          <a:lstStyle/>
          <a:p>
            <a:r>
              <a:rPr lang="en-US" dirty="0"/>
              <a:t>3. My work in the cloud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E313-0497-11D3-5F35-E50D606AC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48" y="2413649"/>
            <a:ext cx="11287814" cy="462437"/>
          </a:xfrm>
        </p:spPr>
        <p:txBody>
          <a:bodyPr>
            <a:normAutofit/>
          </a:bodyPr>
          <a:lstStyle/>
          <a:p>
            <a:r>
              <a:rPr lang="en-US" altLang="zh-CN" dirty="0"/>
              <a:t>I worked in EMA to migrate CCAF models from SAS to</a:t>
            </a:r>
            <a:r>
              <a:rPr lang="zh-CN" altLang="en-US" dirty="0"/>
              <a:t> </a:t>
            </a:r>
            <a:r>
              <a:rPr lang="en-US" altLang="zh-CN" dirty="0"/>
              <a:t>R/Python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D608DF-4CF0-28B6-9BE2-8FDAC1198024}"/>
              </a:ext>
            </a:extLst>
          </p:cNvPr>
          <p:cNvSpPr/>
          <p:nvPr/>
        </p:nvSpPr>
        <p:spPr>
          <a:xfrm>
            <a:off x="590197" y="2979089"/>
            <a:ext cx="1850969" cy="894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EMA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B3F70-0DC5-D7B7-C565-FA648C385C04}"/>
              </a:ext>
            </a:extLst>
          </p:cNvPr>
          <p:cNvSpPr/>
          <p:nvPr/>
        </p:nvSpPr>
        <p:spPr>
          <a:xfrm>
            <a:off x="5184498" y="2987326"/>
            <a:ext cx="1823004" cy="894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CCFA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CF8376-67F8-6314-44DB-92293730E99C}"/>
              </a:ext>
            </a:extLst>
          </p:cNvPr>
          <p:cNvSpPr txBox="1">
            <a:spLocks/>
          </p:cNvSpPr>
          <p:nvPr/>
        </p:nvSpPr>
        <p:spPr>
          <a:xfrm>
            <a:off x="4550349" y="4009561"/>
            <a:ext cx="3461737" cy="37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Common Cash Flow Applications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1A2269-9CB7-D78D-F2AA-2C255022BB68}"/>
              </a:ext>
            </a:extLst>
          </p:cNvPr>
          <p:cNvSpPr txBox="1">
            <a:spLocks/>
          </p:cNvSpPr>
          <p:nvPr/>
        </p:nvSpPr>
        <p:spPr>
          <a:xfrm>
            <a:off x="117248" y="4196468"/>
            <a:ext cx="4062668" cy="37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065E8-B245-ACF7-1E53-587354147EDB}"/>
              </a:ext>
            </a:extLst>
          </p:cNvPr>
          <p:cNvSpPr txBox="1"/>
          <p:nvPr/>
        </p:nvSpPr>
        <p:spPr>
          <a:xfrm>
            <a:off x="259643" y="4009561"/>
            <a:ext cx="3098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Enterprise Modeling and Analytics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420277-E640-F602-1271-98EC524CF2D6}"/>
              </a:ext>
            </a:extLst>
          </p:cNvPr>
          <p:cNvSpPr/>
          <p:nvPr/>
        </p:nvSpPr>
        <p:spPr>
          <a:xfrm>
            <a:off x="9684328" y="2987326"/>
            <a:ext cx="1850970" cy="8902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Loss severity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3CF30E-B820-0981-059C-A22403E3347E}"/>
              </a:ext>
            </a:extLst>
          </p:cNvPr>
          <p:cNvSpPr txBox="1">
            <a:spLocks/>
          </p:cNvSpPr>
          <p:nvPr/>
        </p:nvSpPr>
        <p:spPr>
          <a:xfrm>
            <a:off x="8753302" y="4001789"/>
            <a:ext cx="3546764" cy="377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Dollar loss / unpaid principal balance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46B9A0-8B8D-3E4A-DEC0-964368D39743}"/>
              </a:ext>
            </a:extLst>
          </p:cNvPr>
          <p:cNvSpPr/>
          <p:nvPr/>
        </p:nvSpPr>
        <p:spPr>
          <a:xfrm>
            <a:off x="618597" y="5558667"/>
            <a:ext cx="922717" cy="442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SAS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A1B61F-DCDF-8FCC-0127-A0A9DE0F238C}"/>
              </a:ext>
            </a:extLst>
          </p:cNvPr>
          <p:cNvSpPr/>
          <p:nvPr/>
        </p:nvSpPr>
        <p:spPr>
          <a:xfrm>
            <a:off x="2441166" y="5250713"/>
            <a:ext cx="1023503" cy="386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R/RStudio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E02AED-2106-FDE2-19E1-34D40C3491F9}"/>
              </a:ext>
            </a:extLst>
          </p:cNvPr>
          <p:cNvSpPr/>
          <p:nvPr/>
        </p:nvSpPr>
        <p:spPr>
          <a:xfrm>
            <a:off x="5184933" y="5779946"/>
            <a:ext cx="922717" cy="3987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Unix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E94FFC-12F0-1356-CFB5-F73145587BD5}"/>
              </a:ext>
            </a:extLst>
          </p:cNvPr>
          <p:cNvSpPr/>
          <p:nvPr/>
        </p:nvSpPr>
        <p:spPr>
          <a:xfrm>
            <a:off x="8833758" y="5790567"/>
            <a:ext cx="922717" cy="392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Putty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91B60-5CA9-8B90-801C-EF861E3BDE58}"/>
              </a:ext>
            </a:extLst>
          </p:cNvPr>
          <p:cNvSpPr/>
          <p:nvPr/>
        </p:nvSpPr>
        <p:spPr>
          <a:xfrm>
            <a:off x="7007502" y="5764108"/>
            <a:ext cx="1023503" cy="431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WinSCP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E22C01-B998-89AB-8C13-AF595AFC69FB}"/>
              </a:ext>
            </a:extLst>
          </p:cNvPr>
          <p:cNvSpPr/>
          <p:nvPr/>
        </p:nvSpPr>
        <p:spPr>
          <a:xfrm>
            <a:off x="10346874" y="5764108"/>
            <a:ext cx="940940" cy="389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Git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A74971-E5B0-9D99-12DB-F048AD38DDA6}"/>
              </a:ext>
            </a:extLst>
          </p:cNvPr>
          <p:cNvSpPr/>
          <p:nvPr/>
        </p:nvSpPr>
        <p:spPr>
          <a:xfrm>
            <a:off x="2435525" y="6178667"/>
            <a:ext cx="922717" cy="386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Python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8D7C319-6BA3-AB7E-C66E-85829E947658}"/>
              </a:ext>
            </a:extLst>
          </p:cNvPr>
          <p:cNvSpPr txBox="1">
            <a:spLocks/>
          </p:cNvSpPr>
          <p:nvPr/>
        </p:nvSpPr>
        <p:spPr>
          <a:xfrm>
            <a:off x="0" y="4681098"/>
            <a:ext cx="11287814" cy="462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Technologies: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B7C64D-A991-32E6-C2D8-9B9B57914C51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541314" y="5443765"/>
            <a:ext cx="899852" cy="3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F47D91-8991-0B5B-DEA9-A18F30F1CFF6}"/>
              </a:ext>
            </a:extLst>
          </p:cNvPr>
          <p:cNvCxnSpPr>
            <a:stCxn id="12" idx="3"/>
            <a:endCxn id="18" idx="1"/>
          </p:cNvCxnSpPr>
          <p:nvPr/>
        </p:nvCxnSpPr>
        <p:spPr>
          <a:xfrm>
            <a:off x="1541314" y="5779946"/>
            <a:ext cx="894211" cy="591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5F8E24-132B-C328-20AD-389B40BDFB6D}"/>
              </a:ext>
            </a:extLst>
          </p:cNvPr>
          <p:cNvSpPr txBox="1"/>
          <p:nvPr/>
        </p:nvSpPr>
        <p:spPr>
          <a:xfrm>
            <a:off x="8318270" y="6642556"/>
            <a:ext cx="3873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2026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190697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E6D8-5629-464B-16EF-F19EF89A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90" y="890541"/>
            <a:ext cx="8761413" cy="706964"/>
          </a:xfrm>
        </p:spPr>
        <p:txBody>
          <a:bodyPr/>
          <a:lstStyle/>
          <a:p>
            <a:r>
              <a:rPr lang="en-US" dirty="0"/>
              <a:t>3. My work in the cloud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2FB1B-D47B-36EB-3272-31AFE7473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1" y="2345805"/>
            <a:ext cx="11829012" cy="3558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 don’t have access to SAS. I only have the SAS code and log files. I asked my teammates to create some intermediate datasets.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611D1E-7478-2FC3-6B1F-4EF0867A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969" y="2816815"/>
            <a:ext cx="4362386" cy="36574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58359-594C-41DC-CFE5-FE178A4C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61" y="2820971"/>
            <a:ext cx="2247708" cy="38215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766DBC-F7D3-BB94-232C-E7402B400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305" y="2867543"/>
            <a:ext cx="4743695" cy="36574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79C72A-35A2-9C99-559F-E435C87ABD65}"/>
              </a:ext>
            </a:extLst>
          </p:cNvPr>
          <p:cNvSpPr txBox="1"/>
          <p:nvPr/>
        </p:nvSpPr>
        <p:spPr>
          <a:xfrm>
            <a:off x="8318270" y="6642556"/>
            <a:ext cx="3873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2026 Women in Statistics and Data Science Conference, Cincinnati, OH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614D2D-0E06-7D9D-06C1-162B4B6D1463}"/>
              </a:ext>
            </a:extLst>
          </p:cNvPr>
          <p:cNvSpPr/>
          <p:nvPr/>
        </p:nvSpPr>
        <p:spPr>
          <a:xfrm>
            <a:off x="4384102" y="3344158"/>
            <a:ext cx="26582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1738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37D7-0147-3295-D795-C3F0374F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52" y="838200"/>
            <a:ext cx="8761413" cy="706964"/>
          </a:xfrm>
        </p:spPr>
        <p:txBody>
          <a:bodyPr/>
          <a:lstStyle/>
          <a:p>
            <a:r>
              <a:rPr lang="en-US" dirty="0"/>
              <a:t>3. My work in the cloud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7F445-5021-145D-6E5E-ABD15CE5B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537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{24F95ADF-211B-4389-98CD-4235D7F4A4E4}TF229edf6a-8a49-49ee-a0a6-5037052947485fb3ca0c-bc27bf41d645</Template>
  <TotalTime>141</TotalTime>
  <Words>373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Ion Boardroom</vt:lpstr>
      <vt:lpstr>From On-Premises to Cloud: </vt:lpstr>
      <vt:lpstr>Agenda</vt:lpstr>
      <vt:lpstr>1. Background - Fannie Mae</vt:lpstr>
      <vt:lpstr>2.Cloud Migration in Fannie Mae</vt:lpstr>
      <vt:lpstr>2. Cloud in other organizations</vt:lpstr>
      <vt:lpstr>3. My work in the cloud migration</vt:lpstr>
      <vt:lpstr>3. My work in the cloud migration</vt:lpstr>
      <vt:lpstr>3. My work in the cloud migration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Wujian Xue</dc:creator>
  <cp:lastModifiedBy>Wujian Xue</cp:lastModifiedBy>
  <cp:revision>7</cp:revision>
  <dcterms:created xsi:type="dcterms:W3CDTF">2026-10-21T20:39:20Z</dcterms:created>
  <dcterms:modified xsi:type="dcterms:W3CDTF">2026-10-23T01:40:23Z</dcterms:modified>
</cp:coreProperties>
</file>