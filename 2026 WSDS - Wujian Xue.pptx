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58" r:id="rId5"/>
    <p:sldId id="259" r:id="rId6"/>
    <p:sldId id="271" r:id="rId7"/>
    <p:sldId id="270" r:id="rId8"/>
    <p:sldId id="269" r:id="rId9"/>
    <p:sldId id="265" r:id="rId10"/>
    <p:sldId id="266" r:id="rId11"/>
    <p:sldId id="267" r:id="rId12"/>
    <p:sldId id="260" r:id="rId13"/>
    <p:sldId id="261" r:id="rId14"/>
    <p:sldId id="263" r:id="rId15"/>
    <p:sldId id="26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36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C82EFBF-7107-494A-8AAB-7C60D9A18C52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F06DD9-2FFF-4343-814C-B31E3889ACCB}">
      <dgm:prSet phldrT="[Text]" phldr="0"/>
      <dgm:spPr/>
      <dgm:t>
        <a:bodyPr/>
        <a:lstStyle/>
        <a:p>
          <a:r>
            <a:rPr lang="en-US" dirty="0"/>
            <a:t>Data</a:t>
          </a:r>
        </a:p>
      </dgm:t>
    </dgm:pt>
    <dgm:pt modelId="{3D5B19E5-87A6-4D3B-9B61-5918DF25FDF0}" type="parTrans" cxnId="{B1D4D4C1-723D-4F84-B522-078EBCE805CC}">
      <dgm:prSet/>
      <dgm:spPr/>
      <dgm:t>
        <a:bodyPr/>
        <a:lstStyle/>
        <a:p>
          <a:endParaRPr lang="en-US"/>
        </a:p>
      </dgm:t>
    </dgm:pt>
    <dgm:pt modelId="{D670B910-3613-4ABD-B4EF-F8302081AD61}" type="sibTrans" cxnId="{B1D4D4C1-723D-4F84-B522-078EBCE805CC}">
      <dgm:prSet/>
      <dgm:spPr/>
      <dgm:t>
        <a:bodyPr/>
        <a:lstStyle/>
        <a:p>
          <a:endParaRPr lang="en-US"/>
        </a:p>
      </dgm:t>
    </dgm:pt>
    <dgm:pt modelId="{97EF6E1C-BA7C-4636-98C5-BAF25E72A9EA}">
      <dgm:prSet phldrT="[Text]" phldr="0"/>
      <dgm:spPr/>
      <dgm:t>
        <a:bodyPr/>
        <a:lstStyle/>
        <a:p>
          <a:r>
            <a:rPr lang="en-US" dirty="0"/>
            <a:t>model</a:t>
          </a:r>
        </a:p>
      </dgm:t>
    </dgm:pt>
    <dgm:pt modelId="{CC6E4465-715C-44B9-8F5A-A614F0AF83EB}" type="parTrans" cxnId="{C83ED522-35C7-4177-8D72-358078CACD54}">
      <dgm:prSet/>
      <dgm:spPr/>
      <dgm:t>
        <a:bodyPr/>
        <a:lstStyle/>
        <a:p>
          <a:endParaRPr lang="en-US"/>
        </a:p>
      </dgm:t>
    </dgm:pt>
    <dgm:pt modelId="{9AE711F1-83FF-473B-9D0A-AB57E372EB08}" type="sibTrans" cxnId="{C83ED522-35C7-4177-8D72-358078CACD54}">
      <dgm:prSet/>
      <dgm:spPr/>
      <dgm:t>
        <a:bodyPr/>
        <a:lstStyle/>
        <a:p>
          <a:endParaRPr lang="en-US"/>
        </a:p>
      </dgm:t>
    </dgm:pt>
    <dgm:pt modelId="{5A9BC8F0-D7E0-407D-82A5-3EE52FE05DF5}">
      <dgm:prSet phldrT="[Text]" phldr="0"/>
      <dgm:spPr/>
      <dgm:t>
        <a:bodyPr/>
        <a:lstStyle/>
        <a:p>
          <a:r>
            <a:rPr lang="en-US" dirty="0"/>
            <a:t>output</a:t>
          </a:r>
        </a:p>
      </dgm:t>
    </dgm:pt>
    <dgm:pt modelId="{B5075FD9-CDA1-4398-AB61-C112EF4FC073}" type="parTrans" cxnId="{32D180CA-215D-4D8E-BC5A-ECBB7F3838EE}">
      <dgm:prSet/>
      <dgm:spPr/>
      <dgm:t>
        <a:bodyPr/>
        <a:lstStyle/>
        <a:p>
          <a:endParaRPr lang="en-US"/>
        </a:p>
      </dgm:t>
    </dgm:pt>
    <dgm:pt modelId="{D954C522-4F7C-4CC3-8C16-5B8309720BC8}" type="sibTrans" cxnId="{32D180CA-215D-4D8E-BC5A-ECBB7F3838EE}">
      <dgm:prSet/>
      <dgm:spPr/>
      <dgm:t>
        <a:bodyPr/>
        <a:lstStyle/>
        <a:p>
          <a:endParaRPr lang="en-US"/>
        </a:p>
      </dgm:t>
    </dgm:pt>
    <dgm:pt modelId="{544E611A-A92D-47AE-8209-1291FA008FC7}">
      <dgm:prSet phldrT="[Text]" phldr="0"/>
      <dgm:spPr/>
      <dgm:t>
        <a:bodyPr/>
        <a:lstStyle/>
        <a:p>
          <a:r>
            <a:rPr lang="en-US"/>
            <a:t>Data Prep</a:t>
          </a:r>
          <a:endParaRPr lang="en-US" dirty="0"/>
        </a:p>
      </dgm:t>
    </dgm:pt>
    <dgm:pt modelId="{257DBADF-88C0-492E-A62A-4A73B487F3F0}" type="parTrans" cxnId="{437ACB81-26B8-4C36-928C-DE8051A9AA85}">
      <dgm:prSet/>
      <dgm:spPr/>
      <dgm:t>
        <a:bodyPr/>
        <a:lstStyle/>
        <a:p>
          <a:endParaRPr lang="en-US"/>
        </a:p>
      </dgm:t>
    </dgm:pt>
    <dgm:pt modelId="{581760DF-0F87-43C8-AF78-7383A1D234FB}" type="sibTrans" cxnId="{437ACB81-26B8-4C36-928C-DE8051A9AA85}">
      <dgm:prSet/>
      <dgm:spPr/>
      <dgm:t>
        <a:bodyPr/>
        <a:lstStyle/>
        <a:p>
          <a:endParaRPr lang="en-US"/>
        </a:p>
      </dgm:t>
    </dgm:pt>
    <dgm:pt modelId="{7047978F-7B94-453E-9392-49241B4E3952}" type="pres">
      <dgm:prSet presAssocID="{CC82EFBF-7107-494A-8AAB-7C60D9A18C52}" presName="CompostProcess" presStyleCnt="0">
        <dgm:presLayoutVars>
          <dgm:dir/>
          <dgm:resizeHandles val="exact"/>
        </dgm:presLayoutVars>
      </dgm:prSet>
      <dgm:spPr/>
    </dgm:pt>
    <dgm:pt modelId="{E8E2B53E-EF74-4B45-95E3-9B5C82B1340C}" type="pres">
      <dgm:prSet presAssocID="{CC82EFBF-7107-494A-8AAB-7C60D9A18C52}" presName="arrow" presStyleLbl="bgShp" presStyleIdx="0" presStyleCnt="1"/>
      <dgm:spPr/>
    </dgm:pt>
    <dgm:pt modelId="{A97DD83C-6A98-4091-B61C-9812DDC6BF82}" type="pres">
      <dgm:prSet presAssocID="{CC82EFBF-7107-494A-8AAB-7C60D9A18C52}" presName="linearProcess" presStyleCnt="0"/>
      <dgm:spPr/>
    </dgm:pt>
    <dgm:pt modelId="{B5819A44-3F39-4942-91AB-6CD9827FCCA5}" type="pres">
      <dgm:prSet presAssocID="{D5F06DD9-2FFF-4343-814C-B31E3889ACCB}" presName="textNode" presStyleLbl="node1" presStyleIdx="0" presStyleCnt="4">
        <dgm:presLayoutVars>
          <dgm:bulletEnabled val="1"/>
        </dgm:presLayoutVars>
      </dgm:prSet>
      <dgm:spPr/>
    </dgm:pt>
    <dgm:pt modelId="{13E00F69-C04D-459C-9C6D-52BAA6ABF799}" type="pres">
      <dgm:prSet presAssocID="{D670B910-3613-4ABD-B4EF-F8302081AD61}" presName="sibTrans" presStyleCnt="0"/>
      <dgm:spPr/>
    </dgm:pt>
    <dgm:pt modelId="{02C6F657-DC22-4874-B839-ED01F19A363A}" type="pres">
      <dgm:prSet presAssocID="{544E611A-A92D-47AE-8209-1291FA008FC7}" presName="textNode" presStyleLbl="node1" presStyleIdx="1" presStyleCnt="4">
        <dgm:presLayoutVars>
          <dgm:bulletEnabled val="1"/>
        </dgm:presLayoutVars>
      </dgm:prSet>
      <dgm:spPr/>
    </dgm:pt>
    <dgm:pt modelId="{8A421316-76C1-42B6-99E9-1E657EFF2B4A}" type="pres">
      <dgm:prSet presAssocID="{581760DF-0F87-43C8-AF78-7383A1D234FB}" presName="sibTrans" presStyleCnt="0"/>
      <dgm:spPr/>
    </dgm:pt>
    <dgm:pt modelId="{C00E62EC-C631-4907-A6A9-ACFBFA247E6A}" type="pres">
      <dgm:prSet presAssocID="{97EF6E1C-BA7C-4636-98C5-BAF25E72A9EA}" presName="textNode" presStyleLbl="node1" presStyleIdx="2" presStyleCnt="4">
        <dgm:presLayoutVars>
          <dgm:bulletEnabled val="1"/>
        </dgm:presLayoutVars>
      </dgm:prSet>
      <dgm:spPr/>
    </dgm:pt>
    <dgm:pt modelId="{990CDBD4-F756-4EED-8B52-90FCFB437DE4}" type="pres">
      <dgm:prSet presAssocID="{9AE711F1-83FF-473B-9D0A-AB57E372EB08}" presName="sibTrans" presStyleCnt="0"/>
      <dgm:spPr/>
    </dgm:pt>
    <dgm:pt modelId="{2B39B381-C3F6-40EF-9153-96AC0478B650}" type="pres">
      <dgm:prSet presAssocID="{5A9BC8F0-D7E0-407D-82A5-3EE52FE05DF5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C83ED522-35C7-4177-8D72-358078CACD54}" srcId="{CC82EFBF-7107-494A-8AAB-7C60D9A18C52}" destId="{97EF6E1C-BA7C-4636-98C5-BAF25E72A9EA}" srcOrd="2" destOrd="0" parTransId="{CC6E4465-715C-44B9-8F5A-A614F0AF83EB}" sibTransId="{9AE711F1-83FF-473B-9D0A-AB57E372EB08}"/>
    <dgm:cxn modelId="{A12B8D56-7091-4E96-B4DA-9B12CBF3D848}" type="presOf" srcId="{544E611A-A92D-47AE-8209-1291FA008FC7}" destId="{02C6F657-DC22-4874-B839-ED01F19A363A}" srcOrd="0" destOrd="0" presId="urn:microsoft.com/office/officeart/2005/8/layout/hProcess9"/>
    <dgm:cxn modelId="{8BE6B87B-BB74-499A-AA04-C383BD12B3AC}" type="presOf" srcId="{D5F06DD9-2FFF-4343-814C-B31E3889ACCB}" destId="{B5819A44-3F39-4942-91AB-6CD9827FCCA5}" srcOrd="0" destOrd="0" presId="urn:microsoft.com/office/officeart/2005/8/layout/hProcess9"/>
    <dgm:cxn modelId="{437ACB81-26B8-4C36-928C-DE8051A9AA85}" srcId="{CC82EFBF-7107-494A-8AAB-7C60D9A18C52}" destId="{544E611A-A92D-47AE-8209-1291FA008FC7}" srcOrd="1" destOrd="0" parTransId="{257DBADF-88C0-492E-A62A-4A73B487F3F0}" sibTransId="{581760DF-0F87-43C8-AF78-7383A1D234FB}"/>
    <dgm:cxn modelId="{F2F10E88-2076-4B33-A6FD-7D9F58D19910}" type="presOf" srcId="{97EF6E1C-BA7C-4636-98C5-BAF25E72A9EA}" destId="{C00E62EC-C631-4907-A6A9-ACFBFA247E6A}" srcOrd="0" destOrd="0" presId="urn:microsoft.com/office/officeart/2005/8/layout/hProcess9"/>
    <dgm:cxn modelId="{F8063FC1-6BD8-4162-8CB9-8D3139B06914}" type="presOf" srcId="{CC82EFBF-7107-494A-8AAB-7C60D9A18C52}" destId="{7047978F-7B94-453E-9392-49241B4E3952}" srcOrd="0" destOrd="0" presId="urn:microsoft.com/office/officeart/2005/8/layout/hProcess9"/>
    <dgm:cxn modelId="{B1D4D4C1-723D-4F84-B522-078EBCE805CC}" srcId="{CC82EFBF-7107-494A-8AAB-7C60D9A18C52}" destId="{D5F06DD9-2FFF-4343-814C-B31E3889ACCB}" srcOrd="0" destOrd="0" parTransId="{3D5B19E5-87A6-4D3B-9B61-5918DF25FDF0}" sibTransId="{D670B910-3613-4ABD-B4EF-F8302081AD61}"/>
    <dgm:cxn modelId="{32D180CA-215D-4D8E-BC5A-ECBB7F3838EE}" srcId="{CC82EFBF-7107-494A-8AAB-7C60D9A18C52}" destId="{5A9BC8F0-D7E0-407D-82A5-3EE52FE05DF5}" srcOrd="3" destOrd="0" parTransId="{B5075FD9-CDA1-4398-AB61-C112EF4FC073}" sibTransId="{D954C522-4F7C-4CC3-8C16-5B8309720BC8}"/>
    <dgm:cxn modelId="{DFB6F8FE-B388-4003-A03F-230FB289B3D0}" type="presOf" srcId="{5A9BC8F0-D7E0-407D-82A5-3EE52FE05DF5}" destId="{2B39B381-C3F6-40EF-9153-96AC0478B650}" srcOrd="0" destOrd="0" presId="urn:microsoft.com/office/officeart/2005/8/layout/hProcess9"/>
    <dgm:cxn modelId="{A8BE6ECB-571B-444C-9AED-028DA600BB12}" type="presParOf" srcId="{7047978F-7B94-453E-9392-49241B4E3952}" destId="{E8E2B53E-EF74-4B45-95E3-9B5C82B1340C}" srcOrd="0" destOrd="0" presId="urn:microsoft.com/office/officeart/2005/8/layout/hProcess9"/>
    <dgm:cxn modelId="{FF50508F-C8D3-41DC-B2DA-A7CB897F377C}" type="presParOf" srcId="{7047978F-7B94-453E-9392-49241B4E3952}" destId="{A97DD83C-6A98-4091-B61C-9812DDC6BF82}" srcOrd="1" destOrd="0" presId="urn:microsoft.com/office/officeart/2005/8/layout/hProcess9"/>
    <dgm:cxn modelId="{E5C7D865-914A-43F9-A8E5-5D6486FF9CC7}" type="presParOf" srcId="{A97DD83C-6A98-4091-B61C-9812DDC6BF82}" destId="{B5819A44-3F39-4942-91AB-6CD9827FCCA5}" srcOrd="0" destOrd="0" presId="urn:microsoft.com/office/officeart/2005/8/layout/hProcess9"/>
    <dgm:cxn modelId="{F0ECEBC4-E961-4C18-9E84-E14A33C433CD}" type="presParOf" srcId="{A97DD83C-6A98-4091-B61C-9812DDC6BF82}" destId="{13E00F69-C04D-459C-9C6D-52BAA6ABF799}" srcOrd="1" destOrd="0" presId="urn:microsoft.com/office/officeart/2005/8/layout/hProcess9"/>
    <dgm:cxn modelId="{5168CB5F-752A-4896-A6CC-0217EAC4E0A5}" type="presParOf" srcId="{A97DD83C-6A98-4091-B61C-9812DDC6BF82}" destId="{02C6F657-DC22-4874-B839-ED01F19A363A}" srcOrd="2" destOrd="0" presId="urn:microsoft.com/office/officeart/2005/8/layout/hProcess9"/>
    <dgm:cxn modelId="{0A24029F-0FBA-4B53-81C3-8E968BE3D3DE}" type="presParOf" srcId="{A97DD83C-6A98-4091-B61C-9812DDC6BF82}" destId="{8A421316-76C1-42B6-99E9-1E657EFF2B4A}" srcOrd="3" destOrd="0" presId="urn:microsoft.com/office/officeart/2005/8/layout/hProcess9"/>
    <dgm:cxn modelId="{2E504A25-CAB0-4E1D-9DC9-10476FD2A1EB}" type="presParOf" srcId="{A97DD83C-6A98-4091-B61C-9812DDC6BF82}" destId="{C00E62EC-C631-4907-A6A9-ACFBFA247E6A}" srcOrd="4" destOrd="0" presId="urn:microsoft.com/office/officeart/2005/8/layout/hProcess9"/>
    <dgm:cxn modelId="{293D8225-2230-46AA-9AD0-D4BDB887B88F}" type="presParOf" srcId="{A97DD83C-6A98-4091-B61C-9812DDC6BF82}" destId="{990CDBD4-F756-4EED-8B52-90FCFB437DE4}" srcOrd="5" destOrd="0" presId="urn:microsoft.com/office/officeart/2005/8/layout/hProcess9"/>
    <dgm:cxn modelId="{E17C0112-6E1D-4442-982B-6F457DF83C11}" type="presParOf" srcId="{A97DD83C-6A98-4091-B61C-9812DDC6BF82}" destId="{2B39B381-C3F6-40EF-9153-96AC0478B650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E2B53E-EF74-4B45-95E3-9B5C82B1340C}">
      <dsp:nvSpPr>
        <dsp:cNvPr id="0" name=""/>
        <dsp:cNvSpPr/>
      </dsp:nvSpPr>
      <dsp:spPr>
        <a:xfrm>
          <a:off x="887011" y="0"/>
          <a:ext cx="10052792" cy="1705033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9A44-3F39-4942-91AB-6CD9827FCCA5}">
      <dsp:nvSpPr>
        <dsp:cNvPr id="0" name=""/>
        <dsp:cNvSpPr/>
      </dsp:nvSpPr>
      <dsp:spPr>
        <a:xfrm>
          <a:off x="404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Data</a:t>
          </a:r>
        </a:p>
      </dsp:txBody>
      <dsp:txXfrm>
        <a:off x="37335" y="544802"/>
        <a:ext cx="2559798" cy="615427"/>
      </dsp:txXfrm>
    </dsp:sp>
    <dsp:sp modelId="{02C6F657-DC22-4874-B839-ED01F19A363A}">
      <dsp:nvSpPr>
        <dsp:cNvPr id="0" name=""/>
        <dsp:cNvSpPr/>
      </dsp:nvSpPr>
      <dsp:spPr>
        <a:xfrm>
          <a:off x="3068157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Data Prep</a:t>
          </a:r>
          <a:endParaRPr lang="en-US" sz="2800" kern="1200" dirty="0"/>
        </a:p>
      </dsp:txBody>
      <dsp:txXfrm>
        <a:off x="3101450" y="544802"/>
        <a:ext cx="2559798" cy="615427"/>
      </dsp:txXfrm>
    </dsp:sp>
    <dsp:sp modelId="{C00E62EC-C631-4907-A6A9-ACFBFA247E6A}">
      <dsp:nvSpPr>
        <dsp:cNvPr id="0" name=""/>
        <dsp:cNvSpPr/>
      </dsp:nvSpPr>
      <dsp:spPr>
        <a:xfrm>
          <a:off x="613227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model</a:t>
          </a:r>
        </a:p>
      </dsp:txBody>
      <dsp:txXfrm>
        <a:off x="6165565" y="544802"/>
        <a:ext cx="2559798" cy="615427"/>
      </dsp:txXfrm>
    </dsp:sp>
    <dsp:sp modelId="{2B39B381-C3F6-40EF-9153-96AC0478B650}">
      <dsp:nvSpPr>
        <dsp:cNvPr id="0" name=""/>
        <dsp:cNvSpPr/>
      </dsp:nvSpPr>
      <dsp:spPr>
        <a:xfrm>
          <a:off x="9196388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output</a:t>
          </a:r>
        </a:p>
      </dsp:txBody>
      <dsp:txXfrm>
        <a:off x="9229681" y="544802"/>
        <a:ext cx="2559798" cy="6154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61C52-8FA2-8BD5-A09A-E2927998A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920DFD-1E22-43DB-B35A-A079F86123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F970-51F4-F8FF-7CC7-4222A7909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10EAA-2FA5-56C7-8951-076BA09FA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8ED45-4974-A9FC-71CC-4816E7C79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12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27186-89DF-9CB8-4905-E3764650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B069-61BC-88A8-7129-04D9DE104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66261-B9DB-F723-6370-7A2BE1458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0FC1C7-900A-75A8-37D4-6418EF269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CA64D-CED8-81DD-DD8E-6C2B8E821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83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89715-852C-65F4-297E-D5D6846BC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201182-6EBC-B8D9-9261-D530A7FEC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11C86-E388-47EC-ADE5-928E2CF07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9C5C6-3FCF-F7A3-6284-9848D7F0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C8735-3DD6-066A-549A-28756E93C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2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C9239-5851-39CB-E48C-E3869DB47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5DD86-D1FF-622C-EE29-4547413FCF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03FEA1-DBDF-9B51-7EF3-FCC79BCD9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D9EB8-21D8-35AC-CBD2-D4868F29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36285C-90C9-6210-85DD-458A11160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3E3E6-5B83-248D-D496-783C4D448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479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3B853-8877-7B47-39C1-4F9EDB9AE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12F7D5-EB90-766B-3793-980AF7D18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054DC2-E07B-43C5-D0B9-248712301B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FE8FB9-D875-925D-8A56-D0840193F4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CDF8A-3ED5-9F97-0153-800E4D4026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57D5C6-5139-DA91-578B-F0446B7B3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441C5F-C87E-06B5-1854-713023657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A159F2-9D9B-4DEC-85C4-D57A3FB1B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31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7832A-7CB3-697F-8CB0-63DD05F97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CAA103-D99E-EED8-460A-2E4F441CB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06CD83-4435-5A36-ECC9-AF13AF51C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6D96A-C93B-0064-3417-C373F25FF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541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E9850-78F3-5240-B045-6DE4C69CB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40C0D0-7279-369A-5C8F-F7E2D6F8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46D61-AA17-7427-67FF-10457941F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40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61AD7-9282-7742-2BE4-B7B10DE6A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6B71D-B0CD-BD22-E0C1-C3F3FB6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B0DAA7-E757-4399-8FBA-366FEE4AC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D27CE-5C66-F2DA-7397-4169FDE3B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1ABEF-D45D-EBEC-7B02-D93534720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F374A-7CCD-9D7E-93F3-F8A9FD1A3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01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CA8C5-4A06-AABD-B859-B81844C84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0D4E36-BB88-B72C-8301-C6D3A37845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3F1AB4-D14B-8C18-0B88-B3BE7939E8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964A77-2E9D-ADB8-E5A7-BC9AA3E2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DAAFE-7CA5-F0D7-F4A0-57DCF4FA9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30CF4-8E2A-AEBA-E501-87DC47297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132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DF36-2EB3-D0A6-DB8C-2F98992EF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C2F9CF-58AE-56A1-9DFC-2F41CCD79A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BDEA3-8BA9-FAD4-4329-BEDA8FBE4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9D4CF-4A1A-3FB2-DF00-98C12361A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79D4D3-D9A9-7945-53EC-09072CA6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25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3BE66C-533B-759D-6C0C-87020D3CB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B23655-78FC-D214-11D5-494FECF485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9B5D6-A190-C68C-4BA2-715AF8A36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7C4A7-DC25-1B97-582A-BF44EBEAF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DC8477-5A1B-857D-0290-37251759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67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2EC3F2-AEAA-D5A7-58DD-B8F5E9F77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47A714-DB7C-42A2-743A-8E2CD351D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5DB4D-76AC-304C-9D64-9DBC973ECA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FF5FDE-556D-4288-960F-3880543CC0D0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0D65C-CA1B-1EB8-5CB5-C2FDDDCCB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BEF16-6C3A-73D2-B3AD-89144B5DD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0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eU8rsZ82TA" TargetMode="External"/><Relationship Id="rId2" Type="http://schemas.openxmlformats.org/officeDocument/2006/relationships/hyperlink" Target="https://www.youtube.com/watch?v=vioJCGXSejQ&amp;t=356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builder.aws.com/content/2cKbgI3WsAYTiDM0J48uEMVqOVW/understanding-the-7-rs-cloud-migration-strategies" TargetMode="External"/><Relationship Id="rId4" Type="http://schemas.openxmlformats.org/officeDocument/2006/relationships/hyperlink" Target="https://aws.amazon.com/what-is/cloud-migration-strategy/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09A87-E946-B534-2098-9ADB162D34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917" y="311771"/>
            <a:ext cx="12056165" cy="2387600"/>
          </a:xfrm>
        </p:spPr>
        <p:txBody>
          <a:bodyPr>
            <a:normAutofit fontScale="90000"/>
          </a:bodyPr>
          <a:lstStyle/>
          <a:p>
            <a:r>
              <a:rPr lang="en-US" sz="8000" b="1" dirty="0">
                <a:latin typeface="+mn-lt"/>
                <a:cs typeface="Times New Roman" panose="02020603050405020304" pitchFamily="18" charset="0"/>
              </a:rPr>
              <a:t>From On-Premise to Cloud: </a:t>
            </a:r>
            <a:br>
              <a:rPr lang="en-US" b="1" dirty="0">
                <a:latin typeface="+mn-lt"/>
                <a:cs typeface="Times New Roman" panose="02020603050405020304" pitchFamily="18" charset="0"/>
              </a:rPr>
            </a:br>
            <a:br>
              <a:rPr lang="en-US" sz="3200" b="1" dirty="0">
                <a:latin typeface="+mn-lt"/>
                <a:cs typeface="Times New Roman" panose="02020603050405020304" pitchFamily="18" charset="0"/>
              </a:rPr>
            </a:br>
            <a:r>
              <a:rPr lang="en-US" sz="3600" b="1" dirty="0">
                <a:latin typeface="+mn-lt"/>
                <a:cs typeface="Times New Roman" panose="02020603050405020304" pitchFamily="18" charset="0"/>
              </a:rPr>
              <a:t>Lessons Learned from an Enterprise AWS Migration at Fannie Mae</a:t>
            </a:r>
            <a:endParaRPr lang="en-US" sz="3600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D8DE2D-D5B9-D25A-E851-B1C7758AA8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8629"/>
            <a:ext cx="9144000" cy="1655762"/>
          </a:xfrm>
        </p:spPr>
        <p:txBody>
          <a:bodyPr/>
          <a:lstStyle/>
          <a:p>
            <a:r>
              <a:rPr lang="en-US" altLang="zh-CN" b="1" dirty="0">
                <a:cs typeface="Times New Roman" panose="02020603050405020304" pitchFamily="18" charset="0"/>
              </a:rPr>
              <a:t>Wujian Xue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Oct 2026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Cincinnati, OH</a:t>
            </a:r>
          </a:p>
        </p:txBody>
      </p:sp>
    </p:spTree>
    <p:extLst>
      <p:ext uri="{BB962C8B-B14F-4D97-AF65-F5344CB8AC3E}">
        <p14:creationId xmlns:p14="http://schemas.microsoft.com/office/powerpoint/2010/main" val="2572152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50338-C315-D975-5D8F-2109AEE0C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E6403-ACCF-DA80-E763-D2DE51B20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600" dirty="0"/>
              <a:t>Background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Cloud Migration at Fannie Mae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My work in the migration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Accuracy and Efficiency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Gen AI and future of code conversion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5355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4F433-6378-4049-F2C3-EE92E0049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38B1-29DE-A684-2D91-585BAAF4FB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85066"/>
          </a:xfrm>
        </p:spPr>
        <p:txBody>
          <a:bodyPr/>
          <a:lstStyle/>
          <a:p>
            <a:r>
              <a:rPr lang="en-US" dirty="0"/>
              <a:t>What is the problem and why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DAE49C-C251-F75B-7AAE-63C6E1173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400" y="2273598"/>
            <a:ext cx="2638011" cy="138461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08087BF-A1B2-3CB3-9920-38BE92E30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236" y="3623715"/>
            <a:ext cx="1290890" cy="8618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D1A128A-3E1F-2F81-712A-3809EA2ACB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9180" y="1690688"/>
            <a:ext cx="4512420" cy="373684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02E16F-7A83-3FFA-BF0B-8B32BA61716B}"/>
              </a:ext>
            </a:extLst>
          </p:cNvPr>
          <p:cNvSpPr txBox="1"/>
          <p:nvPr/>
        </p:nvSpPr>
        <p:spPr>
          <a:xfrm>
            <a:off x="7985760" y="931768"/>
            <a:ext cx="295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 Rs in AWS Cloud Migration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282124-3EF7-4252-3560-5FC11F8C46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236" y="5194362"/>
            <a:ext cx="1877291" cy="7696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37C989E-9BF8-3A3A-3F0C-0FFB672243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7118" y="3501925"/>
            <a:ext cx="2143471" cy="8031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BA16AA-692D-7041-DE6B-C2AAAA535B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1690" y="4997264"/>
            <a:ext cx="2862262" cy="966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780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EECB-BE89-FA10-B559-C2D06E9BF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2.Cloud Migration in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C73C9-79BC-BE4B-D99B-67D620D66A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has been done about it?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1866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06789-BA5D-116A-9606-AAEF943A7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A65D244A-BC2B-A613-E67C-48CF73C5F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1776967"/>
              </p:ext>
            </p:extLst>
          </p:nvPr>
        </p:nvGraphicFramePr>
        <p:xfrm>
          <a:off x="146649" y="1525848"/>
          <a:ext cx="11826815" cy="17050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6AB3908-57C4-C0B7-4C30-8AC2917A9C16}"/>
              </a:ext>
            </a:extLst>
          </p:cNvPr>
          <p:cNvSpPr txBox="1">
            <a:spLocks/>
          </p:cNvSpPr>
          <p:nvPr/>
        </p:nvSpPr>
        <p:spPr>
          <a:xfrm>
            <a:off x="146648" y="3079730"/>
            <a:ext cx="3087153" cy="3200300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400" dirty="0"/>
              <a:t>Convert sas7bdat to </a:t>
            </a:r>
            <a:r>
              <a:rPr lang="en-US" sz="7400" dirty="0" err="1"/>
              <a:t>rds</a:t>
            </a:r>
            <a:endParaRPr lang="en-US" sz="7400" dirty="0"/>
          </a:p>
          <a:p>
            <a:r>
              <a:rPr lang="en-US" sz="7400" dirty="0"/>
              <a:t>Import dataset</a:t>
            </a:r>
          </a:p>
          <a:p>
            <a:r>
              <a:rPr lang="en-US" sz="7400" dirty="0"/>
              <a:t>Data format: sas7bdat/</a:t>
            </a:r>
            <a:r>
              <a:rPr lang="en-US" sz="7400" dirty="0" err="1"/>
              <a:t>rds</a:t>
            </a:r>
            <a:r>
              <a:rPr lang="en-US" sz="7400" dirty="0"/>
              <a:t>/parquet</a:t>
            </a:r>
          </a:p>
          <a:p>
            <a:endParaRPr lang="en-US" sz="7400" dirty="0"/>
          </a:p>
          <a:p>
            <a:r>
              <a:rPr lang="en-US" sz="7400" dirty="0"/>
              <a:t>date/month/time,</a:t>
            </a:r>
          </a:p>
          <a:p>
            <a:r>
              <a:rPr lang="en-US" altLang="zh-CN" sz="7400" dirty="0"/>
              <a:t>Origin date</a:t>
            </a:r>
            <a:endParaRPr lang="en-US" sz="7400" dirty="0"/>
          </a:p>
          <a:p>
            <a:r>
              <a:rPr lang="en-US" sz="7400" dirty="0"/>
              <a:t>missing values, </a:t>
            </a:r>
          </a:p>
          <a:p>
            <a:r>
              <a:rPr lang="en-US" sz="7400" dirty="0"/>
              <a:t>N/A </a:t>
            </a:r>
          </a:p>
          <a:p>
            <a:r>
              <a:rPr lang="en-US" sz="7400" dirty="0"/>
              <a:t>Updated monthly</a:t>
            </a:r>
          </a:p>
          <a:p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1472C4E-723B-DF16-860A-479E2B15B381}"/>
              </a:ext>
            </a:extLst>
          </p:cNvPr>
          <p:cNvSpPr txBox="1">
            <a:spLocks/>
          </p:cNvSpPr>
          <p:nvPr/>
        </p:nvSpPr>
        <p:spPr>
          <a:xfrm>
            <a:off x="3260785" y="3079730"/>
            <a:ext cx="302245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Variables: filter data </a:t>
            </a:r>
          </a:p>
          <a:p>
            <a:r>
              <a:rPr lang="en-US" sz="2400" dirty="0"/>
              <a:t>merge tables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Concatenate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(with n= dataset option)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(if a and b)</a:t>
            </a:r>
          </a:p>
          <a:p>
            <a:pPr marL="228600" lvl="1">
              <a:spcBef>
                <a:spcPts val="1000"/>
              </a:spcBef>
            </a:pPr>
            <a:r>
              <a:rPr lang="en-US" altLang="zh-CN" dirty="0"/>
              <a:t>Loops: 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altLang="zh-CN" dirty="0"/>
              <a:t>do until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dirty="0"/>
              <a:t>Nested do loops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2A66A781-E17E-6043-235A-E5DF2C57F5D7}"/>
              </a:ext>
            </a:extLst>
          </p:cNvPr>
          <p:cNvSpPr txBox="1">
            <a:spLocks/>
          </p:cNvSpPr>
          <p:nvPr/>
        </p:nvSpPr>
        <p:spPr>
          <a:xfrm>
            <a:off x="6310224" y="2923282"/>
            <a:ext cx="3334107" cy="796805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Spline in Linear/logistic regression</a:t>
            </a:r>
          </a:p>
          <a:p>
            <a:r>
              <a:rPr lang="en-US" dirty="0"/>
              <a:t>Two </a:t>
            </a:r>
            <a:r>
              <a:rPr lang="en-US"/>
              <a:t>step regression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87034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95404-4793-4153-45B6-147571F0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02713-65CC-0B2F-4169-1F342A16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25A04A-A19E-03F6-5A6F-E66D9D66B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61936" cy="79680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Convert in 4 methods</a:t>
            </a:r>
          </a:p>
          <a:p>
            <a:r>
              <a:rPr lang="en-US" dirty="0"/>
              <a:t>Page 99</a:t>
            </a:r>
          </a:p>
        </p:txBody>
      </p:sp>
    </p:spTree>
    <p:extLst>
      <p:ext uri="{BB962C8B-B14F-4D97-AF65-F5344CB8AC3E}">
        <p14:creationId xmlns:p14="http://schemas.microsoft.com/office/powerpoint/2010/main" val="3105052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CD0B7-14BF-9591-2491-51EC0B8A6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6B53C-360B-A7DC-1397-EE5C9B1C7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Major SAS Steps/Proc vs R package/functions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9187F8-9708-A2D8-B314-1950D2AA2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56" y="1690688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93ED12-F9C4-7300-59D7-16AC18085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404" y="1690688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7EB734-6903-49D5-A647-AE7BC6E4E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0581" y="1608873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2E8D98-C1AD-CCC4-08D9-50F3BE804787}"/>
              </a:ext>
            </a:extLst>
          </p:cNvPr>
          <p:cNvSpPr txBox="1">
            <a:spLocks/>
          </p:cNvSpPr>
          <p:nvPr/>
        </p:nvSpPr>
        <p:spPr>
          <a:xfrm>
            <a:off x="4574362" y="2735206"/>
            <a:ext cx="2637321" cy="34131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 err="1"/>
              <a:t>tidyverse</a:t>
            </a:r>
            <a:r>
              <a:rPr lang="en-US" altLang="zh-CN" dirty="0"/>
              <a:t>, </a:t>
            </a:r>
          </a:p>
          <a:p>
            <a:r>
              <a:rPr lang="en-US" altLang="zh-CN" dirty="0"/>
              <a:t>arsenal,</a:t>
            </a:r>
          </a:p>
          <a:p>
            <a:r>
              <a:rPr lang="en-US" altLang="zh-CN" dirty="0"/>
              <a:t>Haven</a:t>
            </a:r>
          </a:p>
          <a:p>
            <a:r>
              <a:rPr lang="en-US" altLang="zh-CN" dirty="0" err="1"/>
              <a:t>aod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0C96031-E926-D7AB-F4F4-6F05AB855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016" y="2735206"/>
            <a:ext cx="4012387" cy="468559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PROC TABULATE – </a:t>
            </a:r>
            <a:r>
              <a:rPr lang="en-US" dirty="0" err="1"/>
              <a:t>summarise</a:t>
            </a:r>
            <a:r>
              <a:rPr lang="en-US" dirty="0"/>
              <a:t>()</a:t>
            </a:r>
          </a:p>
          <a:p>
            <a:r>
              <a:rPr lang="en-US" dirty="0"/>
              <a:t>PROC GENMOD</a:t>
            </a:r>
          </a:p>
        </p:txBody>
      </p:sp>
    </p:spTree>
    <p:extLst>
      <p:ext uri="{BB962C8B-B14F-4D97-AF65-F5344CB8AC3E}">
        <p14:creationId xmlns:p14="http://schemas.microsoft.com/office/powerpoint/2010/main" val="3421575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74CE9-62D6-2BB2-E61F-1B1261FA1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12F8B-F4C9-4874-7DA4-22CD58675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C23D4-DEEC-D0CD-B063-D5658C599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347216"/>
            <a:ext cx="4578096" cy="324140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What have I done about it?</a:t>
            </a:r>
          </a:p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altLang="zh-CN" dirty="0"/>
              <a:t>SAS: PROC compare</a:t>
            </a:r>
          </a:p>
          <a:p>
            <a:r>
              <a:rPr lang="en-US" dirty="0"/>
              <a:t>R: compared</a:t>
            </a:r>
          </a:p>
          <a:p>
            <a:r>
              <a:rPr lang="en-US" dirty="0"/>
              <a:t>How to make a tolerance level?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42BA1-1151-4CFE-D8B5-E02DDD41A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197" y="5207810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4468B4-F5B5-FE68-0C47-CC2309DE1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264" y="5174343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AC54FE-1225-9162-8A7B-6CAB854D7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4702" y="5210176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3DAD067-F15E-9C00-BF8C-B324CCAB9A23}"/>
              </a:ext>
            </a:extLst>
          </p:cNvPr>
          <p:cNvSpPr txBox="1">
            <a:spLocks/>
          </p:cNvSpPr>
          <p:nvPr/>
        </p:nvSpPr>
        <p:spPr>
          <a:xfrm>
            <a:off x="4829558" y="1347216"/>
            <a:ext cx="434949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dirty="0"/>
              <a:t>Data: date/month/time, missing values, N/A</a:t>
            </a:r>
          </a:p>
          <a:p>
            <a:r>
              <a:rPr lang="en-US" dirty="0"/>
              <a:t>Variables: filter data, </a:t>
            </a:r>
          </a:p>
          <a:p>
            <a:r>
              <a:rPr lang="en-US" dirty="0"/>
              <a:t>merge tables</a:t>
            </a:r>
          </a:p>
          <a:p>
            <a:pPr lvl="1"/>
            <a:r>
              <a:rPr lang="en-US" dirty="0"/>
              <a:t>Concatenate</a:t>
            </a:r>
          </a:p>
          <a:p>
            <a:pPr lvl="1"/>
            <a:r>
              <a:rPr lang="en-US" dirty="0"/>
              <a:t>match merging (with n= dataset option)</a:t>
            </a:r>
          </a:p>
          <a:p>
            <a:r>
              <a:rPr lang="en-US" dirty="0"/>
              <a:t>Models: logistic regression with splines</a:t>
            </a:r>
          </a:p>
          <a:p>
            <a:pPr lvl="1"/>
            <a:r>
              <a:rPr lang="en-US" dirty="0"/>
              <a:t>Choose number and location of the knots.</a:t>
            </a:r>
          </a:p>
          <a:p>
            <a:r>
              <a:rPr lang="en-US" dirty="0"/>
              <a:t>Macro functions</a:t>
            </a:r>
          </a:p>
          <a:p>
            <a:r>
              <a:rPr lang="en-US" dirty="0"/>
              <a:t>Output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70007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73D30-F5D8-4541-A08A-A1F0FD253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𝑉𝑎𝑟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𝐻𝑜𝑚𝑒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𝑝𝑟𝑖𝑐𝑒</m:t>
                    </m:r>
                  </m:oMath>
                </a14:m>
                <a:endParaRPr lang="en-US" dirty="0"/>
              </a:p>
              <a:p>
                <a:r>
                  <a:rPr lang="en-US" dirty="0"/>
                  <a:t>Var2 and var3 have differences at  E-09 level.</a:t>
                </a:r>
              </a:p>
              <a:p>
                <a:r>
                  <a:rPr lang="en-US" dirty="0"/>
                  <a:t>Home price is a large number, </a:t>
                </a:r>
              </a:p>
              <a:p>
                <a:pPr lvl="1"/>
                <a:r>
                  <a:rPr lang="en-US" dirty="0"/>
                  <a:t>e.g. $1,000,000, </a:t>
                </a:r>
              </a:p>
              <a:p>
                <a:pPr lvl="1"/>
                <a:r>
                  <a:rPr lang="en-US" dirty="0"/>
                  <a:t>median house price in the U.S. :$430,000</a:t>
                </a:r>
              </a:p>
              <a:p>
                <a:r>
                  <a:rPr lang="en-US" dirty="0"/>
                  <a:t>Var 1 are different</a:t>
                </a:r>
              </a:p>
              <a:p>
                <a:r>
                  <a:rPr lang="en-US" dirty="0"/>
                  <a:t>This can be applied to many cases, such as population, distance.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31370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A0D58-006F-0ED1-D928-9053639D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C0A5E-A212-3E5A-61F0-5486D95F0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4596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01B93-71FC-ED4E-DAD1-2DC88351F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Merge Tables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A8754-420C-E67C-1B6E-990DE72603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5100159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C6558-4EC7-F455-AEE9-D12FD0A89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5E68B-3CB9-4EB7-342D-A9E2A37722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additional value does my approach provide?</a:t>
            </a:r>
          </a:p>
        </p:txBody>
      </p:sp>
    </p:spTree>
    <p:extLst>
      <p:ext uri="{BB962C8B-B14F-4D97-AF65-F5344CB8AC3E}">
        <p14:creationId xmlns:p14="http://schemas.microsoft.com/office/powerpoint/2010/main" val="3312619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1912-C0D5-AF85-91B0-7D9532929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A637E-A23A-F19C-2EC6-9A9B52F8A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do we go from there?</a:t>
            </a:r>
          </a:p>
          <a:p>
            <a:r>
              <a:rPr lang="en-US" dirty="0"/>
              <a:t>Tech in 2020 seems pretty old at 2026. So how will we see in 2030?</a:t>
            </a:r>
          </a:p>
        </p:txBody>
      </p:sp>
    </p:spTree>
    <p:extLst>
      <p:ext uri="{BB962C8B-B14F-4D97-AF65-F5344CB8AC3E}">
        <p14:creationId xmlns:p14="http://schemas.microsoft.com/office/powerpoint/2010/main" val="1238321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65071-DC72-93E5-9B2F-5F4736998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Reference: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456FF-E78F-8DA1-FCFF-D93708555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hlinkClick r:id="rId2"/>
              </a:rPr>
              <a:t>AWS </a:t>
            </a:r>
            <a:r>
              <a:rPr lang="en-US" sz="2000" dirty="0" err="1">
                <a:hlinkClick r:id="rId2"/>
              </a:rPr>
              <a:t>re:Invent</a:t>
            </a:r>
            <a:r>
              <a:rPr lang="en-US" sz="2000" dirty="0">
                <a:hlinkClick r:id="rId2"/>
              </a:rPr>
              <a:t> 2021 - Fannie Mae: Migrating at scale without lifting and shifting</a:t>
            </a:r>
            <a:endParaRPr lang="en-US" sz="2000" dirty="0"/>
          </a:p>
          <a:p>
            <a:r>
              <a:rPr lang="en-US" sz="2000" dirty="0">
                <a:hlinkClick r:id="rId3"/>
              </a:rPr>
              <a:t>Fannie Mae’s Digital Transformation Journey with AWS | Amazon Web Services</a:t>
            </a:r>
            <a:endParaRPr lang="en-US" sz="2000" dirty="0"/>
          </a:p>
          <a:p>
            <a:r>
              <a:rPr lang="en-US" sz="2000" dirty="0">
                <a:hlinkClick r:id="rId4"/>
              </a:rPr>
              <a:t>What is a Cloud Migration Strategy? - Cloud Migration Strategy Explained – AWS</a:t>
            </a:r>
            <a:endParaRPr lang="en-US" sz="2000" dirty="0"/>
          </a:p>
          <a:p>
            <a:r>
              <a:rPr lang="en-US" sz="2000" dirty="0">
                <a:hlinkClick r:id="rId5"/>
              </a:rPr>
              <a:t>Understanding the “7 Rs” - Cloud Migration Strategies | AWS Builder Center</a:t>
            </a:r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774897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D5B5A-22EB-F6BE-03B9-DA990AE01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9DD26-0915-7E46-B9E9-A23C10025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00" y="5414009"/>
            <a:ext cx="1173480" cy="33242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My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50AFE-4C70-3BD6-2457-93F253C69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260" y="2468880"/>
            <a:ext cx="2499360" cy="249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3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1194</TotalTime>
  <Words>434</Words>
  <Application>Microsoft Office PowerPoint</Application>
  <PresentationFormat>Widescreen</PresentationFormat>
  <Paragraphs>86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Calibri Light</vt:lpstr>
      <vt:lpstr>Cambria Math</vt:lpstr>
      <vt:lpstr>Courier New</vt:lpstr>
      <vt:lpstr>Times New Roman</vt:lpstr>
      <vt:lpstr>Office Theme</vt:lpstr>
      <vt:lpstr>From On-Premise to Cloud:   Lessons Learned from an Enterprise AWS Migration at Fannie Mae</vt:lpstr>
      <vt:lpstr>Agenda</vt:lpstr>
      <vt:lpstr>1.Background</vt:lpstr>
      <vt:lpstr>2.Cloud Migration in Fannie Mae</vt:lpstr>
      <vt:lpstr>Steps for refactoring</vt:lpstr>
      <vt:lpstr>Steps for refactoring</vt:lpstr>
      <vt:lpstr>Major SAS Steps/Proc vs R package/functions</vt:lpstr>
      <vt:lpstr>Steps for refactoring</vt:lpstr>
      <vt:lpstr>Accuracy</vt:lpstr>
      <vt:lpstr>Efficiency</vt:lpstr>
      <vt:lpstr>Merge Tables</vt:lpstr>
      <vt:lpstr>PowerPoint Presentation</vt:lpstr>
      <vt:lpstr>PowerPoint Presentation</vt:lpstr>
      <vt:lpstr>Reference: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Wujian Xue</dc:creator>
  <cp:lastModifiedBy>Wujian Xue</cp:lastModifiedBy>
  <cp:revision>24</cp:revision>
  <dcterms:created xsi:type="dcterms:W3CDTF">2026-09-28T02:18:07Z</dcterms:created>
  <dcterms:modified xsi:type="dcterms:W3CDTF">2026-10-10T03:22:02Z</dcterms:modified>
</cp:coreProperties>
</file>