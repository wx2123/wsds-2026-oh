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67" r:id="rId15"/>
    <p:sldId id="260" r:id="rId16"/>
    <p:sldId id="261" r:id="rId17"/>
    <p:sldId id="263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157913" y="1476707"/>
          <a:ext cx="1876959" cy="1623646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468951" y="1745768"/>
        <a:ext cx="1254883" cy="1085524"/>
      </dsp:txXfrm>
    </dsp:sp>
    <dsp:sp modelId="{16108406-D824-48AA-986F-F20B13B82A81}">
      <dsp:nvSpPr>
        <dsp:cNvPr id="0" name=""/>
        <dsp:cNvSpPr/>
      </dsp:nvSpPr>
      <dsp:spPr>
        <a:xfrm>
          <a:off x="3333251" y="699902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330808" y="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585713" y="220523"/>
        <a:ext cx="1028345" cy="889639"/>
      </dsp:txXfrm>
    </dsp:sp>
    <dsp:sp modelId="{322F9847-0308-445A-A02E-9697140899BE}">
      <dsp:nvSpPr>
        <dsp:cNvPr id="0" name=""/>
        <dsp:cNvSpPr/>
      </dsp:nvSpPr>
      <dsp:spPr>
        <a:xfrm>
          <a:off x="4159742" y="184062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741475" y="81846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996380" y="1038983"/>
        <a:ext cx="1028345" cy="889639"/>
      </dsp:txXfrm>
    </dsp:sp>
    <dsp:sp modelId="{76DF7524-118F-4A3C-8039-C7730AC993D2}">
      <dsp:nvSpPr>
        <dsp:cNvPr id="0" name=""/>
        <dsp:cNvSpPr/>
      </dsp:nvSpPr>
      <dsp:spPr>
        <a:xfrm>
          <a:off x="3585608" y="3128277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741475" y="2427458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996380" y="2647981"/>
        <a:ext cx="1028345" cy="889639"/>
      </dsp:txXfrm>
    </dsp:sp>
    <dsp:sp modelId="{6A5105C0-DF27-4B27-8885-6430EAC6309F}">
      <dsp:nvSpPr>
        <dsp:cNvPr id="0" name=""/>
        <dsp:cNvSpPr/>
      </dsp:nvSpPr>
      <dsp:spPr>
        <a:xfrm>
          <a:off x="2161406" y="326194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330808" y="324683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585713" y="3467357"/>
        <a:ext cx="1028345" cy="889639"/>
      </dsp:txXfrm>
    </dsp:sp>
    <dsp:sp modelId="{49B31C55-29E4-4F65-B048-7407A37441AB}">
      <dsp:nvSpPr>
        <dsp:cNvPr id="0" name=""/>
        <dsp:cNvSpPr/>
      </dsp:nvSpPr>
      <dsp:spPr>
        <a:xfrm>
          <a:off x="1321380" y="212168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913592" y="242837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68497" y="2648897"/>
        <a:ext cx="1028345" cy="889639"/>
      </dsp:txXfrm>
    </dsp:sp>
    <dsp:sp modelId="{C5A425D9-4151-4A77-AD71-BFDEBC1E8358}">
      <dsp:nvSpPr>
        <dsp:cNvPr id="0" name=""/>
        <dsp:cNvSpPr/>
      </dsp:nvSpPr>
      <dsp:spPr>
        <a:xfrm>
          <a:off x="913592" y="816629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68497" y="1037152"/>
        <a:ext cx="1028345" cy="8896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547" y="6329758"/>
            <a:ext cx="2364503" cy="455650"/>
          </a:xfrm>
        </p:spPr>
        <p:txBody>
          <a:bodyPr>
            <a:normAutofit fontScale="70000" lnSpcReduction="20000"/>
          </a:bodyPr>
          <a:lstStyle/>
          <a:p>
            <a:r>
              <a:rPr lang="en-US" sz="1500" dirty="0"/>
              <a:t>What is the problem and why</a:t>
            </a:r>
          </a:p>
          <a:p>
            <a:r>
              <a:rPr lang="en-US" altLang="zh-CN" sz="1500" dirty="0"/>
              <a:t>Women in the migration</a:t>
            </a:r>
            <a:endParaRPr lang="en-US" sz="15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207" y="1397420"/>
            <a:ext cx="2269375" cy="1191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2375990"/>
              </p:ext>
            </p:extLst>
          </p:nvPr>
        </p:nvGraphicFramePr>
        <p:xfrm>
          <a:off x="6770569" y="1821369"/>
          <a:ext cx="6193224" cy="457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379E69-1A2C-A431-2445-45C07F7232B2}"/>
              </a:ext>
            </a:extLst>
          </p:cNvPr>
          <p:cNvSpPr txBox="1">
            <a:spLocks/>
          </p:cNvSpPr>
          <p:nvPr/>
        </p:nvSpPr>
        <p:spPr>
          <a:xfrm>
            <a:off x="323439" y="2588543"/>
            <a:ext cx="6797027" cy="36709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Business: </a:t>
            </a:r>
          </a:p>
          <a:p>
            <a:pPr lvl="1"/>
            <a:r>
              <a:rPr lang="en-US" sz="1600" dirty="0"/>
              <a:t>Buy mortgage from lenders across the U.S., give lenders cash to make more home loans.</a:t>
            </a:r>
          </a:p>
          <a:p>
            <a:pPr lvl="1"/>
            <a:r>
              <a:rPr lang="en-US" sz="1600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sz="1600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sz="1600" dirty="0"/>
              <a:t>Chartered by the Congress in 1938, under federal conservatorship in 2008. </a:t>
            </a:r>
          </a:p>
          <a:p>
            <a:pPr lvl="1"/>
            <a:r>
              <a:rPr lang="en-US" sz="1600" dirty="0"/>
              <a:t>Hold $43. trillion assets, 25%  homes in the U.S. are financed by Fannie Mae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11441"/>
            <a:ext cx="10515600" cy="1325563"/>
          </a:xfrm>
        </p:spPr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204849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7" y="3018213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938618" y="254105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63698-66A8-108C-94D6-43284B120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367" y="2398611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602E8-F311-D5EB-0349-5E5FF992C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943" y="3691313"/>
            <a:ext cx="1388533" cy="104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7BABC-73FF-17A8-86F9-905F442F4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765" y="3759799"/>
            <a:ext cx="1253067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47517D-7D0A-30F0-A5C2-3BF87FF00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7547" y="5037177"/>
            <a:ext cx="1580274" cy="9398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DBA27B-B3D6-2D04-E029-B9D763561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6007" y="3759799"/>
            <a:ext cx="1531814" cy="708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9811D6-30DE-53EC-DF81-C0AC4D13C5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6970" y="5125343"/>
            <a:ext cx="1514018" cy="85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7EF65C-5FE5-2B72-10BD-5E19F6412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5138" y="5037177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5691996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9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291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894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415" y="550811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2751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7339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1295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4766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306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3" y="2735206"/>
            <a:ext cx="2233762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ECFF5F-7E6B-3A14-B2C2-D35D2321B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339" y="3203765"/>
            <a:ext cx="1344300" cy="15511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F3DE97-2BF3-6370-2910-9EC6BFBDB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7339" y="5017860"/>
            <a:ext cx="1278135" cy="1475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A7DAA-39B8-55AE-62E8-E2134140C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6368" y="3105267"/>
            <a:ext cx="1343926" cy="1551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1C17C3-0277-13D6-6733-E29B4F8BF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6368" y="5376938"/>
            <a:ext cx="1244595" cy="7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832" y="5242539"/>
            <a:ext cx="4156942" cy="146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2272</TotalTime>
  <Words>811</Words>
  <Application>Microsoft Office PowerPoint</Application>
  <PresentationFormat>Widescreen</PresentationFormat>
  <Paragraphs>127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39</cp:revision>
  <dcterms:created xsi:type="dcterms:W3CDTF">2026-09-28T02:18:07Z</dcterms:created>
  <dcterms:modified xsi:type="dcterms:W3CDTF">2026-10-16T22:01:28Z</dcterms:modified>
</cp:coreProperties>
</file>