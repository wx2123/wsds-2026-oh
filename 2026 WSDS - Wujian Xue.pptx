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74" r:id="rId5"/>
    <p:sldId id="273" r:id="rId6"/>
    <p:sldId id="258" r:id="rId7"/>
    <p:sldId id="272" r:id="rId8"/>
    <p:sldId id="259" r:id="rId9"/>
    <p:sldId id="270" r:id="rId10"/>
    <p:sldId id="271" r:id="rId11"/>
    <p:sldId id="269" r:id="rId12"/>
    <p:sldId id="266" r:id="rId13"/>
    <p:sldId id="265" r:id="rId14"/>
    <p:sldId id="267" r:id="rId15"/>
    <p:sldId id="260" r:id="rId16"/>
    <p:sldId id="261" r:id="rId17"/>
    <p:sldId id="263" r:id="rId18"/>
    <p:sldId id="26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36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08F64C-0EEF-4D44-B6E6-BFE6459F5DDE}" type="doc">
      <dgm:prSet loTypeId="urn:microsoft.com/office/officeart/2011/layout/HexagonRadial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2F0427-6797-43C7-9CFF-39FE5CFA72D9}">
      <dgm:prSet phldrT="[Text]" phldr="0"/>
      <dgm:spPr/>
      <dgm:t>
        <a:bodyPr/>
        <a:lstStyle/>
        <a:p>
          <a:r>
            <a:rPr lang="en-US" dirty="0"/>
            <a:t>Cloud migration</a:t>
          </a:r>
        </a:p>
      </dgm:t>
    </dgm:pt>
    <dgm:pt modelId="{936A183E-D86C-4E46-90C7-D408ED3AFE0C}" type="parTrans" cxnId="{0C14DDF5-4ABD-41AD-BB04-C7589277FC11}">
      <dgm:prSet/>
      <dgm:spPr/>
      <dgm:t>
        <a:bodyPr/>
        <a:lstStyle/>
        <a:p>
          <a:endParaRPr lang="en-US"/>
        </a:p>
      </dgm:t>
    </dgm:pt>
    <dgm:pt modelId="{9D912BBE-A4A4-4ECC-BB0A-28828FC6A443}" type="sibTrans" cxnId="{0C14DDF5-4ABD-41AD-BB04-C7589277FC11}">
      <dgm:prSet/>
      <dgm:spPr/>
      <dgm:t>
        <a:bodyPr/>
        <a:lstStyle/>
        <a:p>
          <a:endParaRPr lang="en-US"/>
        </a:p>
      </dgm:t>
    </dgm:pt>
    <dgm:pt modelId="{BE175FE2-498E-448A-B4A7-2283839D76F4}">
      <dgm:prSet phldrT="[Text]" phldr="0"/>
      <dgm:spPr>
        <a:solidFill>
          <a:schemeClr val="accent2"/>
        </a:solidFill>
      </dgm:spPr>
      <dgm:t>
        <a:bodyPr/>
        <a:lstStyle/>
        <a:p>
          <a:r>
            <a:rPr lang="en-US" dirty="0"/>
            <a:t>Time to customer value</a:t>
          </a:r>
        </a:p>
      </dgm:t>
    </dgm:pt>
    <dgm:pt modelId="{D22DE5EC-1A0D-44B8-A0B4-B8E22F720A91}" type="parTrans" cxnId="{09912B82-505C-4526-A64D-7C4639D33CF2}">
      <dgm:prSet/>
      <dgm:spPr/>
      <dgm:t>
        <a:bodyPr/>
        <a:lstStyle/>
        <a:p>
          <a:endParaRPr lang="en-US"/>
        </a:p>
      </dgm:t>
    </dgm:pt>
    <dgm:pt modelId="{F7396975-9E05-4FAA-B722-F6253FC2E417}" type="sibTrans" cxnId="{09912B82-505C-4526-A64D-7C4639D33CF2}">
      <dgm:prSet/>
      <dgm:spPr/>
      <dgm:t>
        <a:bodyPr/>
        <a:lstStyle/>
        <a:p>
          <a:endParaRPr lang="en-US"/>
        </a:p>
      </dgm:t>
    </dgm:pt>
    <dgm:pt modelId="{1563DCD7-CC83-4FCC-986E-EF0D88F8C8C9}">
      <dgm:prSet phldrT="[Text]" phldr="0"/>
      <dgm:spPr>
        <a:solidFill>
          <a:schemeClr val="accent3"/>
        </a:solidFill>
      </dgm:spPr>
      <dgm:t>
        <a:bodyPr/>
        <a:lstStyle/>
        <a:p>
          <a:r>
            <a:rPr lang="en-US" dirty="0"/>
            <a:t>Organize for effectiveness</a:t>
          </a:r>
        </a:p>
      </dgm:t>
    </dgm:pt>
    <dgm:pt modelId="{59CA1295-6B0D-4D46-9A6E-2BE514C501C1}" type="parTrans" cxnId="{CC0D36AC-DB77-4EAE-B086-2C6AAEFE3F2A}">
      <dgm:prSet/>
      <dgm:spPr/>
      <dgm:t>
        <a:bodyPr/>
        <a:lstStyle/>
        <a:p>
          <a:endParaRPr lang="en-US"/>
        </a:p>
      </dgm:t>
    </dgm:pt>
    <dgm:pt modelId="{E189B592-1F81-44E7-B47F-E1578E5C0D66}" type="sibTrans" cxnId="{CC0D36AC-DB77-4EAE-B086-2C6AAEFE3F2A}">
      <dgm:prSet/>
      <dgm:spPr/>
      <dgm:t>
        <a:bodyPr/>
        <a:lstStyle/>
        <a:p>
          <a:endParaRPr lang="en-US"/>
        </a:p>
      </dgm:t>
    </dgm:pt>
    <dgm:pt modelId="{E9121F76-5EF8-4413-AF26-8697B1A9AA5A}">
      <dgm:prSet phldrT="[Text]" phldr="0"/>
      <dgm:spPr>
        <a:solidFill>
          <a:srgbClr val="92D050"/>
        </a:solidFill>
      </dgm:spPr>
      <dgm:t>
        <a:bodyPr/>
        <a:lstStyle/>
        <a:p>
          <a:r>
            <a:rPr lang="en-US" dirty="0"/>
            <a:t>Digital stability</a:t>
          </a:r>
        </a:p>
      </dgm:t>
    </dgm:pt>
    <dgm:pt modelId="{8C532E8D-69F8-4B70-A921-97FB40C76A2F}" type="parTrans" cxnId="{81F62DBD-B899-4930-B398-F865E8B6888B}">
      <dgm:prSet/>
      <dgm:spPr/>
      <dgm:t>
        <a:bodyPr/>
        <a:lstStyle/>
        <a:p>
          <a:endParaRPr lang="en-US"/>
        </a:p>
      </dgm:t>
    </dgm:pt>
    <dgm:pt modelId="{CCB91678-A106-4A6C-87D2-2D693F9505DB}" type="sibTrans" cxnId="{81F62DBD-B899-4930-B398-F865E8B6888B}">
      <dgm:prSet/>
      <dgm:spPr/>
      <dgm:t>
        <a:bodyPr/>
        <a:lstStyle/>
        <a:p>
          <a:endParaRPr lang="en-US"/>
        </a:p>
      </dgm:t>
    </dgm:pt>
    <dgm:pt modelId="{D06E1645-DE76-4E65-BB3C-46F3BAC5AF75}">
      <dgm:prSet phldrT="[Text]"/>
      <dgm:spPr>
        <a:solidFill>
          <a:srgbClr val="00B0F0"/>
        </a:solidFill>
      </dgm:spPr>
      <dgm:t>
        <a:bodyPr/>
        <a:lstStyle/>
        <a:p>
          <a:r>
            <a:rPr lang="en-US" altLang="zh-CN" dirty="0"/>
            <a:t>Business Innovation at speed</a:t>
          </a:r>
          <a:endParaRPr lang="en-US" dirty="0"/>
        </a:p>
      </dgm:t>
    </dgm:pt>
    <dgm:pt modelId="{BE94E7EA-F143-44A5-B81A-3464EC870185}" type="parTrans" cxnId="{CCB88BBB-D2D2-4EE7-BA30-391C3EBAD68C}">
      <dgm:prSet/>
      <dgm:spPr/>
      <dgm:t>
        <a:bodyPr/>
        <a:lstStyle/>
        <a:p>
          <a:endParaRPr lang="en-US"/>
        </a:p>
      </dgm:t>
    </dgm:pt>
    <dgm:pt modelId="{5927F88E-3CFB-42A1-B344-5AA79A4C293A}" type="sibTrans" cxnId="{CCB88BBB-D2D2-4EE7-BA30-391C3EBAD68C}">
      <dgm:prSet/>
      <dgm:spPr/>
      <dgm:t>
        <a:bodyPr/>
        <a:lstStyle/>
        <a:p>
          <a:endParaRPr lang="en-US"/>
        </a:p>
      </dgm:t>
    </dgm:pt>
    <dgm:pt modelId="{BB981C33-12A1-4F6C-8D00-12C6EC1236A6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dirty="0"/>
            <a:t>Enable transformation</a:t>
          </a:r>
        </a:p>
      </dgm:t>
    </dgm:pt>
    <dgm:pt modelId="{F7D42D6E-AEC6-4242-B246-7A189388A0F8}" type="parTrans" cxnId="{FA5E902D-85A4-4CD2-87C7-EE50DFA82060}">
      <dgm:prSet/>
      <dgm:spPr/>
      <dgm:t>
        <a:bodyPr/>
        <a:lstStyle/>
        <a:p>
          <a:endParaRPr lang="en-US"/>
        </a:p>
      </dgm:t>
    </dgm:pt>
    <dgm:pt modelId="{A5179DFB-4E52-435E-98B6-48F909660EC9}" type="sibTrans" cxnId="{FA5E902D-85A4-4CD2-87C7-EE50DFA82060}">
      <dgm:prSet/>
      <dgm:spPr/>
      <dgm:t>
        <a:bodyPr/>
        <a:lstStyle/>
        <a:p>
          <a:endParaRPr lang="en-US"/>
        </a:p>
      </dgm:t>
    </dgm:pt>
    <dgm:pt modelId="{E6B28B6F-C093-4492-834A-5B67CB2968D9}">
      <dgm:prSet phldrT="[Text]" phldr="0"/>
      <dgm:spPr>
        <a:solidFill>
          <a:srgbClr val="FF0000"/>
        </a:solidFill>
      </dgm:spPr>
      <dgm:t>
        <a:bodyPr/>
        <a:lstStyle/>
        <a:p>
          <a:r>
            <a:rPr lang="en-US" dirty="0"/>
            <a:t>Intelligent </a:t>
          </a:r>
          <a:r>
            <a:rPr lang="en-US" altLang="zh-CN" dirty="0"/>
            <a:t>automation</a:t>
          </a:r>
          <a:endParaRPr lang="en-US" dirty="0"/>
        </a:p>
      </dgm:t>
    </dgm:pt>
    <dgm:pt modelId="{16007CBA-F250-4A92-91E9-E2465ED87B2A}" type="parTrans" cxnId="{E6ECE566-AB50-4692-8DED-B40CF4E97AB2}">
      <dgm:prSet/>
      <dgm:spPr/>
      <dgm:t>
        <a:bodyPr/>
        <a:lstStyle/>
        <a:p>
          <a:endParaRPr lang="en-US"/>
        </a:p>
      </dgm:t>
    </dgm:pt>
    <dgm:pt modelId="{F8A9E26C-260A-45F5-8E9E-ABAE245C49E4}" type="sibTrans" cxnId="{E6ECE566-AB50-4692-8DED-B40CF4E97AB2}">
      <dgm:prSet/>
      <dgm:spPr/>
      <dgm:t>
        <a:bodyPr/>
        <a:lstStyle/>
        <a:p>
          <a:endParaRPr lang="en-US"/>
        </a:p>
      </dgm:t>
    </dgm:pt>
    <dgm:pt modelId="{67D15FC6-E047-48C3-847F-243D66AC66A9}" type="pres">
      <dgm:prSet presAssocID="{3208F64C-0EEF-4D44-B6E6-BFE6459F5DDE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F1D19A2F-77BC-4938-9885-093F435A8A47}" type="pres">
      <dgm:prSet presAssocID="{602F0427-6797-43C7-9CFF-39FE5CFA72D9}" presName="Parent" presStyleLbl="node0" presStyleIdx="0" presStyleCnt="1">
        <dgm:presLayoutVars>
          <dgm:chMax val="6"/>
          <dgm:chPref val="6"/>
        </dgm:presLayoutVars>
      </dgm:prSet>
      <dgm:spPr/>
    </dgm:pt>
    <dgm:pt modelId="{D6EA40F1-8F1D-497B-935A-7440D7458290}" type="pres">
      <dgm:prSet presAssocID="{BE175FE2-498E-448A-B4A7-2283839D76F4}" presName="Accent1" presStyleCnt="0"/>
      <dgm:spPr/>
    </dgm:pt>
    <dgm:pt modelId="{595D05E8-0147-4426-84F2-CAF286F94084}" type="pres">
      <dgm:prSet presAssocID="{BE175FE2-498E-448A-B4A7-2283839D76F4}" presName="Accent" presStyleLbl="bgShp" presStyleIdx="0" presStyleCnt="6"/>
      <dgm:spPr/>
    </dgm:pt>
    <dgm:pt modelId="{0CB0AA78-D63F-4F3A-AFA6-EAE5E0314406}" type="pres">
      <dgm:prSet presAssocID="{BE175FE2-498E-448A-B4A7-2283839D76F4}" presName="Child1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588526E8-04B5-4B80-AA9B-0D229A69CB08}" type="pres">
      <dgm:prSet presAssocID="{1563DCD7-CC83-4FCC-986E-EF0D88F8C8C9}" presName="Accent2" presStyleCnt="0"/>
      <dgm:spPr/>
    </dgm:pt>
    <dgm:pt modelId="{16108406-D824-48AA-986F-F20B13B82A81}" type="pres">
      <dgm:prSet presAssocID="{1563DCD7-CC83-4FCC-986E-EF0D88F8C8C9}" presName="Accent" presStyleLbl="bgShp" presStyleIdx="1" presStyleCnt="6"/>
      <dgm:spPr/>
    </dgm:pt>
    <dgm:pt modelId="{9699140C-2F89-460C-BE44-85A64DE59F52}" type="pres">
      <dgm:prSet presAssocID="{1563DCD7-CC83-4FCC-986E-EF0D88F8C8C9}" presName="Child2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B9739F21-4DE0-44C7-A0C1-2C212BC562EA}" type="pres">
      <dgm:prSet presAssocID="{E9121F76-5EF8-4413-AF26-8697B1A9AA5A}" presName="Accent3" presStyleCnt="0"/>
      <dgm:spPr/>
    </dgm:pt>
    <dgm:pt modelId="{322F9847-0308-445A-A02E-9697140899BE}" type="pres">
      <dgm:prSet presAssocID="{E9121F76-5EF8-4413-AF26-8697B1A9AA5A}" presName="Accent" presStyleLbl="bgShp" presStyleIdx="2" presStyleCnt="6"/>
      <dgm:spPr/>
    </dgm:pt>
    <dgm:pt modelId="{55AB8E64-BB27-433B-A701-D00D0ADFE0F2}" type="pres">
      <dgm:prSet presAssocID="{E9121F76-5EF8-4413-AF26-8697B1A9AA5A}" presName="Child3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FE031180-106C-462C-846E-00FB37085631}" type="pres">
      <dgm:prSet presAssocID="{D06E1645-DE76-4E65-BB3C-46F3BAC5AF75}" presName="Accent4" presStyleCnt="0"/>
      <dgm:spPr/>
    </dgm:pt>
    <dgm:pt modelId="{76DF7524-118F-4A3C-8039-C7730AC993D2}" type="pres">
      <dgm:prSet presAssocID="{D06E1645-DE76-4E65-BB3C-46F3BAC5AF75}" presName="Accent" presStyleLbl="bgShp" presStyleIdx="3" presStyleCnt="6"/>
      <dgm:spPr/>
    </dgm:pt>
    <dgm:pt modelId="{D57699A4-5871-457E-B5AC-85BE314A9854}" type="pres">
      <dgm:prSet presAssocID="{D06E1645-DE76-4E65-BB3C-46F3BAC5AF75}" presName="Child4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5A3A4720-2C82-4FE8-8A1B-0239B901DA21}" type="pres">
      <dgm:prSet presAssocID="{BB981C33-12A1-4F6C-8D00-12C6EC1236A6}" presName="Accent5" presStyleCnt="0"/>
      <dgm:spPr/>
    </dgm:pt>
    <dgm:pt modelId="{6A5105C0-DF27-4B27-8885-6430EAC6309F}" type="pres">
      <dgm:prSet presAssocID="{BB981C33-12A1-4F6C-8D00-12C6EC1236A6}" presName="Accent" presStyleLbl="bgShp" presStyleIdx="4" presStyleCnt="6"/>
      <dgm:spPr/>
    </dgm:pt>
    <dgm:pt modelId="{EDC1BEF1-AC06-4D76-AA94-62F6EB75537B}" type="pres">
      <dgm:prSet presAssocID="{BB981C33-12A1-4F6C-8D00-12C6EC1236A6}" presName="Child5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0D077B03-4238-4515-BAC2-1FD4B5D76EA1}" type="pres">
      <dgm:prSet presAssocID="{E6B28B6F-C093-4492-834A-5B67CB2968D9}" presName="Accent6" presStyleCnt="0"/>
      <dgm:spPr/>
    </dgm:pt>
    <dgm:pt modelId="{49B31C55-29E4-4F65-B048-7407A37441AB}" type="pres">
      <dgm:prSet presAssocID="{E6B28B6F-C093-4492-834A-5B67CB2968D9}" presName="Accent" presStyleLbl="bgShp" presStyleIdx="5" presStyleCnt="6"/>
      <dgm:spPr/>
    </dgm:pt>
    <dgm:pt modelId="{C5A425D9-4151-4A77-AD71-BFDEBC1E8358}" type="pres">
      <dgm:prSet presAssocID="{E6B28B6F-C093-4492-834A-5B67CB2968D9}" presName="Child6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A1E61F11-34AE-4A47-A574-9C0EAE61A1D7}" type="presOf" srcId="{E9121F76-5EF8-4413-AF26-8697B1A9AA5A}" destId="{55AB8E64-BB27-433B-A701-D00D0ADFE0F2}" srcOrd="0" destOrd="0" presId="urn:microsoft.com/office/officeart/2011/layout/HexagonRadial"/>
    <dgm:cxn modelId="{FA5E902D-85A4-4CD2-87C7-EE50DFA82060}" srcId="{602F0427-6797-43C7-9CFF-39FE5CFA72D9}" destId="{BB981C33-12A1-4F6C-8D00-12C6EC1236A6}" srcOrd="4" destOrd="0" parTransId="{F7D42D6E-AEC6-4242-B246-7A189388A0F8}" sibTransId="{A5179DFB-4E52-435E-98B6-48F909660EC9}"/>
    <dgm:cxn modelId="{E6ECE566-AB50-4692-8DED-B40CF4E97AB2}" srcId="{602F0427-6797-43C7-9CFF-39FE5CFA72D9}" destId="{E6B28B6F-C093-4492-834A-5B67CB2968D9}" srcOrd="5" destOrd="0" parTransId="{16007CBA-F250-4A92-91E9-E2465ED87B2A}" sibTransId="{F8A9E26C-260A-45F5-8E9E-ABAE245C49E4}"/>
    <dgm:cxn modelId="{B51CFA6D-8734-48C0-80BD-7223A131C12A}" type="presOf" srcId="{602F0427-6797-43C7-9CFF-39FE5CFA72D9}" destId="{F1D19A2F-77BC-4938-9885-093F435A8A47}" srcOrd="0" destOrd="0" presId="urn:microsoft.com/office/officeart/2011/layout/HexagonRadial"/>
    <dgm:cxn modelId="{ADEC6658-7BEA-464C-B0A8-7F9E2D7F4212}" type="presOf" srcId="{D06E1645-DE76-4E65-BB3C-46F3BAC5AF75}" destId="{D57699A4-5871-457E-B5AC-85BE314A9854}" srcOrd="0" destOrd="0" presId="urn:microsoft.com/office/officeart/2011/layout/HexagonRadial"/>
    <dgm:cxn modelId="{09912B82-505C-4526-A64D-7C4639D33CF2}" srcId="{602F0427-6797-43C7-9CFF-39FE5CFA72D9}" destId="{BE175FE2-498E-448A-B4A7-2283839D76F4}" srcOrd="0" destOrd="0" parTransId="{D22DE5EC-1A0D-44B8-A0B4-B8E22F720A91}" sibTransId="{F7396975-9E05-4FAA-B722-F6253FC2E417}"/>
    <dgm:cxn modelId="{E2FF408A-AF54-4325-94F7-C2B965552F11}" type="presOf" srcId="{BB981C33-12A1-4F6C-8D00-12C6EC1236A6}" destId="{EDC1BEF1-AC06-4D76-AA94-62F6EB75537B}" srcOrd="0" destOrd="0" presId="urn:microsoft.com/office/officeart/2011/layout/HexagonRadial"/>
    <dgm:cxn modelId="{CC0D36AC-DB77-4EAE-B086-2C6AAEFE3F2A}" srcId="{602F0427-6797-43C7-9CFF-39FE5CFA72D9}" destId="{1563DCD7-CC83-4FCC-986E-EF0D88F8C8C9}" srcOrd="1" destOrd="0" parTransId="{59CA1295-6B0D-4D46-9A6E-2BE514C501C1}" sibTransId="{E189B592-1F81-44E7-B47F-E1578E5C0D66}"/>
    <dgm:cxn modelId="{DEC95CB3-D37A-42E6-AC0C-303F4F46B98B}" type="presOf" srcId="{BE175FE2-498E-448A-B4A7-2283839D76F4}" destId="{0CB0AA78-D63F-4F3A-AFA6-EAE5E0314406}" srcOrd="0" destOrd="0" presId="urn:microsoft.com/office/officeart/2011/layout/HexagonRadial"/>
    <dgm:cxn modelId="{CCB88BBB-D2D2-4EE7-BA30-391C3EBAD68C}" srcId="{602F0427-6797-43C7-9CFF-39FE5CFA72D9}" destId="{D06E1645-DE76-4E65-BB3C-46F3BAC5AF75}" srcOrd="3" destOrd="0" parTransId="{BE94E7EA-F143-44A5-B81A-3464EC870185}" sibTransId="{5927F88E-3CFB-42A1-B344-5AA79A4C293A}"/>
    <dgm:cxn modelId="{81F62DBD-B899-4930-B398-F865E8B6888B}" srcId="{602F0427-6797-43C7-9CFF-39FE5CFA72D9}" destId="{E9121F76-5EF8-4413-AF26-8697B1A9AA5A}" srcOrd="2" destOrd="0" parTransId="{8C532E8D-69F8-4B70-A921-97FB40C76A2F}" sibTransId="{CCB91678-A106-4A6C-87D2-2D693F9505DB}"/>
    <dgm:cxn modelId="{4AAAA9D4-B283-42CC-9623-26DAF7CFD723}" type="presOf" srcId="{1563DCD7-CC83-4FCC-986E-EF0D88F8C8C9}" destId="{9699140C-2F89-460C-BE44-85A64DE59F52}" srcOrd="0" destOrd="0" presId="urn:microsoft.com/office/officeart/2011/layout/HexagonRadial"/>
    <dgm:cxn modelId="{F538A5E3-09EB-4D0B-B319-7AD4679BA0B9}" type="presOf" srcId="{E6B28B6F-C093-4492-834A-5B67CB2968D9}" destId="{C5A425D9-4151-4A77-AD71-BFDEBC1E8358}" srcOrd="0" destOrd="0" presId="urn:microsoft.com/office/officeart/2011/layout/HexagonRadial"/>
    <dgm:cxn modelId="{10130EE6-D901-4362-9F7A-C6893441B7E9}" type="presOf" srcId="{3208F64C-0EEF-4D44-B6E6-BFE6459F5DDE}" destId="{67D15FC6-E047-48C3-847F-243D66AC66A9}" srcOrd="0" destOrd="0" presId="urn:microsoft.com/office/officeart/2011/layout/HexagonRadial"/>
    <dgm:cxn modelId="{0C14DDF5-4ABD-41AD-BB04-C7589277FC11}" srcId="{3208F64C-0EEF-4D44-B6E6-BFE6459F5DDE}" destId="{602F0427-6797-43C7-9CFF-39FE5CFA72D9}" srcOrd="0" destOrd="0" parTransId="{936A183E-D86C-4E46-90C7-D408ED3AFE0C}" sibTransId="{9D912BBE-A4A4-4ECC-BB0A-28828FC6A443}"/>
    <dgm:cxn modelId="{CC623D90-E105-4648-9BD5-7122F61BFA61}" type="presParOf" srcId="{67D15FC6-E047-48C3-847F-243D66AC66A9}" destId="{F1D19A2F-77BC-4938-9885-093F435A8A47}" srcOrd="0" destOrd="0" presId="urn:microsoft.com/office/officeart/2011/layout/HexagonRadial"/>
    <dgm:cxn modelId="{CE2C9365-E8D9-4FCB-AA71-7D2772F9A388}" type="presParOf" srcId="{67D15FC6-E047-48C3-847F-243D66AC66A9}" destId="{D6EA40F1-8F1D-497B-935A-7440D7458290}" srcOrd="1" destOrd="0" presId="urn:microsoft.com/office/officeart/2011/layout/HexagonRadial"/>
    <dgm:cxn modelId="{A4DCEEFD-8FB7-4C00-B8A9-D7B3F2F2C9BF}" type="presParOf" srcId="{D6EA40F1-8F1D-497B-935A-7440D7458290}" destId="{595D05E8-0147-4426-84F2-CAF286F94084}" srcOrd="0" destOrd="0" presId="urn:microsoft.com/office/officeart/2011/layout/HexagonRadial"/>
    <dgm:cxn modelId="{78894057-7334-43AA-846B-411D0DBC3668}" type="presParOf" srcId="{67D15FC6-E047-48C3-847F-243D66AC66A9}" destId="{0CB0AA78-D63F-4F3A-AFA6-EAE5E0314406}" srcOrd="2" destOrd="0" presId="urn:microsoft.com/office/officeart/2011/layout/HexagonRadial"/>
    <dgm:cxn modelId="{5A590799-2041-45C1-A02F-27236B82E88F}" type="presParOf" srcId="{67D15FC6-E047-48C3-847F-243D66AC66A9}" destId="{588526E8-04B5-4B80-AA9B-0D229A69CB08}" srcOrd="3" destOrd="0" presId="urn:microsoft.com/office/officeart/2011/layout/HexagonRadial"/>
    <dgm:cxn modelId="{57DA7FC2-3729-4E4B-8659-43B4E8875CDA}" type="presParOf" srcId="{588526E8-04B5-4B80-AA9B-0D229A69CB08}" destId="{16108406-D824-48AA-986F-F20B13B82A81}" srcOrd="0" destOrd="0" presId="urn:microsoft.com/office/officeart/2011/layout/HexagonRadial"/>
    <dgm:cxn modelId="{044FEC93-D461-49D5-94B8-EEB96C0D6014}" type="presParOf" srcId="{67D15FC6-E047-48C3-847F-243D66AC66A9}" destId="{9699140C-2F89-460C-BE44-85A64DE59F52}" srcOrd="4" destOrd="0" presId="urn:microsoft.com/office/officeart/2011/layout/HexagonRadial"/>
    <dgm:cxn modelId="{01C43576-FFEF-46BE-974D-5CBA463C22D1}" type="presParOf" srcId="{67D15FC6-E047-48C3-847F-243D66AC66A9}" destId="{B9739F21-4DE0-44C7-A0C1-2C212BC562EA}" srcOrd="5" destOrd="0" presId="urn:microsoft.com/office/officeart/2011/layout/HexagonRadial"/>
    <dgm:cxn modelId="{DF47B44C-D960-4689-8500-79FC13815C82}" type="presParOf" srcId="{B9739F21-4DE0-44C7-A0C1-2C212BC562EA}" destId="{322F9847-0308-445A-A02E-9697140899BE}" srcOrd="0" destOrd="0" presId="urn:microsoft.com/office/officeart/2011/layout/HexagonRadial"/>
    <dgm:cxn modelId="{992E85C7-6CFF-4810-9D0B-449855C9FFC3}" type="presParOf" srcId="{67D15FC6-E047-48C3-847F-243D66AC66A9}" destId="{55AB8E64-BB27-433B-A701-D00D0ADFE0F2}" srcOrd="6" destOrd="0" presId="urn:microsoft.com/office/officeart/2011/layout/HexagonRadial"/>
    <dgm:cxn modelId="{803545BC-FDB9-47AC-86F5-101BFDDCCAC4}" type="presParOf" srcId="{67D15FC6-E047-48C3-847F-243D66AC66A9}" destId="{FE031180-106C-462C-846E-00FB37085631}" srcOrd="7" destOrd="0" presId="urn:microsoft.com/office/officeart/2011/layout/HexagonRadial"/>
    <dgm:cxn modelId="{03504B4D-02BB-4A3A-BEEA-C59BC5A476C0}" type="presParOf" srcId="{FE031180-106C-462C-846E-00FB37085631}" destId="{76DF7524-118F-4A3C-8039-C7730AC993D2}" srcOrd="0" destOrd="0" presId="urn:microsoft.com/office/officeart/2011/layout/HexagonRadial"/>
    <dgm:cxn modelId="{6BED9F9B-0CD9-4647-8CB4-61F7D1DFA8D7}" type="presParOf" srcId="{67D15FC6-E047-48C3-847F-243D66AC66A9}" destId="{D57699A4-5871-457E-B5AC-85BE314A9854}" srcOrd="8" destOrd="0" presId="urn:microsoft.com/office/officeart/2011/layout/HexagonRadial"/>
    <dgm:cxn modelId="{35341C55-6CF0-48FF-8A00-6ED472B85D98}" type="presParOf" srcId="{67D15FC6-E047-48C3-847F-243D66AC66A9}" destId="{5A3A4720-2C82-4FE8-8A1B-0239B901DA21}" srcOrd="9" destOrd="0" presId="urn:microsoft.com/office/officeart/2011/layout/HexagonRadial"/>
    <dgm:cxn modelId="{342F0B4D-CB23-4C8F-9E52-BA9CDAE31D1E}" type="presParOf" srcId="{5A3A4720-2C82-4FE8-8A1B-0239B901DA21}" destId="{6A5105C0-DF27-4B27-8885-6430EAC6309F}" srcOrd="0" destOrd="0" presId="urn:microsoft.com/office/officeart/2011/layout/HexagonRadial"/>
    <dgm:cxn modelId="{A560CD4C-6750-4686-AB68-EA322E49E259}" type="presParOf" srcId="{67D15FC6-E047-48C3-847F-243D66AC66A9}" destId="{EDC1BEF1-AC06-4D76-AA94-62F6EB75537B}" srcOrd="10" destOrd="0" presId="urn:microsoft.com/office/officeart/2011/layout/HexagonRadial"/>
    <dgm:cxn modelId="{4E44BC01-AF6B-458D-BD3F-1F9FEAAA8242}" type="presParOf" srcId="{67D15FC6-E047-48C3-847F-243D66AC66A9}" destId="{0D077B03-4238-4515-BAC2-1FD4B5D76EA1}" srcOrd="11" destOrd="0" presId="urn:microsoft.com/office/officeart/2011/layout/HexagonRadial"/>
    <dgm:cxn modelId="{5CAFD3F7-9D6D-4DDD-95F3-1B3C7EE1D321}" type="presParOf" srcId="{0D077B03-4238-4515-BAC2-1FD4B5D76EA1}" destId="{49B31C55-29E4-4F65-B048-7407A37441AB}" srcOrd="0" destOrd="0" presId="urn:microsoft.com/office/officeart/2011/layout/HexagonRadial"/>
    <dgm:cxn modelId="{71C6330F-7900-413B-8F3E-4C852976D96E}" type="presParOf" srcId="{67D15FC6-E047-48C3-847F-243D66AC66A9}" destId="{C5A425D9-4151-4A77-AD71-BFDEBC1E8358}" srcOrd="12" destOrd="0" presId="urn:microsoft.com/office/officeart/2011/layout/HexagonRadial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82EFBF-7107-494A-8AAB-7C60D9A18C5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06DD9-2FFF-4343-814C-B31E3889ACCB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3D5B19E5-87A6-4D3B-9B61-5918DF25FDF0}" type="parTrans" cxnId="{B1D4D4C1-723D-4F84-B522-078EBCE805CC}">
      <dgm:prSet/>
      <dgm:spPr/>
      <dgm:t>
        <a:bodyPr/>
        <a:lstStyle/>
        <a:p>
          <a:endParaRPr lang="en-US"/>
        </a:p>
      </dgm:t>
    </dgm:pt>
    <dgm:pt modelId="{D670B910-3613-4ABD-B4EF-F8302081AD61}" type="sibTrans" cxnId="{B1D4D4C1-723D-4F84-B522-078EBCE805CC}">
      <dgm:prSet/>
      <dgm:spPr/>
      <dgm:t>
        <a:bodyPr/>
        <a:lstStyle/>
        <a:p>
          <a:endParaRPr lang="en-US"/>
        </a:p>
      </dgm:t>
    </dgm:pt>
    <dgm:pt modelId="{97EF6E1C-BA7C-4636-98C5-BAF25E72A9EA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CC6E4465-715C-44B9-8F5A-A614F0AF83EB}" type="parTrans" cxnId="{C83ED522-35C7-4177-8D72-358078CACD54}">
      <dgm:prSet/>
      <dgm:spPr/>
      <dgm:t>
        <a:bodyPr/>
        <a:lstStyle/>
        <a:p>
          <a:endParaRPr lang="en-US"/>
        </a:p>
      </dgm:t>
    </dgm:pt>
    <dgm:pt modelId="{9AE711F1-83FF-473B-9D0A-AB57E372EB08}" type="sibTrans" cxnId="{C83ED522-35C7-4177-8D72-358078CACD54}">
      <dgm:prSet/>
      <dgm:spPr/>
      <dgm:t>
        <a:bodyPr/>
        <a:lstStyle/>
        <a:p>
          <a:endParaRPr lang="en-US"/>
        </a:p>
      </dgm:t>
    </dgm:pt>
    <dgm:pt modelId="{5A9BC8F0-D7E0-407D-82A5-3EE52FE05DF5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B5075FD9-CDA1-4398-AB61-C112EF4FC073}" type="parTrans" cxnId="{32D180CA-215D-4D8E-BC5A-ECBB7F3838EE}">
      <dgm:prSet/>
      <dgm:spPr/>
      <dgm:t>
        <a:bodyPr/>
        <a:lstStyle/>
        <a:p>
          <a:endParaRPr lang="en-US"/>
        </a:p>
      </dgm:t>
    </dgm:pt>
    <dgm:pt modelId="{D954C522-4F7C-4CC3-8C16-5B8309720BC8}" type="sibTrans" cxnId="{32D180CA-215D-4D8E-BC5A-ECBB7F3838EE}">
      <dgm:prSet/>
      <dgm:spPr/>
      <dgm:t>
        <a:bodyPr/>
        <a:lstStyle/>
        <a:p>
          <a:endParaRPr lang="en-US"/>
        </a:p>
      </dgm:t>
    </dgm:pt>
    <dgm:pt modelId="{544E611A-A92D-47AE-8209-1291FA008FC7}">
      <dgm:prSet phldrT="[Text]" phldr="0"/>
      <dgm:spPr/>
      <dgm:t>
        <a:bodyPr/>
        <a:lstStyle/>
        <a:p>
          <a:r>
            <a:rPr lang="en-US"/>
            <a:t>Data Prep</a:t>
          </a:r>
          <a:endParaRPr lang="en-US" dirty="0"/>
        </a:p>
      </dgm:t>
    </dgm:pt>
    <dgm:pt modelId="{257DBADF-88C0-492E-A62A-4A73B487F3F0}" type="parTrans" cxnId="{437ACB81-26B8-4C36-928C-DE8051A9AA85}">
      <dgm:prSet/>
      <dgm:spPr/>
      <dgm:t>
        <a:bodyPr/>
        <a:lstStyle/>
        <a:p>
          <a:endParaRPr lang="en-US"/>
        </a:p>
      </dgm:t>
    </dgm:pt>
    <dgm:pt modelId="{581760DF-0F87-43C8-AF78-7383A1D234FB}" type="sibTrans" cxnId="{437ACB81-26B8-4C36-928C-DE8051A9AA85}">
      <dgm:prSet/>
      <dgm:spPr/>
      <dgm:t>
        <a:bodyPr/>
        <a:lstStyle/>
        <a:p>
          <a:endParaRPr lang="en-US"/>
        </a:p>
      </dgm:t>
    </dgm:pt>
    <dgm:pt modelId="{7047978F-7B94-453E-9392-49241B4E3952}" type="pres">
      <dgm:prSet presAssocID="{CC82EFBF-7107-494A-8AAB-7C60D9A18C52}" presName="CompostProcess" presStyleCnt="0">
        <dgm:presLayoutVars>
          <dgm:dir/>
          <dgm:resizeHandles val="exact"/>
        </dgm:presLayoutVars>
      </dgm:prSet>
      <dgm:spPr/>
    </dgm:pt>
    <dgm:pt modelId="{E8E2B53E-EF74-4B45-95E3-9B5C82B1340C}" type="pres">
      <dgm:prSet presAssocID="{CC82EFBF-7107-494A-8AAB-7C60D9A18C52}" presName="arrow" presStyleLbl="bgShp" presStyleIdx="0" presStyleCnt="1"/>
      <dgm:spPr/>
    </dgm:pt>
    <dgm:pt modelId="{A97DD83C-6A98-4091-B61C-9812DDC6BF82}" type="pres">
      <dgm:prSet presAssocID="{CC82EFBF-7107-494A-8AAB-7C60D9A18C52}" presName="linearProcess" presStyleCnt="0"/>
      <dgm:spPr/>
    </dgm:pt>
    <dgm:pt modelId="{B5819A44-3F39-4942-91AB-6CD9827FCCA5}" type="pres">
      <dgm:prSet presAssocID="{D5F06DD9-2FFF-4343-814C-B31E3889ACCB}" presName="textNode" presStyleLbl="node1" presStyleIdx="0" presStyleCnt="4">
        <dgm:presLayoutVars>
          <dgm:bulletEnabled val="1"/>
        </dgm:presLayoutVars>
      </dgm:prSet>
      <dgm:spPr/>
    </dgm:pt>
    <dgm:pt modelId="{13E00F69-C04D-459C-9C6D-52BAA6ABF799}" type="pres">
      <dgm:prSet presAssocID="{D670B910-3613-4ABD-B4EF-F8302081AD61}" presName="sibTrans" presStyleCnt="0"/>
      <dgm:spPr/>
    </dgm:pt>
    <dgm:pt modelId="{02C6F657-DC22-4874-B839-ED01F19A363A}" type="pres">
      <dgm:prSet presAssocID="{544E611A-A92D-47AE-8209-1291FA008FC7}" presName="textNode" presStyleLbl="node1" presStyleIdx="1" presStyleCnt="4">
        <dgm:presLayoutVars>
          <dgm:bulletEnabled val="1"/>
        </dgm:presLayoutVars>
      </dgm:prSet>
      <dgm:spPr/>
    </dgm:pt>
    <dgm:pt modelId="{8A421316-76C1-42B6-99E9-1E657EFF2B4A}" type="pres">
      <dgm:prSet presAssocID="{581760DF-0F87-43C8-AF78-7383A1D234FB}" presName="sibTrans" presStyleCnt="0"/>
      <dgm:spPr/>
    </dgm:pt>
    <dgm:pt modelId="{C00E62EC-C631-4907-A6A9-ACFBFA247E6A}" type="pres">
      <dgm:prSet presAssocID="{97EF6E1C-BA7C-4636-98C5-BAF25E72A9EA}" presName="textNode" presStyleLbl="node1" presStyleIdx="2" presStyleCnt="4">
        <dgm:presLayoutVars>
          <dgm:bulletEnabled val="1"/>
        </dgm:presLayoutVars>
      </dgm:prSet>
      <dgm:spPr/>
    </dgm:pt>
    <dgm:pt modelId="{990CDBD4-F756-4EED-8B52-90FCFB437DE4}" type="pres">
      <dgm:prSet presAssocID="{9AE711F1-83FF-473B-9D0A-AB57E372EB08}" presName="sibTrans" presStyleCnt="0"/>
      <dgm:spPr/>
    </dgm:pt>
    <dgm:pt modelId="{2B39B381-C3F6-40EF-9153-96AC0478B650}" type="pres">
      <dgm:prSet presAssocID="{5A9BC8F0-D7E0-407D-82A5-3EE52FE05DF5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C83ED522-35C7-4177-8D72-358078CACD54}" srcId="{CC82EFBF-7107-494A-8AAB-7C60D9A18C52}" destId="{97EF6E1C-BA7C-4636-98C5-BAF25E72A9EA}" srcOrd="2" destOrd="0" parTransId="{CC6E4465-715C-44B9-8F5A-A614F0AF83EB}" sibTransId="{9AE711F1-83FF-473B-9D0A-AB57E372EB08}"/>
    <dgm:cxn modelId="{A12B8D56-7091-4E96-B4DA-9B12CBF3D848}" type="presOf" srcId="{544E611A-A92D-47AE-8209-1291FA008FC7}" destId="{02C6F657-DC22-4874-B839-ED01F19A363A}" srcOrd="0" destOrd="0" presId="urn:microsoft.com/office/officeart/2005/8/layout/hProcess9"/>
    <dgm:cxn modelId="{8BE6B87B-BB74-499A-AA04-C383BD12B3AC}" type="presOf" srcId="{D5F06DD9-2FFF-4343-814C-B31E3889ACCB}" destId="{B5819A44-3F39-4942-91AB-6CD9827FCCA5}" srcOrd="0" destOrd="0" presId="urn:microsoft.com/office/officeart/2005/8/layout/hProcess9"/>
    <dgm:cxn modelId="{437ACB81-26B8-4C36-928C-DE8051A9AA85}" srcId="{CC82EFBF-7107-494A-8AAB-7C60D9A18C52}" destId="{544E611A-A92D-47AE-8209-1291FA008FC7}" srcOrd="1" destOrd="0" parTransId="{257DBADF-88C0-492E-A62A-4A73B487F3F0}" sibTransId="{581760DF-0F87-43C8-AF78-7383A1D234FB}"/>
    <dgm:cxn modelId="{F2F10E88-2076-4B33-A6FD-7D9F58D19910}" type="presOf" srcId="{97EF6E1C-BA7C-4636-98C5-BAF25E72A9EA}" destId="{C00E62EC-C631-4907-A6A9-ACFBFA247E6A}" srcOrd="0" destOrd="0" presId="urn:microsoft.com/office/officeart/2005/8/layout/hProcess9"/>
    <dgm:cxn modelId="{F8063FC1-6BD8-4162-8CB9-8D3139B06914}" type="presOf" srcId="{CC82EFBF-7107-494A-8AAB-7C60D9A18C52}" destId="{7047978F-7B94-453E-9392-49241B4E3952}" srcOrd="0" destOrd="0" presId="urn:microsoft.com/office/officeart/2005/8/layout/hProcess9"/>
    <dgm:cxn modelId="{B1D4D4C1-723D-4F84-B522-078EBCE805CC}" srcId="{CC82EFBF-7107-494A-8AAB-7C60D9A18C52}" destId="{D5F06DD9-2FFF-4343-814C-B31E3889ACCB}" srcOrd="0" destOrd="0" parTransId="{3D5B19E5-87A6-4D3B-9B61-5918DF25FDF0}" sibTransId="{D670B910-3613-4ABD-B4EF-F8302081AD61}"/>
    <dgm:cxn modelId="{32D180CA-215D-4D8E-BC5A-ECBB7F3838EE}" srcId="{CC82EFBF-7107-494A-8AAB-7C60D9A18C52}" destId="{5A9BC8F0-D7E0-407D-82A5-3EE52FE05DF5}" srcOrd="3" destOrd="0" parTransId="{B5075FD9-CDA1-4398-AB61-C112EF4FC073}" sibTransId="{D954C522-4F7C-4CC3-8C16-5B8309720BC8}"/>
    <dgm:cxn modelId="{DFB6F8FE-B388-4003-A03F-230FB289B3D0}" type="presOf" srcId="{5A9BC8F0-D7E0-407D-82A5-3EE52FE05DF5}" destId="{2B39B381-C3F6-40EF-9153-96AC0478B650}" srcOrd="0" destOrd="0" presId="urn:microsoft.com/office/officeart/2005/8/layout/hProcess9"/>
    <dgm:cxn modelId="{A8BE6ECB-571B-444C-9AED-028DA600BB12}" type="presParOf" srcId="{7047978F-7B94-453E-9392-49241B4E3952}" destId="{E8E2B53E-EF74-4B45-95E3-9B5C82B1340C}" srcOrd="0" destOrd="0" presId="urn:microsoft.com/office/officeart/2005/8/layout/hProcess9"/>
    <dgm:cxn modelId="{FF50508F-C8D3-41DC-B2DA-A7CB897F377C}" type="presParOf" srcId="{7047978F-7B94-453E-9392-49241B4E3952}" destId="{A97DD83C-6A98-4091-B61C-9812DDC6BF82}" srcOrd="1" destOrd="0" presId="urn:microsoft.com/office/officeart/2005/8/layout/hProcess9"/>
    <dgm:cxn modelId="{E5C7D865-914A-43F9-A8E5-5D6486FF9CC7}" type="presParOf" srcId="{A97DD83C-6A98-4091-B61C-9812DDC6BF82}" destId="{B5819A44-3F39-4942-91AB-6CD9827FCCA5}" srcOrd="0" destOrd="0" presId="urn:microsoft.com/office/officeart/2005/8/layout/hProcess9"/>
    <dgm:cxn modelId="{F0ECEBC4-E961-4C18-9E84-E14A33C433CD}" type="presParOf" srcId="{A97DD83C-6A98-4091-B61C-9812DDC6BF82}" destId="{13E00F69-C04D-459C-9C6D-52BAA6ABF799}" srcOrd="1" destOrd="0" presId="urn:microsoft.com/office/officeart/2005/8/layout/hProcess9"/>
    <dgm:cxn modelId="{5168CB5F-752A-4896-A6CC-0217EAC4E0A5}" type="presParOf" srcId="{A97DD83C-6A98-4091-B61C-9812DDC6BF82}" destId="{02C6F657-DC22-4874-B839-ED01F19A363A}" srcOrd="2" destOrd="0" presId="urn:microsoft.com/office/officeart/2005/8/layout/hProcess9"/>
    <dgm:cxn modelId="{0A24029F-0FBA-4B53-81C3-8E968BE3D3DE}" type="presParOf" srcId="{A97DD83C-6A98-4091-B61C-9812DDC6BF82}" destId="{8A421316-76C1-42B6-99E9-1E657EFF2B4A}" srcOrd="3" destOrd="0" presId="urn:microsoft.com/office/officeart/2005/8/layout/hProcess9"/>
    <dgm:cxn modelId="{2E504A25-CAB0-4E1D-9DC9-10476FD2A1EB}" type="presParOf" srcId="{A97DD83C-6A98-4091-B61C-9812DDC6BF82}" destId="{C00E62EC-C631-4907-A6A9-ACFBFA247E6A}" srcOrd="4" destOrd="0" presId="urn:microsoft.com/office/officeart/2005/8/layout/hProcess9"/>
    <dgm:cxn modelId="{293D8225-2230-46AA-9AD0-D4BDB887B88F}" type="presParOf" srcId="{A97DD83C-6A98-4091-B61C-9812DDC6BF82}" destId="{990CDBD4-F756-4EED-8B52-90FCFB437DE4}" srcOrd="5" destOrd="0" presId="urn:microsoft.com/office/officeart/2005/8/layout/hProcess9"/>
    <dgm:cxn modelId="{E17C0112-6E1D-4442-982B-6F457DF83C11}" type="presParOf" srcId="{A97DD83C-6A98-4091-B61C-9812DDC6BF82}" destId="{2B39B381-C3F6-40EF-9153-96AC0478B65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D19A2F-77BC-4938-9885-093F435A8A47}">
      <dsp:nvSpPr>
        <dsp:cNvPr id="0" name=""/>
        <dsp:cNvSpPr/>
      </dsp:nvSpPr>
      <dsp:spPr>
        <a:xfrm>
          <a:off x="2057166" y="1404169"/>
          <a:ext cx="1784760" cy="1543890"/>
        </a:xfrm>
        <a:prstGeom prst="hexagon">
          <a:avLst>
            <a:gd name="adj" fmla="val 2857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Cloud migration</a:t>
          </a:r>
        </a:p>
      </dsp:txBody>
      <dsp:txXfrm>
        <a:off x="2352926" y="1660013"/>
        <a:ext cx="1193240" cy="1032202"/>
      </dsp:txXfrm>
    </dsp:sp>
    <dsp:sp modelId="{16108406-D824-48AA-986F-F20B13B82A81}">
      <dsp:nvSpPr>
        <dsp:cNvPr id="0" name=""/>
        <dsp:cNvSpPr/>
      </dsp:nvSpPr>
      <dsp:spPr>
        <a:xfrm>
          <a:off x="3174769" y="665522"/>
          <a:ext cx="673384" cy="580210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B0AA78-D63F-4F3A-AFA6-EAE5E0314406}">
      <dsp:nvSpPr>
        <dsp:cNvPr id="0" name=""/>
        <dsp:cNvSpPr/>
      </dsp:nvSpPr>
      <dsp:spPr>
        <a:xfrm>
          <a:off x="2221568" y="0"/>
          <a:ext cx="1462598" cy="1265319"/>
        </a:xfrm>
        <a:prstGeom prst="hexagon">
          <a:avLst>
            <a:gd name="adj" fmla="val 28570"/>
            <a:gd name="vf" fmla="val 115470"/>
          </a:avLst>
        </a:prstGeom>
        <a:solidFill>
          <a:schemeClr val="accent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Time to customer value</a:t>
          </a:r>
        </a:p>
      </dsp:txBody>
      <dsp:txXfrm>
        <a:off x="2463952" y="209690"/>
        <a:ext cx="977830" cy="845939"/>
      </dsp:txXfrm>
    </dsp:sp>
    <dsp:sp modelId="{322F9847-0308-445A-A02E-9697140899BE}">
      <dsp:nvSpPr>
        <dsp:cNvPr id="0" name=""/>
        <dsp:cNvSpPr/>
      </dsp:nvSpPr>
      <dsp:spPr>
        <a:xfrm>
          <a:off x="3960662" y="1750206"/>
          <a:ext cx="673384" cy="580210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99140C-2F89-460C-BE44-85A64DE59F52}">
      <dsp:nvSpPr>
        <dsp:cNvPr id="0" name=""/>
        <dsp:cNvSpPr/>
      </dsp:nvSpPr>
      <dsp:spPr>
        <a:xfrm>
          <a:off x="3562941" y="778256"/>
          <a:ext cx="1462598" cy="1265319"/>
        </a:xfrm>
        <a:prstGeom prst="hexagon">
          <a:avLst>
            <a:gd name="adj" fmla="val 28570"/>
            <a:gd name="vf" fmla="val 115470"/>
          </a:avLst>
        </a:prstGeom>
        <a:solidFill>
          <a:schemeClr val="accent3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Organize for effectiveness</a:t>
          </a:r>
        </a:p>
      </dsp:txBody>
      <dsp:txXfrm>
        <a:off x="3805325" y="987946"/>
        <a:ext cx="977830" cy="845939"/>
      </dsp:txXfrm>
    </dsp:sp>
    <dsp:sp modelId="{76DF7524-118F-4A3C-8039-C7730AC993D2}">
      <dsp:nvSpPr>
        <dsp:cNvPr id="0" name=""/>
        <dsp:cNvSpPr/>
      </dsp:nvSpPr>
      <dsp:spPr>
        <a:xfrm>
          <a:off x="3414730" y="2974611"/>
          <a:ext cx="673384" cy="580210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AB8E64-BB27-433B-A701-D00D0ADFE0F2}">
      <dsp:nvSpPr>
        <dsp:cNvPr id="0" name=""/>
        <dsp:cNvSpPr/>
      </dsp:nvSpPr>
      <dsp:spPr>
        <a:xfrm>
          <a:off x="3562941" y="2308218"/>
          <a:ext cx="1462598" cy="1265319"/>
        </a:xfrm>
        <a:prstGeom prst="hexagon">
          <a:avLst>
            <a:gd name="adj" fmla="val 28570"/>
            <a:gd name="vf" fmla="val 115470"/>
          </a:avLst>
        </a:prstGeom>
        <a:solidFill>
          <a:srgbClr val="92D05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Digital stability</a:t>
          </a:r>
        </a:p>
      </dsp:txBody>
      <dsp:txXfrm>
        <a:off x="3805325" y="2517908"/>
        <a:ext cx="977830" cy="845939"/>
      </dsp:txXfrm>
    </dsp:sp>
    <dsp:sp modelId="{6A5105C0-DF27-4B27-8885-6430EAC6309F}">
      <dsp:nvSpPr>
        <dsp:cNvPr id="0" name=""/>
        <dsp:cNvSpPr/>
      </dsp:nvSpPr>
      <dsp:spPr>
        <a:xfrm>
          <a:off x="2060487" y="3101709"/>
          <a:ext cx="673384" cy="580210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7699A4-5871-457E-B5AC-85BE314A9854}">
      <dsp:nvSpPr>
        <dsp:cNvPr id="0" name=""/>
        <dsp:cNvSpPr/>
      </dsp:nvSpPr>
      <dsp:spPr>
        <a:xfrm>
          <a:off x="2221568" y="3087345"/>
          <a:ext cx="1462598" cy="1265319"/>
        </a:xfrm>
        <a:prstGeom prst="hexagon">
          <a:avLst>
            <a:gd name="adj" fmla="val 28570"/>
            <a:gd name="vf" fmla="val 115470"/>
          </a:avLst>
        </a:prstGeom>
        <a:solidFill>
          <a:srgbClr val="00B0F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kern="1200" dirty="0"/>
            <a:t>Business Innovation at speed</a:t>
          </a:r>
          <a:endParaRPr lang="en-US" sz="1200" kern="1200" dirty="0"/>
        </a:p>
      </dsp:txBody>
      <dsp:txXfrm>
        <a:off x="2463952" y="3297035"/>
        <a:ext cx="977830" cy="845939"/>
      </dsp:txXfrm>
    </dsp:sp>
    <dsp:sp modelId="{49B31C55-29E4-4F65-B048-7407A37441AB}">
      <dsp:nvSpPr>
        <dsp:cNvPr id="0" name=""/>
        <dsp:cNvSpPr/>
      </dsp:nvSpPr>
      <dsp:spPr>
        <a:xfrm>
          <a:off x="1261725" y="2017460"/>
          <a:ext cx="673384" cy="580210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C1BEF1-AC06-4D76-AA94-62F6EB75537B}">
      <dsp:nvSpPr>
        <dsp:cNvPr id="0" name=""/>
        <dsp:cNvSpPr/>
      </dsp:nvSpPr>
      <dsp:spPr>
        <a:xfrm>
          <a:off x="873968" y="2309088"/>
          <a:ext cx="1462598" cy="1265319"/>
        </a:xfrm>
        <a:prstGeom prst="hexagon">
          <a:avLst>
            <a:gd name="adj" fmla="val 28570"/>
            <a:gd name="vf" fmla="val 115470"/>
          </a:avLst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Enable transformation</a:t>
          </a:r>
        </a:p>
      </dsp:txBody>
      <dsp:txXfrm>
        <a:off x="1116352" y="2518778"/>
        <a:ext cx="977830" cy="845939"/>
      </dsp:txXfrm>
    </dsp:sp>
    <dsp:sp modelId="{C5A425D9-4151-4A77-AD71-BFDEBC1E8358}">
      <dsp:nvSpPr>
        <dsp:cNvPr id="0" name=""/>
        <dsp:cNvSpPr/>
      </dsp:nvSpPr>
      <dsp:spPr>
        <a:xfrm>
          <a:off x="873968" y="776515"/>
          <a:ext cx="1462598" cy="1265319"/>
        </a:xfrm>
        <a:prstGeom prst="hexagon">
          <a:avLst>
            <a:gd name="adj" fmla="val 28570"/>
            <a:gd name="vf" fmla="val 115470"/>
          </a:avLst>
        </a:prstGeom>
        <a:solidFill>
          <a:srgbClr val="FF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Intelligent </a:t>
          </a:r>
          <a:r>
            <a:rPr lang="en-US" altLang="zh-CN" sz="1200" kern="1200" dirty="0"/>
            <a:t>automation</a:t>
          </a:r>
          <a:endParaRPr lang="en-US" sz="1200" kern="1200" dirty="0"/>
        </a:p>
      </dsp:txBody>
      <dsp:txXfrm>
        <a:off x="1116352" y="986205"/>
        <a:ext cx="977830" cy="8459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E2B53E-EF74-4B45-95E3-9B5C82B1340C}">
      <dsp:nvSpPr>
        <dsp:cNvPr id="0" name=""/>
        <dsp:cNvSpPr/>
      </dsp:nvSpPr>
      <dsp:spPr>
        <a:xfrm>
          <a:off x="887011" y="0"/>
          <a:ext cx="10052792" cy="1705033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9A44-3F39-4942-91AB-6CD9827FCCA5}">
      <dsp:nvSpPr>
        <dsp:cNvPr id="0" name=""/>
        <dsp:cNvSpPr/>
      </dsp:nvSpPr>
      <dsp:spPr>
        <a:xfrm>
          <a:off x="404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Data</a:t>
          </a:r>
        </a:p>
      </dsp:txBody>
      <dsp:txXfrm>
        <a:off x="37335" y="544802"/>
        <a:ext cx="2559798" cy="615427"/>
      </dsp:txXfrm>
    </dsp:sp>
    <dsp:sp modelId="{02C6F657-DC22-4874-B839-ED01F19A363A}">
      <dsp:nvSpPr>
        <dsp:cNvPr id="0" name=""/>
        <dsp:cNvSpPr/>
      </dsp:nvSpPr>
      <dsp:spPr>
        <a:xfrm>
          <a:off x="3068157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Data Prep</a:t>
          </a:r>
          <a:endParaRPr lang="en-US" sz="2800" kern="1200" dirty="0"/>
        </a:p>
      </dsp:txBody>
      <dsp:txXfrm>
        <a:off x="3101450" y="544802"/>
        <a:ext cx="2559798" cy="615427"/>
      </dsp:txXfrm>
    </dsp:sp>
    <dsp:sp modelId="{C00E62EC-C631-4907-A6A9-ACFBFA247E6A}">
      <dsp:nvSpPr>
        <dsp:cNvPr id="0" name=""/>
        <dsp:cNvSpPr/>
      </dsp:nvSpPr>
      <dsp:spPr>
        <a:xfrm>
          <a:off x="613227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model</a:t>
          </a:r>
        </a:p>
      </dsp:txBody>
      <dsp:txXfrm>
        <a:off x="6165565" y="544802"/>
        <a:ext cx="2559798" cy="615427"/>
      </dsp:txXfrm>
    </dsp:sp>
    <dsp:sp modelId="{2B39B381-C3F6-40EF-9153-96AC0478B650}">
      <dsp:nvSpPr>
        <dsp:cNvPr id="0" name=""/>
        <dsp:cNvSpPr/>
      </dsp:nvSpPr>
      <dsp:spPr>
        <a:xfrm>
          <a:off x="9196388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output</a:t>
          </a:r>
        </a:p>
      </dsp:txBody>
      <dsp:txXfrm>
        <a:off x="9229681" y="544802"/>
        <a:ext cx="2559798" cy="6154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HexagonRadial">
  <dgm:title val="Hexagon Radial"/>
  <dgm:desc val="Use to show a sequential process that relates to a central idea or theme. Limited to six Level 2 shapes. Works best with small amounts of text. Unused text does not appear, but remains available if you switch layouts."/>
  <dgm:catLst>
    <dgm:cat type="cycle" pri="8500"/>
    <dgm:cat type="officeonline" pri="9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5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l" for="ch" forName="Accent1" refType="w" fact="0.168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l" for="ch" forName="Parent" refType="w" fact="0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6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l" for="ch" forName="Accent2" refType="w" fact="0.6413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Parent" refType="w" fact="0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l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7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3" refType="w" fact="0.4573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l" for="ch" forName="Accent2" refType="w" fact="0.6413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3" refType="w" fact="0.0554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l" for="ch" forName="Parent" refType="w" fact="0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l" for="ch" forName="Child2" refType="w" fact="0.5073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8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4" refType="w" fact="0.4573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l" for="ch" forName="Accent3" refType="w" fact="0.6413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l" for="ch" forName="Accent2" refType="w" fact="0.376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0554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l" for="ch" forName="Parent" refType="w" fact="0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l" for="ch" forName="Child2" refType="w" fact="0.5073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l" for="ch" forName="Child3" refType="w" fact="0.5073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l" for="ch" forName="Child1" refType="w" fact="0.0554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9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0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l" for="ch" forName="Accent6" refType="w" fact="0.0934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6" refType="w" fact="0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if>
      <dgm:else name="Name11">
        <dgm:choose name="Name12">
          <dgm:if name="Name13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14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r" for="ch" forName="Accent1" refType="w" fact="0.831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r" for="ch" forName="Parent" refType="w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15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r" for="ch" forName="Accent2" refType="w" fact="0.3587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Parent" refType="w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r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16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Accent3" refType="w" fact="0.5427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r" for="ch" forName="Accent2" refType="w" fact="0.3587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3" refType="w" fact="0.9446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r" for="ch" forName="Parent" refType="w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r" for="ch" forName="Child2" refType="w" fact="0.4927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17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Accent4" refType="w" fact="0.5427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r" for="ch" forName="Accent3" refType="w" fact="0.3587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r" for="ch" forName="Accent2" refType="w" fact="0.623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9446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r" for="ch" forName="Parent" refType="w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r" for="ch" forName="Child2" refType="w" fact="0.4927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r" for="ch" forName="Child3" refType="w" fact="0.4927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r" for="ch" forName="Child1" refType="w" fact="0.9446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18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9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r" for="ch" forName="Accent6" refType="w" fact="0.9066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6" refType="w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else>
    </dgm:choose>
    <dgm:forEach name="wrapper" axis="self" ptType="parTrans">
      <dgm:forEach name="accentRepeat" axis="self">
        <dgm:layoutNode name="Accent" styleLbl="bgShp">
          <dgm:alg type="sp"/>
          <dgm:shape xmlns:r="http://schemas.openxmlformats.org/officeDocument/2006/relationships" type="hexagon" r:blip="" zOrderOff="-2">
            <dgm:adjLst>
              <dgm:adj idx="1" val="0.289"/>
              <dgm:adj idx="2" val="1.1547"/>
            </dgm:adjLst>
          </dgm:shape>
          <dgm:presOf/>
        </dgm:layoutNode>
      </dgm:forEach>
    </dgm:forEach>
    <dgm:forEach name="Name20" axis="ch" ptType="node" cnt="1">
      <dgm:layoutNode name="Parent" styleLbl="node0">
        <dgm:varLst>
          <dgm:chMax val="6"/>
          <dgm:chPref val="6"/>
        </dgm:varLst>
        <dgm:alg type="tx"/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self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1" axis="ch ch" ptType="node node" st="1 1" cnt="1 1">
      <dgm:layoutNode name="Accent1">
        <dgm:alg type="sp"/>
        <dgm:shape xmlns:r="http://schemas.openxmlformats.org/officeDocument/2006/relationships" r:blip="" zOrderOff="-2">
          <dgm:adjLst/>
        </dgm:shape>
        <dgm:presOf/>
        <dgm:constrLst/>
        <dgm:forEach name="Name22" ref="accentRepeat"/>
      </dgm:layoutNode>
      <dgm:layoutNode name="Child1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3" axis="ch ch" ptType="node node" st="1 2" cnt="1 1">
      <dgm:layoutNode name="Accent2">
        <dgm:alg type="sp"/>
        <dgm:shape xmlns:r="http://schemas.openxmlformats.org/officeDocument/2006/relationships" r:blip="" zOrderOff="-2">
          <dgm:adjLst/>
        </dgm:shape>
        <dgm:presOf/>
        <dgm:constrLst/>
        <dgm:forEach name="Name24" ref="accentRepeat"/>
      </dgm:layoutNode>
      <dgm:layoutNode name="Child2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5" axis="ch ch" ptType="node node" st="1 3" cnt="1 1">
      <dgm:layoutNode name="Accent3">
        <dgm:alg type="sp"/>
        <dgm:shape xmlns:r="http://schemas.openxmlformats.org/officeDocument/2006/relationships" r:blip="" zOrderOff="-2">
          <dgm:adjLst/>
        </dgm:shape>
        <dgm:presOf/>
        <dgm:constrLst/>
        <dgm:forEach name="Name26" ref="accentRepeat"/>
      </dgm:layoutNode>
      <dgm:layoutNode name="Child3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7" axis="ch ch" ptType="node node" st="1 4" cnt="1 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28" ref="accentRepeat"/>
      </dgm:layoutNode>
      <dgm:layoutNode name="Child4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9" axis="ch ch" ptType="node node" st="1 5" cnt="1 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5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31" axis="ch ch" ptType="node node" st="1 6" cnt="1 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32" ref="accentRepeat"/>
      </dgm:layoutNode>
      <dgm:layoutNode name="Child6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7" Type="http://schemas.openxmlformats.org/officeDocument/2006/relationships/hyperlink" Target="https://github.com/CSOIreland/Code-Transcompiler-using-LLMs-public/blob/main/README.md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snr/sas-to-r" TargetMode="External"/><Relationship Id="rId5" Type="http://schemas.openxmlformats.org/officeDocument/2006/relationships/hyperlink" Target="https://builder.aws.com/content/2cKbgI3WsAYTiDM0J48uEMVqOVW/understanding-the-7-rs-cloud-migration-strategies" TargetMode="External"/><Relationship Id="rId4" Type="http://schemas.openxmlformats.org/officeDocument/2006/relationships/hyperlink" Target="https://aws.amazon.com/what-is/cloud-migration-strategy/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17" y="311771"/>
            <a:ext cx="12056165" cy="2387600"/>
          </a:xfrm>
        </p:spPr>
        <p:txBody>
          <a:bodyPr>
            <a:normAutofit fontScale="90000"/>
          </a:bodyPr>
          <a:lstStyle/>
          <a:p>
            <a:r>
              <a:rPr lang="en-US" sz="8000" b="1" dirty="0">
                <a:latin typeface="+mn-lt"/>
                <a:cs typeface="Times New Roman" panose="02020603050405020304" pitchFamily="18" charset="0"/>
              </a:rPr>
              <a:t>From On-Premise</a:t>
            </a:r>
            <a:r>
              <a:rPr lang="en-US" altLang="zh-CN" sz="8000" b="1" dirty="0">
                <a:latin typeface="+mn-lt"/>
                <a:cs typeface="Times New Roman" panose="02020603050405020304" pitchFamily="18" charset="0"/>
              </a:rPr>
              <a:t>s</a:t>
            </a:r>
            <a:r>
              <a:rPr lang="en-US" sz="8000" b="1" dirty="0">
                <a:latin typeface="+mn-lt"/>
                <a:cs typeface="Times New Roman" panose="02020603050405020304" pitchFamily="18" charset="0"/>
              </a:rPr>
              <a:t> to Cloud: </a:t>
            </a:r>
            <a:br>
              <a:rPr lang="en-US" b="1" dirty="0">
                <a:latin typeface="+mn-lt"/>
                <a:cs typeface="Times New Roman" panose="02020603050405020304" pitchFamily="18" charset="0"/>
              </a:rPr>
            </a:br>
            <a:br>
              <a:rPr lang="en-US" sz="3200" b="1" dirty="0">
                <a:latin typeface="+mn-lt"/>
                <a:cs typeface="Times New Roman" panose="02020603050405020304" pitchFamily="18" charset="0"/>
              </a:rPr>
            </a:br>
            <a:r>
              <a:rPr lang="en-US" sz="3600" b="1" dirty="0">
                <a:latin typeface="+mn-lt"/>
                <a:cs typeface="Times New Roman" panose="02020603050405020304" pitchFamily="18" charset="0"/>
              </a:rPr>
              <a:t>Lessons Learned from an Enterprise AWS Migration at Fannie Mae</a:t>
            </a:r>
            <a:endParaRPr lang="en-US" sz="36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8629"/>
            <a:ext cx="9144000" cy="1655762"/>
          </a:xfrm>
        </p:spPr>
        <p:txBody>
          <a:bodyPr/>
          <a:lstStyle/>
          <a:p>
            <a:r>
              <a:rPr lang="en-US" altLang="zh-CN" b="1" dirty="0">
                <a:cs typeface="Times New Roman" panose="02020603050405020304" pitchFamily="18" charset="0"/>
              </a:rPr>
              <a:t>Wujian Xue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Oct 2026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0338-C315-D975-5D8F-2109AEE0C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E6403-ACCF-DA80-E763-D2DE51B20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600" dirty="0"/>
              <a:t>Background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Cloud Migration at Fannie Mae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My work in the migration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Additional value: Efficiency and Accuracy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Gen AI and future of code conversion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BC297-F8DE-1784-BFD2-67AEED894C57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15355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4F433-6378-4049-F2C3-EE92E0049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92132" cy="1325563"/>
          </a:xfrm>
        </p:spPr>
        <p:txBody>
          <a:bodyPr/>
          <a:lstStyle/>
          <a:p>
            <a:r>
              <a:rPr lang="en-US" dirty="0"/>
              <a:t>1.Background – Fannie Mae and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38B1-29DE-A684-2D91-585BAAF4F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815" y="1498251"/>
            <a:ext cx="5691996" cy="585066"/>
          </a:xfrm>
        </p:spPr>
        <p:txBody>
          <a:bodyPr/>
          <a:lstStyle/>
          <a:p>
            <a:r>
              <a:rPr lang="en-US" dirty="0"/>
              <a:t>What is the problem and why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AE49C-C251-F75B-7AAE-63C6E1173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44" y="2379680"/>
            <a:ext cx="2301815" cy="12081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F343E3-B481-8821-EE0D-C79034097980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F3816E-67F8-3536-C248-C26EC415F2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925" y="4317361"/>
            <a:ext cx="5918075" cy="2084776"/>
          </a:xfrm>
          <a:prstGeom prst="rect">
            <a:avLst/>
          </a:prstGeom>
        </p:spPr>
      </p:pic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09CA8B3-F6AF-00DD-B037-578938DDCF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5743466"/>
              </p:ext>
            </p:extLst>
          </p:nvPr>
        </p:nvGraphicFramePr>
        <p:xfrm>
          <a:off x="6292491" y="2083317"/>
          <a:ext cx="5899509" cy="4352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985780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F882F-D782-9FDA-A7C4-638CA99A4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DA0EB-8A86-C17A-5138-140FA594D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92132" cy="1325563"/>
          </a:xfrm>
        </p:spPr>
        <p:txBody>
          <a:bodyPr/>
          <a:lstStyle/>
          <a:p>
            <a:r>
              <a:rPr lang="en-US" dirty="0"/>
              <a:t>1.Background – Fannie Mae and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FE67F2-C177-752E-1FA2-340506D3C9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815" y="1498251"/>
            <a:ext cx="5691996" cy="585066"/>
          </a:xfrm>
        </p:spPr>
        <p:txBody>
          <a:bodyPr/>
          <a:lstStyle/>
          <a:p>
            <a:r>
              <a:rPr lang="en-US" dirty="0"/>
              <a:t>What is the problem and why</a:t>
            </a:r>
          </a:p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5FC91A-FA92-5907-9456-EA27FC61D67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0F641-F8E6-3057-3D70-DDCFE5551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650" y="2307348"/>
            <a:ext cx="2007612" cy="20076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6480D7-26D2-3482-A7ED-592B9035E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676" y="4538992"/>
            <a:ext cx="1953883" cy="19538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83B4DBD-0145-6AEA-FF24-821FDDB1F4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734" y="4692020"/>
            <a:ext cx="2962275" cy="16478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279E0B5-B727-D5A9-055D-3DC0F311CE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0350" y="2826494"/>
            <a:ext cx="2174759" cy="12050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E0E9E8-3561-D27F-FB1C-BD3FE6C2A0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2573" y="2573648"/>
            <a:ext cx="1699245" cy="1130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633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FB569-8DFD-66E2-48FC-0E51EBAA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96B7E-4004-A095-EE40-DCB4D9B6C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B221D-14C4-F1B4-56D8-C8BBFA8E58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166" y="1611893"/>
            <a:ext cx="8228162" cy="512133"/>
          </a:xfrm>
        </p:spPr>
        <p:txBody>
          <a:bodyPr/>
          <a:lstStyle/>
          <a:p>
            <a:r>
              <a:rPr lang="en-US" altLang="zh-CN" dirty="0"/>
              <a:t>Cloud adoption is a key for the digital transformation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BC3A5D-6610-AA58-25BF-30BC75C3918A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BA9E7C-9A80-3F03-CBAB-AD3A076105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169" y="2902760"/>
            <a:ext cx="4140679" cy="34289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5523028-E3C7-8565-37A0-0CFFDC70841B}"/>
              </a:ext>
            </a:extLst>
          </p:cNvPr>
          <p:cNvSpPr txBox="1"/>
          <p:nvPr/>
        </p:nvSpPr>
        <p:spPr>
          <a:xfrm>
            <a:off x="8403045" y="2268204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</p:spTree>
    <p:extLst>
      <p:ext uri="{BB962C8B-B14F-4D97-AF65-F5344CB8AC3E}">
        <p14:creationId xmlns:p14="http://schemas.microsoft.com/office/powerpoint/2010/main" val="6390173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EECB-BE89-FA10-B559-C2D06E9B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C73C9-79BC-BE4B-D99B-67D620D66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0902" cy="4351338"/>
          </a:xfrm>
        </p:spPr>
        <p:txBody>
          <a:bodyPr/>
          <a:lstStyle/>
          <a:p>
            <a:r>
              <a:rPr lang="en-US" dirty="0"/>
              <a:t>What has been done about it?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B55003-FA9F-622B-44E4-FC338B76A12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1A128A-3E1F-2F81-712A-3809EA2AC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618" y="2410690"/>
            <a:ext cx="3642982" cy="30168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02E16F-7A83-3FFA-BF0B-8B32BA61716B}"/>
              </a:ext>
            </a:extLst>
          </p:cNvPr>
          <p:cNvSpPr txBox="1"/>
          <p:nvPr/>
        </p:nvSpPr>
        <p:spPr>
          <a:xfrm>
            <a:off x="8279058" y="1698736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8087BF-A1B2-3CB3-9920-38BE92E3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413" y="3623715"/>
            <a:ext cx="1290890" cy="8618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282124-3EF7-4252-3560-5FC11F8C46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413" y="5194362"/>
            <a:ext cx="1877291" cy="7696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7C989E-9BF8-3A3A-3F0C-0FFB672243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3295" y="3501925"/>
            <a:ext cx="2143471" cy="8031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BA16AA-692D-7041-DE6B-C2AAAA535B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690" y="4997264"/>
            <a:ext cx="2862262" cy="96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866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86BA-7B79-D560-2DEE-637F0E8C8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7F5B2-2031-0D7D-9030-AC5DD355E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My work in the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CAF14-6B14-4040-C260-9DEF69839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has been done about it?</a:t>
            </a:r>
          </a:p>
          <a:p>
            <a:r>
              <a:rPr lang="en-US" dirty="0"/>
              <a:t>EMA team single family loss severity and cash flow.</a:t>
            </a:r>
          </a:p>
          <a:p>
            <a:r>
              <a:rPr lang="en-US" dirty="0"/>
              <a:t>Loss severity = dollar loss / unpaid principle balance(UPB)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F68606-9E81-E44C-879B-FB4E3B5113C4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147120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6789-BA5D-116A-9606-AAEF943A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A65D244A-BC2B-A613-E67C-48CF73C5F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1776967"/>
              </p:ext>
            </p:extLst>
          </p:nvPr>
        </p:nvGraphicFramePr>
        <p:xfrm>
          <a:off x="146649" y="1525848"/>
          <a:ext cx="11826815" cy="17050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6AB3908-57C4-C0B7-4C30-8AC2917A9C16}"/>
              </a:ext>
            </a:extLst>
          </p:cNvPr>
          <p:cNvSpPr txBox="1">
            <a:spLocks/>
          </p:cNvSpPr>
          <p:nvPr/>
        </p:nvSpPr>
        <p:spPr>
          <a:xfrm>
            <a:off x="146648" y="3079730"/>
            <a:ext cx="3087153" cy="3200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400" dirty="0"/>
              <a:t>Convert sas7bdat to </a:t>
            </a:r>
            <a:r>
              <a:rPr lang="en-US" sz="7400" dirty="0" err="1"/>
              <a:t>rds</a:t>
            </a:r>
            <a:endParaRPr lang="en-US" sz="7400" dirty="0"/>
          </a:p>
          <a:p>
            <a:r>
              <a:rPr lang="en-US" sz="7400" dirty="0"/>
              <a:t>Import dataset</a:t>
            </a:r>
          </a:p>
          <a:p>
            <a:r>
              <a:rPr lang="en-US" sz="7400" dirty="0"/>
              <a:t>Data format: sas7bdat/</a:t>
            </a:r>
            <a:r>
              <a:rPr lang="en-US" sz="7400" dirty="0" err="1"/>
              <a:t>rds</a:t>
            </a:r>
            <a:r>
              <a:rPr lang="en-US" sz="7400" dirty="0"/>
              <a:t>/parquet</a:t>
            </a:r>
          </a:p>
          <a:p>
            <a:endParaRPr lang="en-US" sz="7400" dirty="0"/>
          </a:p>
          <a:p>
            <a:r>
              <a:rPr lang="en-US" sz="7400" dirty="0"/>
              <a:t>date/month/time,</a:t>
            </a:r>
          </a:p>
          <a:p>
            <a:r>
              <a:rPr lang="en-US" altLang="zh-CN" sz="7400" dirty="0"/>
              <a:t>Origin date</a:t>
            </a:r>
            <a:endParaRPr lang="en-US" sz="7400" dirty="0"/>
          </a:p>
          <a:p>
            <a:r>
              <a:rPr lang="en-US" sz="7400" dirty="0"/>
              <a:t>missing values, </a:t>
            </a:r>
          </a:p>
          <a:p>
            <a:r>
              <a:rPr lang="en-US" sz="7400" dirty="0"/>
              <a:t>N/A </a:t>
            </a:r>
          </a:p>
          <a:p>
            <a:r>
              <a:rPr lang="en-US" sz="7400" dirty="0"/>
              <a:t>Updated monthly</a:t>
            </a:r>
          </a:p>
          <a:p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1472C4E-723B-DF16-860A-479E2B15B381}"/>
              </a:ext>
            </a:extLst>
          </p:cNvPr>
          <p:cNvSpPr txBox="1">
            <a:spLocks/>
          </p:cNvSpPr>
          <p:nvPr/>
        </p:nvSpPr>
        <p:spPr>
          <a:xfrm>
            <a:off x="3260785" y="3079730"/>
            <a:ext cx="302245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Variables: filter data </a:t>
            </a:r>
          </a:p>
          <a:p>
            <a:r>
              <a:rPr lang="en-US" sz="2400" dirty="0"/>
              <a:t>merge tables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Concatenate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(with n= dataset option)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(if a and b)</a:t>
            </a:r>
          </a:p>
          <a:p>
            <a:pPr marL="228600" lvl="1">
              <a:spcBef>
                <a:spcPts val="1000"/>
              </a:spcBef>
            </a:pPr>
            <a:r>
              <a:rPr lang="en-US" altLang="zh-CN" dirty="0"/>
              <a:t>Loops: 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altLang="zh-CN" dirty="0"/>
              <a:t>do until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dirty="0"/>
              <a:t>Nested do loops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A66A781-E17E-6043-235A-E5DF2C57F5D7}"/>
              </a:ext>
            </a:extLst>
          </p:cNvPr>
          <p:cNvSpPr txBox="1">
            <a:spLocks/>
          </p:cNvSpPr>
          <p:nvPr/>
        </p:nvSpPr>
        <p:spPr>
          <a:xfrm>
            <a:off x="6310224" y="2923282"/>
            <a:ext cx="3334107" cy="796805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Spline in Linear/logistic regression</a:t>
            </a:r>
          </a:p>
          <a:p>
            <a:r>
              <a:rPr lang="en-US" dirty="0"/>
              <a:t>Two </a:t>
            </a:r>
            <a:r>
              <a:rPr lang="en-US"/>
              <a:t>step regression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0C66BB-B97B-380D-5781-54F8B1CBEC03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88703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CD0B7-14BF-9591-2491-51EC0B8A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6B53C-360B-A7DC-1397-EE5C9B1C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SAS Steps/Proc vs R package/functions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9187F8-9708-A2D8-B314-1950D2AA2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56" y="1690688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93ED12-F9C4-7300-59D7-16AC18085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404" y="1690688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7EB734-6903-49D5-A647-AE7BC6E4E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0581" y="1608873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2E8D98-C1AD-CCC4-08D9-50F3BE804787}"/>
              </a:ext>
            </a:extLst>
          </p:cNvPr>
          <p:cNvSpPr txBox="1">
            <a:spLocks/>
          </p:cNvSpPr>
          <p:nvPr/>
        </p:nvSpPr>
        <p:spPr>
          <a:xfrm>
            <a:off x="4574363" y="2735206"/>
            <a:ext cx="2233762" cy="34131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/>
              <a:t>tidyverse</a:t>
            </a:r>
            <a:r>
              <a:rPr lang="en-US" altLang="zh-CN" dirty="0"/>
              <a:t>, </a:t>
            </a:r>
          </a:p>
          <a:p>
            <a:r>
              <a:rPr lang="en-US" altLang="zh-CN" dirty="0"/>
              <a:t>arsenal,</a:t>
            </a:r>
          </a:p>
          <a:p>
            <a:r>
              <a:rPr lang="en-US" altLang="zh-CN" dirty="0"/>
              <a:t>Haven</a:t>
            </a:r>
          </a:p>
          <a:p>
            <a:r>
              <a:rPr lang="en-US" altLang="zh-CN" dirty="0" err="1"/>
              <a:t>aod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0C96031-E926-D7AB-F4F4-6F05AB855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016" y="2735206"/>
            <a:ext cx="4012387" cy="468559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PROC TABULATE – </a:t>
            </a:r>
            <a:r>
              <a:rPr lang="en-US" dirty="0" err="1"/>
              <a:t>summarise</a:t>
            </a:r>
            <a:r>
              <a:rPr lang="en-US" dirty="0"/>
              <a:t>()</a:t>
            </a:r>
          </a:p>
          <a:p>
            <a:r>
              <a:rPr lang="en-US" dirty="0"/>
              <a:t>PROC GENMOD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D43CC5-CEC4-33F3-BEEC-1F69BADAA8C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421575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95404-4793-4153-45B6-147571F0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2713-65CC-0B2F-4169-1F342A16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25A04A-A19E-03F6-5A6F-E66D9D66B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61936" cy="79680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Convert in 4 methods</a:t>
            </a:r>
          </a:p>
          <a:p>
            <a:r>
              <a:rPr lang="en-US" dirty="0"/>
              <a:t>Page 99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076FA3-9937-CE0D-6532-8C7B6F12DE9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10505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74CE9-62D6-2BB2-E61F-1B1261FA1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12F8B-F4C9-4874-7DA4-22CD5867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C23D4-DEEC-D0CD-B063-D5658C59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347216"/>
            <a:ext cx="5277727" cy="3543961"/>
          </a:xfrm>
        </p:spPr>
        <p:txBody>
          <a:bodyPr>
            <a:normAutofit/>
          </a:bodyPr>
          <a:lstStyle/>
          <a:p>
            <a:r>
              <a:rPr lang="en-US" dirty="0"/>
              <a:t>What have I done about it?</a:t>
            </a:r>
          </a:p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altLang="zh-CN" dirty="0"/>
              <a:t>SAS: PROC compare</a:t>
            </a:r>
          </a:p>
          <a:p>
            <a:r>
              <a:rPr lang="en-US" dirty="0"/>
              <a:t>R: compared</a:t>
            </a:r>
          </a:p>
          <a:p>
            <a:r>
              <a:rPr lang="en-US" dirty="0"/>
              <a:t>How to make a tolerance level?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42BA1-1151-4CFE-D8B5-E02DDD41A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97" y="5207810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4468B4-F5B5-FE68-0C47-CC2309DE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264" y="5174343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AC54FE-1225-9162-8A7B-6CAB854D7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4702" y="5210176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DAD067-F15E-9C00-BF8C-B324CCAB9A23}"/>
              </a:ext>
            </a:extLst>
          </p:cNvPr>
          <p:cNvSpPr txBox="1">
            <a:spLocks/>
          </p:cNvSpPr>
          <p:nvPr/>
        </p:nvSpPr>
        <p:spPr>
          <a:xfrm>
            <a:off x="6304675" y="1347216"/>
            <a:ext cx="434949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dirty="0"/>
              <a:t>Data: date/month/time, missing values, N/A</a:t>
            </a:r>
          </a:p>
          <a:p>
            <a:r>
              <a:rPr lang="en-US" dirty="0"/>
              <a:t>Variables: filter data, </a:t>
            </a:r>
          </a:p>
          <a:p>
            <a:r>
              <a:rPr lang="en-US" dirty="0"/>
              <a:t>merge tables</a:t>
            </a:r>
          </a:p>
          <a:p>
            <a:pPr lvl="1"/>
            <a:r>
              <a:rPr lang="en-US" dirty="0"/>
              <a:t>Concatenate</a:t>
            </a:r>
          </a:p>
          <a:p>
            <a:pPr lvl="1"/>
            <a:r>
              <a:rPr lang="en-US" dirty="0"/>
              <a:t>match merging (with n= dataset option)</a:t>
            </a:r>
          </a:p>
          <a:p>
            <a:r>
              <a:rPr lang="en-US" dirty="0"/>
              <a:t>Models: logistic regression with splines</a:t>
            </a:r>
          </a:p>
          <a:p>
            <a:pPr lvl="1"/>
            <a:r>
              <a:rPr lang="en-US" dirty="0"/>
              <a:t>Choose number and location of the knots.</a:t>
            </a:r>
          </a:p>
          <a:p>
            <a:r>
              <a:rPr lang="en-US" dirty="0"/>
              <a:t>Macro functions</a:t>
            </a:r>
          </a:p>
          <a:p>
            <a:r>
              <a:rPr lang="en-US" dirty="0"/>
              <a:t>Output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B02195-335B-6B7B-3FC8-0E3B8884489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97000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A0D58-006F-0ED1-D928-9053639D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C0A5E-A212-3E5A-61F0-5486D95F0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R/ Python is slower than</a:t>
            </a:r>
          </a:p>
          <a:p>
            <a:r>
              <a:rPr lang="en-US" altLang="zh-CN" dirty="0"/>
              <a:t>Do loop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4596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73D30-F5D8-4541-A08A-A1F0FD253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𝐻𝑜𝑚𝑒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𝑝𝑟𝑖𝑐𝑒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Var2 and var3 have differences at  E-09 level.</a:t>
                </a:r>
              </a:p>
              <a:p>
                <a:r>
                  <a:rPr lang="en-US" dirty="0"/>
                  <a:t>Home price is a large number, </a:t>
                </a:r>
              </a:p>
              <a:p>
                <a:pPr lvl="1"/>
                <a:r>
                  <a:rPr lang="en-US" dirty="0"/>
                  <a:t>e.g. $1,000,000, </a:t>
                </a:r>
              </a:p>
              <a:p>
                <a:pPr lvl="1"/>
                <a:r>
                  <a:rPr lang="en-US" dirty="0"/>
                  <a:t>median house price in the U.S. :$430,000</a:t>
                </a:r>
              </a:p>
              <a:p>
                <a:r>
                  <a:rPr lang="en-US" dirty="0"/>
                  <a:t>Var 1 are different</a:t>
                </a:r>
              </a:p>
              <a:p>
                <a:r>
                  <a:rPr lang="en-US" dirty="0"/>
                  <a:t>This can be applied to many cases, such as population, distance.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4B99E25-EC46-C1F5-C053-56B96913954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973137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1B93-71FC-ED4E-DAD1-2DC88351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Merge Tables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A8754-420C-E67C-1B6E-990DE7260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510015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6558-4EC7-F455-AEE9-D12FD0A8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E68B-3CB9-4EB7-342D-A9E2A3772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additional value does my approach provide?</a:t>
            </a:r>
          </a:p>
        </p:txBody>
      </p:sp>
    </p:spTree>
    <p:extLst>
      <p:ext uri="{BB962C8B-B14F-4D97-AF65-F5344CB8AC3E}">
        <p14:creationId xmlns:p14="http://schemas.microsoft.com/office/powerpoint/2010/main" val="331261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1912-C0D5-AF85-91B0-7D9532929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637E-A23A-F19C-2EC6-9A9B52F8A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do we go from there?</a:t>
            </a:r>
          </a:p>
          <a:p>
            <a:r>
              <a:rPr lang="en-US" dirty="0"/>
              <a:t>Tech in 2020 seems pretty old at 2026. So how will we see in 2030?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881C29-D8CF-F939-8E3B-1003A5511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102" y="2949940"/>
            <a:ext cx="6998898" cy="371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3219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5071-DC72-93E5-9B2F-5F473699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456FF-E78F-8DA1-FCFF-D93708555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hlinkClick r:id="rId2"/>
              </a:rPr>
              <a:t>AWS </a:t>
            </a:r>
            <a:r>
              <a:rPr lang="en-US" sz="2000" dirty="0" err="1">
                <a:hlinkClick r:id="rId2"/>
              </a:rPr>
              <a:t>re:Invent</a:t>
            </a:r>
            <a:r>
              <a:rPr lang="en-US" sz="2000" dirty="0">
                <a:hlinkClick r:id="rId2"/>
              </a:rPr>
              <a:t> 2021 - Fannie Mae: Migrating at scale without lifting and shifting</a:t>
            </a:r>
            <a:endParaRPr lang="en-US" sz="2000" dirty="0"/>
          </a:p>
          <a:p>
            <a:r>
              <a:rPr lang="en-US" sz="2000" dirty="0">
                <a:hlinkClick r:id="rId3"/>
              </a:rPr>
              <a:t>Fannie Mae’s Digital Transformation Journey with AWS | Amazon Web Services</a:t>
            </a:r>
            <a:endParaRPr lang="en-US" sz="2000" dirty="0"/>
          </a:p>
          <a:p>
            <a:r>
              <a:rPr lang="en-US" sz="2000" dirty="0">
                <a:hlinkClick r:id="rId4"/>
              </a:rPr>
              <a:t>What is a Cloud Migration Strategy? - Cloud Migration Strategy Explained – AWS</a:t>
            </a:r>
            <a:endParaRPr lang="en-US" sz="2000" dirty="0"/>
          </a:p>
          <a:p>
            <a:r>
              <a:rPr lang="en-US" sz="2000" dirty="0">
                <a:hlinkClick r:id="rId5"/>
              </a:rPr>
              <a:t>Understanding the “7 Rs” - Cloud Migration Strategies | AWS Builder Center</a:t>
            </a:r>
            <a:endParaRPr lang="en-US" sz="2000" dirty="0"/>
          </a:p>
          <a:p>
            <a:r>
              <a:rPr lang="en-US" sz="2000" dirty="0" err="1">
                <a:hlinkClick r:id="rId6"/>
              </a:rPr>
              <a:t>asnr</a:t>
            </a:r>
            <a:r>
              <a:rPr lang="en-US" sz="2000" dirty="0">
                <a:hlinkClick r:id="rId6"/>
              </a:rPr>
              <a:t>/</a:t>
            </a:r>
            <a:r>
              <a:rPr lang="en-US" sz="2000" dirty="0" err="1">
                <a:hlinkClick r:id="rId6"/>
              </a:rPr>
              <a:t>sas</a:t>
            </a:r>
            <a:r>
              <a:rPr lang="en-US" sz="2000" dirty="0">
                <a:hlinkClick r:id="rId6"/>
              </a:rPr>
              <a:t>-to-r: Translate SAS to R</a:t>
            </a:r>
            <a:endParaRPr lang="en-US" sz="2000" dirty="0"/>
          </a:p>
          <a:p>
            <a:r>
              <a:rPr lang="en-US" sz="2000" dirty="0">
                <a:hlinkClick r:id="rId7"/>
              </a:rPr>
              <a:t>Code-Transcompiler-using-LLMs-public/README.md at main · </a:t>
            </a:r>
            <a:r>
              <a:rPr lang="en-US" sz="2000" dirty="0" err="1">
                <a:hlinkClick r:id="rId7"/>
              </a:rPr>
              <a:t>CSOIreland</a:t>
            </a:r>
            <a:r>
              <a:rPr lang="en-US" sz="2000" dirty="0">
                <a:hlinkClick r:id="rId7"/>
              </a:rPr>
              <a:t>/Code-Transcompiler-using-LLMs-public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E627DE-ACAC-D1AB-193D-32D1237B2FE8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0774897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5B5A-22EB-F6BE-03B9-DA990AE01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9DD26-0915-7E46-B9E9-A23C10025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5414009"/>
            <a:ext cx="1173480" cy="33242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My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50AFE-4C70-3BD6-2457-93F253C69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260" y="2468880"/>
            <a:ext cx="2499360" cy="249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2140</TotalTime>
  <Words>718</Words>
  <Application>Microsoft Office PowerPoint</Application>
  <PresentationFormat>Widescreen</PresentationFormat>
  <Paragraphs>118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Calibri Light</vt:lpstr>
      <vt:lpstr>Cambria Math</vt:lpstr>
      <vt:lpstr>Courier New</vt:lpstr>
      <vt:lpstr>Times New Roman</vt:lpstr>
      <vt:lpstr>Office Theme</vt:lpstr>
      <vt:lpstr>From On-Premises to Cloud:   Lessons Learned from an Enterprise AWS Migration at Fannie Mae</vt:lpstr>
      <vt:lpstr>Agenda</vt:lpstr>
      <vt:lpstr>1.Background – Fannie Mae and cloud migration</vt:lpstr>
      <vt:lpstr>1.Background – Fannie Mae and cloud migration</vt:lpstr>
      <vt:lpstr>2.Cloud Migration in Fannie Mae</vt:lpstr>
      <vt:lpstr>2.Cloud Migration in Fannie Mae</vt:lpstr>
      <vt:lpstr>3. My work in the Migration</vt:lpstr>
      <vt:lpstr>Steps for refactoring</vt:lpstr>
      <vt:lpstr>Major SAS Steps/Proc vs R package/functions</vt:lpstr>
      <vt:lpstr>Steps for refactoring</vt:lpstr>
      <vt:lpstr>Steps for refactoring</vt:lpstr>
      <vt:lpstr>Efficiency</vt:lpstr>
      <vt:lpstr>Accuracy</vt:lpstr>
      <vt:lpstr>Merge Tables</vt:lpstr>
      <vt:lpstr>PowerPoint Presentation</vt:lpstr>
      <vt:lpstr>PowerPoint Presentation</vt:lpstr>
      <vt:lpstr>Reference: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34</cp:revision>
  <dcterms:created xsi:type="dcterms:W3CDTF">2026-09-28T02:18:07Z</dcterms:created>
  <dcterms:modified xsi:type="dcterms:W3CDTF">2026-10-15T19:43:27Z</dcterms:modified>
</cp:coreProperties>
</file>