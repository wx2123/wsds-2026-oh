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73" r:id="rId5"/>
    <p:sldId id="274" r:id="rId6"/>
    <p:sldId id="258" r:id="rId7"/>
    <p:sldId id="272" r:id="rId8"/>
    <p:sldId id="259" r:id="rId9"/>
    <p:sldId id="270" r:id="rId10"/>
    <p:sldId id="271" r:id="rId11"/>
    <p:sldId id="269" r:id="rId12"/>
    <p:sldId id="266" r:id="rId13"/>
    <p:sldId id="265" r:id="rId14"/>
    <p:sldId id="267" r:id="rId15"/>
    <p:sldId id="260" r:id="rId16"/>
    <p:sldId id="261" r:id="rId17"/>
    <p:sldId id="263" r:id="rId18"/>
    <p:sldId id="26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/>
      <dgm:spPr/>
      <dgm:t>
        <a:bodyPr/>
        <a:lstStyle/>
        <a:p>
          <a:r>
            <a:rPr lang="en-US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/>
        </a:p>
      </dgm:t>
    </dgm:pt>
    <dgm:pt modelId="{BE175FE2-498E-448A-B4A7-2283839D76F4}">
      <dgm:prSet phldrT="[Text]" phldr="0"/>
      <dgm:spPr>
        <a:solidFill>
          <a:schemeClr val="accent2"/>
        </a:solidFill>
      </dgm:spPr>
      <dgm:t>
        <a:bodyPr/>
        <a:lstStyle/>
        <a:p>
          <a:r>
            <a:rPr lang="en-US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/>
        </a:p>
      </dgm:t>
    </dgm:pt>
    <dgm:pt modelId="{1563DCD7-CC83-4FCC-986E-EF0D88F8C8C9}">
      <dgm:prSet phldrT="[Text]" phldr="0"/>
      <dgm:spPr>
        <a:solidFill>
          <a:schemeClr val="accent3"/>
        </a:solidFill>
      </dgm:spPr>
      <dgm:t>
        <a:bodyPr/>
        <a:lstStyle/>
        <a:p>
          <a:r>
            <a:rPr lang="en-US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/>
        </a:p>
      </dgm:t>
    </dgm:pt>
    <dgm:pt modelId="{E9121F76-5EF8-4413-AF26-8697B1A9AA5A}">
      <dgm:prSet phldrT="[Text]" phldr="0"/>
      <dgm:spPr>
        <a:solidFill>
          <a:srgbClr val="92D050"/>
        </a:solidFill>
      </dgm:spPr>
      <dgm:t>
        <a:bodyPr/>
        <a:lstStyle/>
        <a:p>
          <a:r>
            <a:rPr lang="en-US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/>
        </a:p>
      </dgm:t>
    </dgm:pt>
    <dgm:pt modelId="{D06E1645-DE76-4E65-BB3C-46F3BAC5AF75}">
      <dgm:prSet phldrT="[Text]"/>
      <dgm:spPr>
        <a:solidFill>
          <a:srgbClr val="00B0F0"/>
        </a:solidFill>
      </dgm:spPr>
      <dgm:t>
        <a:bodyPr/>
        <a:lstStyle/>
        <a:p>
          <a:r>
            <a:rPr lang="en-US" altLang="zh-CN" dirty="0"/>
            <a:t>Business Innovation at speed</a:t>
          </a:r>
          <a:endParaRPr lang="en-US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/>
        </a:p>
      </dgm:t>
    </dgm:pt>
    <dgm:pt modelId="{BB981C33-12A1-4F6C-8D00-12C6EC1236A6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/>
        </a:p>
      </dgm:t>
    </dgm:pt>
    <dgm:pt modelId="{E6B28B6F-C093-4492-834A-5B67CB2968D9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Intelligent </a:t>
          </a:r>
          <a:r>
            <a:rPr lang="en-US" altLang="zh-CN" dirty="0"/>
            <a:t>automation</a:t>
          </a:r>
          <a:endParaRPr lang="en-US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2057166" y="1404169"/>
          <a:ext cx="1784760" cy="1543890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2352926" y="1660013"/>
        <a:ext cx="1193240" cy="1032202"/>
      </dsp:txXfrm>
    </dsp:sp>
    <dsp:sp modelId="{16108406-D824-48AA-986F-F20B13B82A81}">
      <dsp:nvSpPr>
        <dsp:cNvPr id="0" name=""/>
        <dsp:cNvSpPr/>
      </dsp:nvSpPr>
      <dsp:spPr>
        <a:xfrm>
          <a:off x="3174769" y="665522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2221568" y="0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2463952" y="209690"/>
        <a:ext cx="977830" cy="845939"/>
      </dsp:txXfrm>
    </dsp:sp>
    <dsp:sp modelId="{322F9847-0308-445A-A02E-9697140899BE}">
      <dsp:nvSpPr>
        <dsp:cNvPr id="0" name=""/>
        <dsp:cNvSpPr/>
      </dsp:nvSpPr>
      <dsp:spPr>
        <a:xfrm>
          <a:off x="3960662" y="1750206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3562941" y="778256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3805325" y="987946"/>
        <a:ext cx="977830" cy="845939"/>
      </dsp:txXfrm>
    </dsp:sp>
    <dsp:sp modelId="{76DF7524-118F-4A3C-8039-C7730AC993D2}">
      <dsp:nvSpPr>
        <dsp:cNvPr id="0" name=""/>
        <dsp:cNvSpPr/>
      </dsp:nvSpPr>
      <dsp:spPr>
        <a:xfrm>
          <a:off x="3414730" y="2974611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3562941" y="2308218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3805325" y="2517908"/>
        <a:ext cx="977830" cy="845939"/>
      </dsp:txXfrm>
    </dsp:sp>
    <dsp:sp modelId="{6A5105C0-DF27-4B27-8885-6430EAC6309F}">
      <dsp:nvSpPr>
        <dsp:cNvPr id="0" name=""/>
        <dsp:cNvSpPr/>
      </dsp:nvSpPr>
      <dsp:spPr>
        <a:xfrm>
          <a:off x="2060487" y="3101709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2221568" y="3087345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2463952" y="3297035"/>
        <a:ext cx="977830" cy="845939"/>
      </dsp:txXfrm>
    </dsp:sp>
    <dsp:sp modelId="{49B31C55-29E4-4F65-B048-7407A37441AB}">
      <dsp:nvSpPr>
        <dsp:cNvPr id="0" name=""/>
        <dsp:cNvSpPr/>
      </dsp:nvSpPr>
      <dsp:spPr>
        <a:xfrm>
          <a:off x="1261725" y="2017460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873968" y="2309088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1116352" y="2518778"/>
        <a:ext cx="977830" cy="845939"/>
      </dsp:txXfrm>
    </dsp:sp>
    <dsp:sp modelId="{C5A425D9-4151-4A77-AD71-BFDEBC1E8358}">
      <dsp:nvSpPr>
        <dsp:cNvPr id="0" name=""/>
        <dsp:cNvSpPr/>
      </dsp:nvSpPr>
      <dsp:spPr>
        <a:xfrm>
          <a:off x="873968" y="776515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1116352" y="986205"/>
        <a:ext cx="977830" cy="8459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</a:t>
            </a:r>
            <a:r>
              <a:rPr lang="en-US" altLang="zh-CN" sz="8000" b="1" dirty="0">
                <a:latin typeface="+mn-lt"/>
                <a:cs typeface="Times New Roman" panose="02020603050405020304" pitchFamily="18" charset="0"/>
              </a:rPr>
              <a:t>s</a:t>
            </a:r>
            <a:r>
              <a:rPr lang="en-US" sz="8000" b="1" dirty="0">
                <a:latin typeface="+mn-lt"/>
                <a:cs typeface="Times New Roman" panose="02020603050405020304" pitchFamily="18" charset="0"/>
              </a:rPr>
              <a:t>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value: Efficiency and Accuracy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BC297-F8DE-1784-BFD2-67AEED894C57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253" y="72592"/>
            <a:ext cx="11092132" cy="1133126"/>
          </a:xfrm>
        </p:spPr>
        <p:txBody>
          <a:bodyPr/>
          <a:lstStyle/>
          <a:p>
            <a:r>
              <a:rPr lang="en-US" dirty="0"/>
              <a:t>1.Background – Fannie Mae and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7063596" cy="8245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What is the problem and why</a:t>
            </a:r>
          </a:p>
          <a:p>
            <a:r>
              <a:rPr lang="en-US" altLang="zh-CN" dirty="0"/>
              <a:t>Women in the migration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44" y="2379680"/>
            <a:ext cx="2301815" cy="12081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F343E3-B481-8821-EE0D-C79034097980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F3816E-67F8-3536-C248-C26EC415F2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925" y="4317361"/>
            <a:ext cx="5918075" cy="2084776"/>
          </a:xfrm>
          <a:prstGeom prst="rect">
            <a:avLst/>
          </a:prstGeom>
        </p:spPr>
      </p:pic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09CA8B3-F6AF-00DD-B037-578938DDCF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743466"/>
              </p:ext>
            </p:extLst>
          </p:nvPr>
        </p:nvGraphicFramePr>
        <p:xfrm>
          <a:off x="6292491" y="2083317"/>
          <a:ext cx="5899509" cy="4352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FB569-8DFD-66E2-48FC-0E51EBAA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96B7E-4004-A095-EE40-DCB4D9B6C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B221D-14C4-F1B4-56D8-C8BBFA8E5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166" y="1611893"/>
            <a:ext cx="8228162" cy="512133"/>
          </a:xfrm>
        </p:spPr>
        <p:txBody>
          <a:bodyPr/>
          <a:lstStyle/>
          <a:p>
            <a:r>
              <a:rPr lang="en-US" altLang="zh-CN" dirty="0"/>
              <a:t>Cloud adoption is a key for the digital transformation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BC3A5D-6610-AA58-25BF-30BC75C3918A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BA9E7C-9A80-3F03-CBAB-AD3A07610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169" y="2902760"/>
            <a:ext cx="4140679" cy="3428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523028-E3C7-8565-37A0-0CFFDC70841B}"/>
              </a:ext>
            </a:extLst>
          </p:cNvPr>
          <p:cNvSpPr txBox="1"/>
          <p:nvPr/>
        </p:nvSpPr>
        <p:spPr>
          <a:xfrm>
            <a:off x="8403045" y="2268204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</p:spTree>
    <p:extLst>
      <p:ext uri="{BB962C8B-B14F-4D97-AF65-F5344CB8AC3E}">
        <p14:creationId xmlns:p14="http://schemas.microsoft.com/office/powerpoint/2010/main" val="63901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882F-D782-9FDA-A7C4-638CA99A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DA0EB-8A86-C17A-5138-140FA594D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52" y="360888"/>
            <a:ext cx="11855517" cy="1325563"/>
          </a:xfrm>
        </p:spPr>
        <p:txBody>
          <a:bodyPr/>
          <a:lstStyle/>
          <a:p>
            <a:r>
              <a:rPr lang="en-US" dirty="0"/>
              <a:t>1.Background – cloud in other organizations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E67F2-C177-752E-1FA2-340506D3C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5691996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5FC91A-FA92-5907-9456-EA27FC61D67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0F641-F8E6-3057-3D70-DDCFE5551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69" y="3576330"/>
            <a:ext cx="2007612" cy="20076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6480D7-26D2-3482-A7ED-592B9035E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291" y="2508702"/>
            <a:ext cx="1257396" cy="12573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3B4DBD-0145-6AEA-FF24-821FDDB1F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0894" y="2572732"/>
            <a:ext cx="1887113" cy="10497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79E0B5-B727-D5A9-055D-3DC0F311C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415" y="5508119"/>
            <a:ext cx="2174759" cy="12050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E0E9E8-3561-D27F-FB1C-BD3FE6C2A0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2751" y="4015106"/>
            <a:ext cx="1699245" cy="11300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4EBAE1-AC87-5FC3-440B-94B9F0AD86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7339" y="2824063"/>
            <a:ext cx="2244365" cy="62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9F4ED9-5067-B79E-010F-3149E4123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1295" y="3879436"/>
            <a:ext cx="2350433" cy="13221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C5BCCF-B960-1C48-CEDA-C71C3CDE5A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4766" y="5619747"/>
            <a:ext cx="1455214" cy="8731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693828-9283-DE27-DB38-5E94EE2819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7306" y="2290094"/>
            <a:ext cx="2647611" cy="15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633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0902" cy="4351338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55003-FA9F-622B-44E4-FC338B76A12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618" y="2410690"/>
            <a:ext cx="3642982" cy="3016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8279058" y="1698736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13" y="3623715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13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3295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principle balance(UPB)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8606-9E81-E44C-879B-FB4E3B5113C4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0C66BB-B97B-380D-5781-54F8B1CBEC03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574363" y="2735206"/>
            <a:ext cx="2233762" cy="341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tidyverse</a:t>
            </a:r>
            <a:r>
              <a:rPr lang="en-US" altLang="zh-CN" dirty="0"/>
              <a:t>, </a:t>
            </a:r>
          </a:p>
          <a:p>
            <a:r>
              <a:rPr lang="en-US" altLang="zh-CN" dirty="0"/>
              <a:t>arsenal,</a:t>
            </a:r>
          </a:p>
          <a:p>
            <a:r>
              <a:rPr lang="en-US" altLang="zh-CN" dirty="0"/>
              <a:t>Haven</a:t>
            </a:r>
          </a:p>
          <a:p>
            <a:r>
              <a:rPr lang="en-US" altLang="zh-CN" dirty="0" err="1"/>
              <a:t>aod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43CC5-CEC4-33F3-BEEC-1F69BADAA8C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76FA3-9937-CE0D-6532-8C7B6F12DE9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347216"/>
            <a:ext cx="5277727" cy="3543961"/>
          </a:xfrm>
        </p:spPr>
        <p:txBody>
          <a:bodyPr>
            <a:normAutofit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6304675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02195-335B-6B7B-3FC8-0E3B8884489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R/ Python is slower than</a:t>
            </a:r>
          </a:p>
          <a:p>
            <a:r>
              <a:rPr lang="en-US" altLang="zh-CN" dirty="0"/>
              <a:t>Do loop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4B99E25-EC46-C1F5-C053-56B96913954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81C29-D8CF-F939-8E3B-1003A551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102" y="2949940"/>
            <a:ext cx="6998898" cy="371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r>
              <a:rPr lang="en-US" sz="2000" dirty="0" err="1">
                <a:hlinkClick r:id="rId6"/>
              </a:rPr>
              <a:t>asnr</a:t>
            </a:r>
            <a:r>
              <a:rPr lang="en-US" sz="2000" dirty="0">
                <a:hlinkClick r:id="rId6"/>
              </a:rPr>
              <a:t>/</a:t>
            </a:r>
            <a:r>
              <a:rPr lang="en-US" sz="2000" dirty="0" err="1">
                <a:hlinkClick r:id="rId6"/>
              </a:rPr>
              <a:t>sas</a:t>
            </a:r>
            <a:r>
              <a:rPr lang="en-US" sz="2000" dirty="0">
                <a:hlinkClick r:id="rId6"/>
              </a:rPr>
              <a:t>-to-r: Translate SAS to R</a:t>
            </a:r>
            <a:endParaRPr lang="en-US" sz="2000" dirty="0"/>
          </a:p>
          <a:p>
            <a:r>
              <a:rPr lang="en-US" sz="2000" dirty="0">
                <a:hlinkClick r:id="rId7"/>
              </a:rPr>
              <a:t>Code-Transcompiler-using-LLMs-public/README.md at main · </a:t>
            </a:r>
            <a:r>
              <a:rPr lang="en-US" sz="2000" dirty="0" err="1">
                <a:hlinkClick r:id="rId7"/>
              </a:rPr>
              <a:t>CSOIreland</a:t>
            </a:r>
            <a:r>
              <a:rPr lang="en-US" sz="2000" dirty="0">
                <a:hlinkClick r:id="rId7"/>
              </a:rPr>
              <a:t>/Code-Transcompiler-using-LLMs-public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E627DE-ACAC-D1AB-193D-32D1237B2FE8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2196</TotalTime>
  <Words>721</Words>
  <Application>Microsoft Office PowerPoint</Application>
  <PresentationFormat>Widescreen</PresentationFormat>
  <Paragraphs>119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On-Premises to Cloud:   Lessons Learned from an Enterprise AWS Migration at Fannie Mae</vt:lpstr>
      <vt:lpstr>Agenda</vt:lpstr>
      <vt:lpstr>1.Background – Fannie Mae and cloud migration</vt:lpstr>
      <vt:lpstr>2.Cloud Migration in Fannie Mae</vt:lpstr>
      <vt:lpstr>1.Background – cloud in other organizations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Efficiency</vt:lpstr>
      <vt:lpstr>Accuracy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36</cp:revision>
  <dcterms:created xsi:type="dcterms:W3CDTF">2026-09-28T02:18:07Z</dcterms:created>
  <dcterms:modified xsi:type="dcterms:W3CDTF">2026-10-16T03:02:45Z</dcterms:modified>
</cp:coreProperties>
</file>