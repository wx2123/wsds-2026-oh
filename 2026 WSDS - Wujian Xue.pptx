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73" r:id="rId5"/>
    <p:sldId id="274" r:id="rId6"/>
    <p:sldId id="258" r:id="rId7"/>
    <p:sldId id="272" r:id="rId8"/>
    <p:sldId id="259" r:id="rId9"/>
    <p:sldId id="270" r:id="rId10"/>
    <p:sldId id="271" r:id="rId11"/>
    <p:sldId id="269" r:id="rId12"/>
    <p:sldId id="266" r:id="rId13"/>
    <p:sldId id="265" r:id="rId14"/>
    <p:sldId id="267" r:id="rId15"/>
    <p:sldId id="260" r:id="rId16"/>
    <p:sldId id="261" r:id="rId17"/>
    <p:sldId id="263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8F64C-0EEF-4D44-B6E6-BFE6459F5DDE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2F0427-6797-43C7-9CFF-39FE5CFA72D9}">
      <dgm:prSet phldrT="[Text]" phldr="0" custT="1"/>
      <dgm:spPr/>
      <dgm:t>
        <a:bodyPr/>
        <a:lstStyle/>
        <a:p>
          <a:r>
            <a:rPr lang="en-US" sz="1200" dirty="0"/>
            <a:t>Cloud migration</a:t>
          </a:r>
        </a:p>
      </dgm:t>
    </dgm:pt>
    <dgm:pt modelId="{936A183E-D86C-4E46-90C7-D408ED3AFE0C}" type="parTrans" cxnId="{0C14DDF5-4ABD-41AD-BB04-C7589277FC11}">
      <dgm:prSet/>
      <dgm:spPr/>
      <dgm:t>
        <a:bodyPr/>
        <a:lstStyle/>
        <a:p>
          <a:endParaRPr lang="en-US" sz="1200"/>
        </a:p>
      </dgm:t>
    </dgm:pt>
    <dgm:pt modelId="{9D912BBE-A4A4-4ECC-BB0A-28828FC6A443}" type="sibTrans" cxnId="{0C14DDF5-4ABD-41AD-BB04-C7589277FC11}">
      <dgm:prSet/>
      <dgm:spPr/>
      <dgm:t>
        <a:bodyPr/>
        <a:lstStyle/>
        <a:p>
          <a:endParaRPr lang="en-US" sz="1200"/>
        </a:p>
      </dgm:t>
    </dgm:pt>
    <dgm:pt modelId="{BE175FE2-498E-448A-B4A7-2283839D76F4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1200" dirty="0"/>
            <a:t>Time to customer value</a:t>
          </a:r>
        </a:p>
      </dgm:t>
    </dgm:pt>
    <dgm:pt modelId="{D22DE5EC-1A0D-44B8-A0B4-B8E22F720A91}" type="parTrans" cxnId="{09912B82-505C-4526-A64D-7C4639D33CF2}">
      <dgm:prSet/>
      <dgm:spPr/>
      <dgm:t>
        <a:bodyPr/>
        <a:lstStyle/>
        <a:p>
          <a:endParaRPr lang="en-US" sz="1200"/>
        </a:p>
      </dgm:t>
    </dgm:pt>
    <dgm:pt modelId="{F7396975-9E05-4FAA-B722-F6253FC2E417}" type="sibTrans" cxnId="{09912B82-505C-4526-A64D-7C4639D33CF2}">
      <dgm:prSet/>
      <dgm:spPr/>
      <dgm:t>
        <a:bodyPr/>
        <a:lstStyle/>
        <a:p>
          <a:endParaRPr lang="en-US" sz="1200"/>
        </a:p>
      </dgm:t>
    </dgm:pt>
    <dgm:pt modelId="{1563DCD7-CC83-4FCC-986E-EF0D88F8C8C9}">
      <dgm:prSet phldrT="[Text]" phldr="0" custT="1"/>
      <dgm:spPr>
        <a:solidFill>
          <a:schemeClr val="accent3"/>
        </a:solidFill>
      </dgm:spPr>
      <dgm:t>
        <a:bodyPr/>
        <a:lstStyle/>
        <a:p>
          <a:r>
            <a:rPr lang="en-US" sz="1200" dirty="0"/>
            <a:t>Organize for effectiveness</a:t>
          </a:r>
        </a:p>
      </dgm:t>
    </dgm:pt>
    <dgm:pt modelId="{59CA1295-6B0D-4D46-9A6E-2BE514C501C1}" type="parTrans" cxnId="{CC0D36AC-DB77-4EAE-B086-2C6AAEFE3F2A}">
      <dgm:prSet/>
      <dgm:spPr/>
      <dgm:t>
        <a:bodyPr/>
        <a:lstStyle/>
        <a:p>
          <a:endParaRPr lang="en-US" sz="1200"/>
        </a:p>
      </dgm:t>
    </dgm:pt>
    <dgm:pt modelId="{E189B592-1F81-44E7-B47F-E1578E5C0D66}" type="sibTrans" cxnId="{CC0D36AC-DB77-4EAE-B086-2C6AAEFE3F2A}">
      <dgm:prSet/>
      <dgm:spPr/>
      <dgm:t>
        <a:bodyPr/>
        <a:lstStyle/>
        <a:p>
          <a:endParaRPr lang="en-US" sz="1200"/>
        </a:p>
      </dgm:t>
    </dgm:pt>
    <dgm:pt modelId="{E9121F76-5EF8-4413-AF26-8697B1A9AA5A}">
      <dgm:prSet phldrT="[Text]" phldr="0" custT="1"/>
      <dgm:spPr>
        <a:solidFill>
          <a:srgbClr val="92D050"/>
        </a:solidFill>
      </dgm:spPr>
      <dgm:t>
        <a:bodyPr/>
        <a:lstStyle/>
        <a:p>
          <a:r>
            <a:rPr lang="en-US" sz="1200" dirty="0"/>
            <a:t>Digital stability</a:t>
          </a:r>
        </a:p>
      </dgm:t>
    </dgm:pt>
    <dgm:pt modelId="{8C532E8D-69F8-4B70-A921-97FB40C76A2F}" type="parTrans" cxnId="{81F62DBD-B899-4930-B398-F865E8B6888B}">
      <dgm:prSet/>
      <dgm:spPr/>
      <dgm:t>
        <a:bodyPr/>
        <a:lstStyle/>
        <a:p>
          <a:endParaRPr lang="en-US" sz="1200"/>
        </a:p>
      </dgm:t>
    </dgm:pt>
    <dgm:pt modelId="{CCB91678-A106-4A6C-87D2-2D693F9505DB}" type="sibTrans" cxnId="{81F62DBD-B899-4930-B398-F865E8B6888B}">
      <dgm:prSet/>
      <dgm:spPr/>
      <dgm:t>
        <a:bodyPr/>
        <a:lstStyle/>
        <a:p>
          <a:endParaRPr lang="en-US" sz="1200"/>
        </a:p>
      </dgm:t>
    </dgm:pt>
    <dgm:pt modelId="{D06E1645-DE76-4E65-BB3C-46F3BAC5AF75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altLang="zh-CN" sz="1200" dirty="0"/>
            <a:t>Business Innovation at speed</a:t>
          </a:r>
          <a:endParaRPr lang="en-US" sz="1200" dirty="0"/>
        </a:p>
      </dgm:t>
    </dgm:pt>
    <dgm:pt modelId="{BE94E7EA-F143-44A5-B81A-3464EC870185}" type="parTrans" cxnId="{CCB88BBB-D2D2-4EE7-BA30-391C3EBAD68C}">
      <dgm:prSet/>
      <dgm:spPr/>
      <dgm:t>
        <a:bodyPr/>
        <a:lstStyle/>
        <a:p>
          <a:endParaRPr lang="en-US" sz="1200"/>
        </a:p>
      </dgm:t>
    </dgm:pt>
    <dgm:pt modelId="{5927F88E-3CFB-42A1-B344-5AA79A4C293A}" type="sibTrans" cxnId="{CCB88BBB-D2D2-4EE7-BA30-391C3EBAD68C}">
      <dgm:prSet/>
      <dgm:spPr/>
      <dgm:t>
        <a:bodyPr/>
        <a:lstStyle/>
        <a:p>
          <a:endParaRPr lang="en-US" sz="1200"/>
        </a:p>
      </dgm:t>
    </dgm:pt>
    <dgm:pt modelId="{BB981C33-12A1-4F6C-8D00-12C6EC1236A6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1200" dirty="0"/>
            <a:t>Enable transformation</a:t>
          </a:r>
        </a:p>
      </dgm:t>
    </dgm:pt>
    <dgm:pt modelId="{F7D42D6E-AEC6-4242-B246-7A189388A0F8}" type="parTrans" cxnId="{FA5E902D-85A4-4CD2-87C7-EE50DFA82060}">
      <dgm:prSet/>
      <dgm:spPr/>
      <dgm:t>
        <a:bodyPr/>
        <a:lstStyle/>
        <a:p>
          <a:endParaRPr lang="en-US" sz="1200"/>
        </a:p>
      </dgm:t>
    </dgm:pt>
    <dgm:pt modelId="{A5179DFB-4E52-435E-98B6-48F909660EC9}" type="sibTrans" cxnId="{FA5E902D-85A4-4CD2-87C7-EE50DFA82060}">
      <dgm:prSet/>
      <dgm:spPr/>
      <dgm:t>
        <a:bodyPr/>
        <a:lstStyle/>
        <a:p>
          <a:endParaRPr lang="en-US" sz="1200"/>
        </a:p>
      </dgm:t>
    </dgm:pt>
    <dgm:pt modelId="{E6B28B6F-C093-4492-834A-5B67CB2968D9}">
      <dgm:prSet phldrT="[Text]" phldr="0" custT="1"/>
      <dgm:spPr>
        <a:solidFill>
          <a:srgbClr val="FF0000"/>
        </a:solidFill>
      </dgm:spPr>
      <dgm:t>
        <a:bodyPr/>
        <a:lstStyle/>
        <a:p>
          <a:r>
            <a:rPr lang="en-US" sz="1200" dirty="0"/>
            <a:t>Intelligent </a:t>
          </a:r>
          <a:r>
            <a:rPr lang="en-US" altLang="zh-CN" sz="1200" dirty="0"/>
            <a:t>automation</a:t>
          </a:r>
          <a:endParaRPr lang="en-US" sz="1200" dirty="0"/>
        </a:p>
      </dgm:t>
    </dgm:pt>
    <dgm:pt modelId="{16007CBA-F250-4A92-91E9-E2465ED87B2A}" type="parTrans" cxnId="{E6ECE566-AB50-4692-8DED-B40CF4E97AB2}">
      <dgm:prSet/>
      <dgm:spPr/>
      <dgm:t>
        <a:bodyPr/>
        <a:lstStyle/>
        <a:p>
          <a:endParaRPr lang="en-US" sz="1200"/>
        </a:p>
      </dgm:t>
    </dgm:pt>
    <dgm:pt modelId="{F8A9E26C-260A-45F5-8E9E-ABAE245C49E4}" type="sibTrans" cxnId="{E6ECE566-AB50-4692-8DED-B40CF4E97AB2}">
      <dgm:prSet/>
      <dgm:spPr/>
      <dgm:t>
        <a:bodyPr/>
        <a:lstStyle/>
        <a:p>
          <a:endParaRPr lang="en-US" sz="1200"/>
        </a:p>
      </dgm:t>
    </dgm:pt>
    <dgm:pt modelId="{67D15FC6-E047-48C3-847F-243D66AC66A9}" type="pres">
      <dgm:prSet presAssocID="{3208F64C-0EEF-4D44-B6E6-BFE6459F5DDE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F1D19A2F-77BC-4938-9885-093F435A8A47}" type="pres">
      <dgm:prSet presAssocID="{602F0427-6797-43C7-9CFF-39FE5CFA72D9}" presName="Parent" presStyleLbl="node0" presStyleIdx="0" presStyleCnt="1">
        <dgm:presLayoutVars>
          <dgm:chMax val="6"/>
          <dgm:chPref val="6"/>
        </dgm:presLayoutVars>
      </dgm:prSet>
      <dgm:spPr/>
    </dgm:pt>
    <dgm:pt modelId="{D6EA40F1-8F1D-497B-935A-7440D7458290}" type="pres">
      <dgm:prSet presAssocID="{BE175FE2-498E-448A-B4A7-2283839D76F4}" presName="Accent1" presStyleCnt="0"/>
      <dgm:spPr/>
    </dgm:pt>
    <dgm:pt modelId="{595D05E8-0147-4426-84F2-CAF286F94084}" type="pres">
      <dgm:prSet presAssocID="{BE175FE2-498E-448A-B4A7-2283839D76F4}" presName="Accent" presStyleLbl="bgShp" presStyleIdx="0" presStyleCnt="6"/>
      <dgm:spPr/>
    </dgm:pt>
    <dgm:pt modelId="{0CB0AA78-D63F-4F3A-AFA6-EAE5E0314406}" type="pres">
      <dgm:prSet presAssocID="{BE175FE2-498E-448A-B4A7-2283839D76F4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588526E8-04B5-4B80-AA9B-0D229A69CB08}" type="pres">
      <dgm:prSet presAssocID="{1563DCD7-CC83-4FCC-986E-EF0D88F8C8C9}" presName="Accent2" presStyleCnt="0"/>
      <dgm:spPr/>
    </dgm:pt>
    <dgm:pt modelId="{16108406-D824-48AA-986F-F20B13B82A81}" type="pres">
      <dgm:prSet presAssocID="{1563DCD7-CC83-4FCC-986E-EF0D88F8C8C9}" presName="Accent" presStyleLbl="bgShp" presStyleIdx="1" presStyleCnt="6"/>
      <dgm:spPr/>
    </dgm:pt>
    <dgm:pt modelId="{9699140C-2F89-460C-BE44-85A64DE59F52}" type="pres">
      <dgm:prSet presAssocID="{1563DCD7-CC83-4FCC-986E-EF0D88F8C8C9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B9739F21-4DE0-44C7-A0C1-2C212BC562EA}" type="pres">
      <dgm:prSet presAssocID="{E9121F76-5EF8-4413-AF26-8697B1A9AA5A}" presName="Accent3" presStyleCnt="0"/>
      <dgm:spPr/>
    </dgm:pt>
    <dgm:pt modelId="{322F9847-0308-445A-A02E-9697140899BE}" type="pres">
      <dgm:prSet presAssocID="{E9121F76-5EF8-4413-AF26-8697B1A9AA5A}" presName="Accent" presStyleLbl="bgShp" presStyleIdx="2" presStyleCnt="6"/>
      <dgm:spPr/>
    </dgm:pt>
    <dgm:pt modelId="{55AB8E64-BB27-433B-A701-D00D0ADFE0F2}" type="pres">
      <dgm:prSet presAssocID="{E9121F76-5EF8-4413-AF26-8697B1A9AA5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FE031180-106C-462C-846E-00FB37085631}" type="pres">
      <dgm:prSet presAssocID="{D06E1645-DE76-4E65-BB3C-46F3BAC5AF75}" presName="Accent4" presStyleCnt="0"/>
      <dgm:spPr/>
    </dgm:pt>
    <dgm:pt modelId="{76DF7524-118F-4A3C-8039-C7730AC993D2}" type="pres">
      <dgm:prSet presAssocID="{D06E1645-DE76-4E65-BB3C-46F3BAC5AF75}" presName="Accent" presStyleLbl="bgShp" presStyleIdx="3" presStyleCnt="6"/>
      <dgm:spPr/>
    </dgm:pt>
    <dgm:pt modelId="{D57699A4-5871-457E-B5AC-85BE314A9854}" type="pres">
      <dgm:prSet presAssocID="{D06E1645-DE76-4E65-BB3C-46F3BAC5AF75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5A3A4720-2C82-4FE8-8A1B-0239B901DA21}" type="pres">
      <dgm:prSet presAssocID="{BB981C33-12A1-4F6C-8D00-12C6EC1236A6}" presName="Accent5" presStyleCnt="0"/>
      <dgm:spPr/>
    </dgm:pt>
    <dgm:pt modelId="{6A5105C0-DF27-4B27-8885-6430EAC6309F}" type="pres">
      <dgm:prSet presAssocID="{BB981C33-12A1-4F6C-8D00-12C6EC1236A6}" presName="Accent" presStyleLbl="bgShp" presStyleIdx="4" presStyleCnt="6"/>
      <dgm:spPr/>
    </dgm:pt>
    <dgm:pt modelId="{EDC1BEF1-AC06-4D76-AA94-62F6EB75537B}" type="pres">
      <dgm:prSet presAssocID="{BB981C33-12A1-4F6C-8D00-12C6EC1236A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D077B03-4238-4515-BAC2-1FD4B5D76EA1}" type="pres">
      <dgm:prSet presAssocID="{E6B28B6F-C093-4492-834A-5B67CB2968D9}" presName="Accent6" presStyleCnt="0"/>
      <dgm:spPr/>
    </dgm:pt>
    <dgm:pt modelId="{49B31C55-29E4-4F65-B048-7407A37441AB}" type="pres">
      <dgm:prSet presAssocID="{E6B28B6F-C093-4492-834A-5B67CB2968D9}" presName="Accent" presStyleLbl="bgShp" presStyleIdx="5" presStyleCnt="6"/>
      <dgm:spPr/>
    </dgm:pt>
    <dgm:pt modelId="{C5A425D9-4151-4A77-AD71-BFDEBC1E8358}" type="pres">
      <dgm:prSet presAssocID="{E6B28B6F-C093-4492-834A-5B67CB2968D9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1E61F11-34AE-4A47-A574-9C0EAE61A1D7}" type="presOf" srcId="{E9121F76-5EF8-4413-AF26-8697B1A9AA5A}" destId="{55AB8E64-BB27-433B-A701-D00D0ADFE0F2}" srcOrd="0" destOrd="0" presId="urn:microsoft.com/office/officeart/2011/layout/HexagonRadial"/>
    <dgm:cxn modelId="{FA5E902D-85A4-4CD2-87C7-EE50DFA82060}" srcId="{602F0427-6797-43C7-9CFF-39FE5CFA72D9}" destId="{BB981C33-12A1-4F6C-8D00-12C6EC1236A6}" srcOrd="4" destOrd="0" parTransId="{F7D42D6E-AEC6-4242-B246-7A189388A0F8}" sibTransId="{A5179DFB-4E52-435E-98B6-48F909660EC9}"/>
    <dgm:cxn modelId="{E6ECE566-AB50-4692-8DED-B40CF4E97AB2}" srcId="{602F0427-6797-43C7-9CFF-39FE5CFA72D9}" destId="{E6B28B6F-C093-4492-834A-5B67CB2968D9}" srcOrd="5" destOrd="0" parTransId="{16007CBA-F250-4A92-91E9-E2465ED87B2A}" sibTransId="{F8A9E26C-260A-45F5-8E9E-ABAE245C49E4}"/>
    <dgm:cxn modelId="{B51CFA6D-8734-48C0-80BD-7223A131C12A}" type="presOf" srcId="{602F0427-6797-43C7-9CFF-39FE5CFA72D9}" destId="{F1D19A2F-77BC-4938-9885-093F435A8A47}" srcOrd="0" destOrd="0" presId="urn:microsoft.com/office/officeart/2011/layout/HexagonRadial"/>
    <dgm:cxn modelId="{ADEC6658-7BEA-464C-B0A8-7F9E2D7F4212}" type="presOf" srcId="{D06E1645-DE76-4E65-BB3C-46F3BAC5AF75}" destId="{D57699A4-5871-457E-B5AC-85BE314A9854}" srcOrd="0" destOrd="0" presId="urn:microsoft.com/office/officeart/2011/layout/HexagonRadial"/>
    <dgm:cxn modelId="{09912B82-505C-4526-A64D-7C4639D33CF2}" srcId="{602F0427-6797-43C7-9CFF-39FE5CFA72D9}" destId="{BE175FE2-498E-448A-B4A7-2283839D76F4}" srcOrd="0" destOrd="0" parTransId="{D22DE5EC-1A0D-44B8-A0B4-B8E22F720A91}" sibTransId="{F7396975-9E05-4FAA-B722-F6253FC2E417}"/>
    <dgm:cxn modelId="{E2FF408A-AF54-4325-94F7-C2B965552F11}" type="presOf" srcId="{BB981C33-12A1-4F6C-8D00-12C6EC1236A6}" destId="{EDC1BEF1-AC06-4D76-AA94-62F6EB75537B}" srcOrd="0" destOrd="0" presId="urn:microsoft.com/office/officeart/2011/layout/HexagonRadial"/>
    <dgm:cxn modelId="{CC0D36AC-DB77-4EAE-B086-2C6AAEFE3F2A}" srcId="{602F0427-6797-43C7-9CFF-39FE5CFA72D9}" destId="{1563DCD7-CC83-4FCC-986E-EF0D88F8C8C9}" srcOrd="1" destOrd="0" parTransId="{59CA1295-6B0D-4D46-9A6E-2BE514C501C1}" sibTransId="{E189B592-1F81-44E7-B47F-E1578E5C0D66}"/>
    <dgm:cxn modelId="{DEC95CB3-D37A-42E6-AC0C-303F4F46B98B}" type="presOf" srcId="{BE175FE2-498E-448A-B4A7-2283839D76F4}" destId="{0CB0AA78-D63F-4F3A-AFA6-EAE5E0314406}" srcOrd="0" destOrd="0" presId="urn:microsoft.com/office/officeart/2011/layout/HexagonRadial"/>
    <dgm:cxn modelId="{CCB88BBB-D2D2-4EE7-BA30-391C3EBAD68C}" srcId="{602F0427-6797-43C7-9CFF-39FE5CFA72D9}" destId="{D06E1645-DE76-4E65-BB3C-46F3BAC5AF75}" srcOrd="3" destOrd="0" parTransId="{BE94E7EA-F143-44A5-B81A-3464EC870185}" sibTransId="{5927F88E-3CFB-42A1-B344-5AA79A4C293A}"/>
    <dgm:cxn modelId="{81F62DBD-B899-4930-B398-F865E8B6888B}" srcId="{602F0427-6797-43C7-9CFF-39FE5CFA72D9}" destId="{E9121F76-5EF8-4413-AF26-8697B1A9AA5A}" srcOrd="2" destOrd="0" parTransId="{8C532E8D-69F8-4B70-A921-97FB40C76A2F}" sibTransId="{CCB91678-A106-4A6C-87D2-2D693F9505DB}"/>
    <dgm:cxn modelId="{4AAAA9D4-B283-42CC-9623-26DAF7CFD723}" type="presOf" srcId="{1563DCD7-CC83-4FCC-986E-EF0D88F8C8C9}" destId="{9699140C-2F89-460C-BE44-85A64DE59F52}" srcOrd="0" destOrd="0" presId="urn:microsoft.com/office/officeart/2011/layout/HexagonRadial"/>
    <dgm:cxn modelId="{F538A5E3-09EB-4D0B-B319-7AD4679BA0B9}" type="presOf" srcId="{E6B28B6F-C093-4492-834A-5B67CB2968D9}" destId="{C5A425D9-4151-4A77-AD71-BFDEBC1E8358}" srcOrd="0" destOrd="0" presId="urn:microsoft.com/office/officeart/2011/layout/HexagonRadial"/>
    <dgm:cxn modelId="{10130EE6-D901-4362-9F7A-C6893441B7E9}" type="presOf" srcId="{3208F64C-0EEF-4D44-B6E6-BFE6459F5DDE}" destId="{67D15FC6-E047-48C3-847F-243D66AC66A9}" srcOrd="0" destOrd="0" presId="urn:microsoft.com/office/officeart/2011/layout/HexagonRadial"/>
    <dgm:cxn modelId="{0C14DDF5-4ABD-41AD-BB04-C7589277FC11}" srcId="{3208F64C-0EEF-4D44-B6E6-BFE6459F5DDE}" destId="{602F0427-6797-43C7-9CFF-39FE5CFA72D9}" srcOrd="0" destOrd="0" parTransId="{936A183E-D86C-4E46-90C7-D408ED3AFE0C}" sibTransId="{9D912BBE-A4A4-4ECC-BB0A-28828FC6A443}"/>
    <dgm:cxn modelId="{CC623D90-E105-4648-9BD5-7122F61BFA61}" type="presParOf" srcId="{67D15FC6-E047-48C3-847F-243D66AC66A9}" destId="{F1D19A2F-77BC-4938-9885-093F435A8A47}" srcOrd="0" destOrd="0" presId="urn:microsoft.com/office/officeart/2011/layout/HexagonRadial"/>
    <dgm:cxn modelId="{CE2C9365-E8D9-4FCB-AA71-7D2772F9A388}" type="presParOf" srcId="{67D15FC6-E047-48C3-847F-243D66AC66A9}" destId="{D6EA40F1-8F1D-497B-935A-7440D7458290}" srcOrd="1" destOrd="0" presId="urn:microsoft.com/office/officeart/2011/layout/HexagonRadial"/>
    <dgm:cxn modelId="{A4DCEEFD-8FB7-4C00-B8A9-D7B3F2F2C9BF}" type="presParOf" srcId="{D6EA40F1-8F1D-497B-935A-7440D7458290}" destId="{595D05E8-0147-4426-84F2-CAF286F94084}" srcOrd="0" destOrd="0" presId="urn:microsoft.com/office/officeart/2011/layout/HexagonRadial"/>
    <dgm:cxn modelId="{78894057-7334-43AA-846B-411D0DBC3668}" type="presParOf" srcId="{67D15FC6-E047-48C3-847F-243D66AC66A9}" destId="{0CB0AA78-D63F-4F3A-AFA6-EAE5E0314406}" srcOrd="2" destOrd="0" presId="urn:microsoft.com/office/officeart/2011/layout/HexagonRadial"/>
    <dgm:cxn modelId="{5A590799-2041-45C1-A02F-27236B82E88F}" type="presParOf" srcId="{67D15FC6-E047-48C3-847F-243D66AC66A9}" destId="{588526E8-04B5-4B80-AA9B-0D229A69CB08}" srcOrd="3" destOrd="0" presId="urn:microsoft.com/office/officeart/2011/layout/HexagonRadial"/>
    <dgm:cxn modelId="{57DA7FC2-3729-4E4B-8659-43B4E8875CDA}" type="presParOf" srcId="{588526E8-04B5-4B80-AA9B-0D229A69CB08}" destId="{16108406-D824-48AA-986F-F20B13B82A81}" srcOrd="0" destOrd="0" presId="urn:microsoft.com/office/officeart/2011/layout/HexagonRadial"/>
    <dgm:cxn modelId="{044FEC93-D461-49D5-94B8-EEB96C0D6014}" type="presParOf" srcId="{67D15FC6-E047-48C3-847F-243D66AC66A9}" destId="{9699140C-2F89-460C-BE44-85A64DE59F52}" srcOrd="4" destOrd="0" presId="urn:microsoft.com/office/officeart/2011/layout/HexagonRadial"/>
    <dgm:cxn modelId="{01C43576-FFEF-46BE-974D-5CBA463C22D1}" type="presParOf" srcId="{67D15FC6-E047-48C3-847F-243D66AC66A9}" destId="{B9739F21-4DE0-44C7-A0C1-2C212BC562EA}" srcOrd="5" destOrd="0" presId="urn:microsoft.com/office/officeart/2011/layout/HexagonRadial"/>
    <dgm:cxn modelId="{DF47B44C-D960-4689-8500-79FC13815C82}" type="presParOf" srcId="{B9739F21-4DE0-44C7-A0C1-2C212BC562EA}" destId="{322F9847-0308-445A-A02E-9697140899BE}" srcOrd="0" destOrd="0" presId="urn:microsoft.com/office/officeart/2011/layout/HexagonRadial"/>
    <dgm:cxn modelId="{992E85C7-6CFF-4810-9D0B-449855C9FFC3}" type="presParOf" srcId="{67D15FC6-E047-48C3-847F-243D66AC66A9}" destId="{55AB8E64-BB27-433B-A701-D00D0ADFE0F2}" srcOrd="6" destOrd="0" presId="urn:microsoft.com/office/officeart/2011/layout/HexagonRadial"/>
    <dgm:cxn modelId="{803545BC-FDB9-47AC-86F5-101BFDDCCAC4}" type="presParOf" srcId="{67D15FC6-E047-48C3-847F-243D66AC66A9}" destId="{FE031180-106C-462C-846E-00FB37085631}" srcOrd="7" destOrd="0" presId="urn:microsoft.com/office/officeart/2011/layout/HexagonRadial"/>
    <dgm:cxn modelId="{03504B4D-02BB-4A3A-BEEA-C59BC5A476C0}" type="presParOf" srcId="{FE031180-106C-462C-846E-00FB37085631}" destId="{76DF7524-118F-4A3C-8039-C7730AC993D2}" srcOrd="0" destOrd="0" presId="urn:microsoft.com/office/officeart/2011/layout/HexagonRadial"/>
    <dgm:cxn modelId="{6BED9F9B-0CD9-4647-8CB4-61F7D1DFA8D7}" type="presParOf" srcId="{67D15FC6-E047-48C3-847F-243D66AC66A9}" destId="{D57699A4-5871-457E-B5AC-85BE314A9854}" srcOrd="8" destOrd="0" presId="urn:microsoft.com/office/officeart/2011/layout/HexagonRadial"/>
    <dgm:cxn modelId="{35341C55-6CF0-48FF-8A00-6ED472B85D98}" type="presParOf" srcId="{67D15FC6-E047-48C3-847F-243D66AC66A9}" destId="{5A3A4720-2C82-4FE8-8A1B-0239B901DA21}" srcOrd="9" destOrd="0" presId="urn:microsoft.com/office/officeart/2011/layout/HexagonRadial"/>
    <dgm:cxn modelId="{342F0B4D-CB23-4C8F-9E52-BA9CDAE31D1E}" type="presParOf" srcId="{5A3A4720-2C82-4FE8-8A1B-0239B901DA21}" destId="{6A5105C0-DF27-4B27-8885-6430EAC6309F}" srcOrd="0" destOrd="0" presId="urn:microsoft.com/office/officeart/2011/layout/HexagonRadial"/>
    <dgm:cxn modelId="{A560CD4C-6750-4686-AB68-EA322E49E259}" type="presParOf" srcId="{67D15FC6-E047-48C3-847F-243D66AC66A9}" destId="{EDC1BEF1-AC06-4D76-AA94-62F6EB75537B}" srcOrd="10" destOrd="0" presId="urn:microsoft.com/office/officeart/2011/layout/HexagonRadial"/>
    <dgm:cxn modelId="{4E44BC01-AF6B-458D-BD3F-1F9FEAAA8242}" type="presParOf" srcId="{67D15FC6-E047-48C3-847F-243D66AC66A9}" destId="{0D077B03-4238-4515-BAC2-1FD4B5D76EA1}" srcOrd="11" destOrd="0" presId="urn:microsoft.com/office/officeart/2011/layout/HexagonRadial"/>
    <dgm:cxn modelId="{5CAFD3F7-9D6D-4DDD-95F3-1B3C7EE1D321}" type="presParOf" srcId="{0D077B03-4238-4515-BAC2-1FD4B5D76EA1}" destId="{49B31C55-29E4-4F65-B048-7407A37441AB}" srcOrd="0" destOrd="0" presId="urn:microsoft.com/office/officeart/2011/layout/HexagonRadial"/>
    <dgm:cxn modelId="{71C6330F-7900-413B-8F3E-4C852976D96E}" type="presParOf" srcId="{67D15FC6-E047-48C3-847F-243D66AC66A9}" destId="{C5A425D9-4151-4A77-AD71-BFDEBC1E8358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82EFBF-7107-494A-8AAB-7C60D9A18C5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F06DD9-2FFF-4343-814C-B31E3889ACCB}">
      <dgm:prSet phldrT="[Text]" phldr="0"/>
      <dgm:spPr/>
      <dgm:t>
        <a:bodyPr/>
        <a:lstStyle/>
        <a:p>
          <a:r>
            <a:rPr lang="en-US" dirty="0"/>
            <a:t>Data</a:t>
          </a:r>
        </a:p>
      </dgm:t>
    </dgm:pt>
    <dgm:pt modelId="{3D5B19E5-87A6-4D3B-9B61-5918DF25FDF0}" type="parTrans" cxnId="{B1D4D4C1-723D-4F84-B522-078EBCE805CC}">
      <dgm:prSet/>
      <dgm:spPr/>
      <dgm:t>
        <a:bodyPr/>
        <a:lstStyle/>
        <a:p>
          <a:endParaRPr lang="en-US"/>
        </a:p>
      </dgm:t>
    </dgm:pt>
    <dgm:pt modelId="{D670B910-3613-4ABD-B4EF-F8302081AD61}" type="sibTrans" cxnId="{B1D4D4C1-723D-4F84-B522-078EBCE805CC}">
      <dgm:prSet/>
      <dgm:spPr/>
      <dgm:t>
        <a:bodyPr/>
        <a:lstStyle/>
        <a:p>
          <a:endParaRPr lang="en-US"/>
        </a:p>
      </dgm:t>
    </dgm:pt>
    <dgm:pt modelId="{97EF6E1C-BA7C-4636-98C5-BAF25E72A9EA}">
      <dgm:prSet phldrT="[Text]" phldr="0"/>
      <dgm:spPr/>
      <dgm:t>
        <a:bodyPr/>
        <a:lstStyle/>
        <a:p>
          <a:r>
            <a:rPr lang="en-US" dirty="0"/>
            <a:t>model</a:t>
          </a:r>
        </a:p>
      </dgm:t>
    </dgm:pt>
    <dgm:pt modelId="{CC6E4465-715C-44B9-8F5A-A614F0AF83EB}" type="parTrans" cxnId="{C83ED522-35C7-4177-8D72-358078CACD54}">
      <dgm:prSet/>
      <dgm:spPr/>
      <dgm:t>
        <a:bodyPr/>
        <a:lstStyle/>
        <a:p>
          <a:endParaRPr lang="en-US"/>
        </a:p>
      </dgm:t>
    </dgm:pt>
    <dgm:pt modelId="{9AE711F1-83FF-473B-9D0A-AB57E372EB08}" type="sibTrans" cxnId="{C83ED522-35C7-4177-8D72-358078CACD54}">
      <dgm:prSet/>
      <dgm:spPr/>
      <dgm:t>
        <a:bodyPr/>
        <a:lstStyle/>
        <a:p>
          <a:endParaRPr lang="en-US"/>
        </a:p>
      </dgm:t>
    </dgm:pt>
    <dgm:pt modelId="{5A9BC8F0-D7E0-407D-82A5-3EE52FE05DF5}">
      <dgm:prSet phldrT="[Text]" phldr="0"/>
      <dgm:spPr/>
      <dgm:t>
        <a:bodyPr/>
        <a:lstStyle/>
        <a:p>
          <a:r>
            <a:rPr lang="en-US" dirty="0"/>
            <a:t>output</a:t>
          </a:r>
        </a:p>
      </dgm:t>
    </dgm:pt>
    <dgm:pt modelId="{B5075FD9-CDA1-4398-AB61-C112EF4FC073}" type="parTrans" cxnId="{32D180CA-215D-4D8E-BC5A-ECBB7F3838EE}">
      <dgm:prSet/>
      <dgm:spPr/>
      <dgm:t>
        <a:bodyPr/>
        <a:lstStyle/>
        <a:p>
          <a:endParaRPr lang="en-US"/>
        </a:p>
      </dgm:t>
    </dgm:pt>
    <dgm:pt modelId="{D954C522-4F7C-4CC3-8C16-5B8309720BC8}" type="sibTrans" cxnId="{32D180CA-215D-4D8E-BC5A-ECBB7F3838EE}">
      <dgm:prSet/>
      <dgm:spPr/>
      <dgm:t>
        <a:bodyPr/>
        <a:lstStyle/>
        <a:p>
          <a:endParaRPr lang="en-US"/>
        </a:p>
      </dgm:t>
    </dgm:pt>
    <dgm:pt modelId="{544E611A-A92D-47AE-8209-1291FA008FC7}">
      <dgm:prSet phldrT="[Text]" phldr="0"/>
      <dgm:spPr/>
      <dgm:t>
        <a:bodyPr/>
        <a:lstStyle/>
        <a:p>
          <a:r>
            <a:rPr lang="en-US"/>
            <a:t>Data Prep</a:t>
          </a:r>
          <a:endParaRPr lang="en-US" dirty="0"/>
        </a:p>
      </dgm:t>
    </dgm:pt>
    <dgm:pt modelId="{257DBADF-88C0-492E-A62A-4A73B487F3F0}" type="parTrans" cxnId="{437ACB81-26B8-4C36-928C-DE8051A9AA85}">
      <dgm:prSet/>
      <dgm:spPr/>
      <dgm:t>
        <a:bodyPr/>
        <a:lstStyle/>
        <a:p>
          <a:endParaRPr lang="en-US"/>
        </a:p>
      </dgm:t>
    </dgm:pt>
    <dgm:pt modelId="{581760DF-0F87-43C8-AF78-7383A1D234FB}" type="sibTrans" cxnId="{437ACB81-26B8-4C36-928C-DE8051A9AA85}">
      <dgm:prSet/>
      <dgm:spPr/>
      <dgm:t>
        <a:bodyPr/>
        <a:lstStyle/>
        <a:p>
          <a:endParaRPr lang="en-US"/>
        </a:p>
      </dgm:t>
    </dgm:pt>
    <dgm:pt modelId="{7047978F-7B94-453E-9392-49241B4E3952}" type="pres">
      <dgm:prSet presAssocID="{CC82EFBF-7107-494A-8AAB-7C60D9A18C52}" presName="CompostProcess" presStyleCnt="0">
        <dgm:presLayoutVars>
          <dgm:dir/>
          <dgm:resizeHandles val="exact"/>
        </dgm:presLayoutVars>
      </dgm:prSet>
      <dgm:spPr/>
    </dgm:pt>
    <dgm:pt modelId="{E8E2B53E-EF74-4B45-95E3-9B5C82B1340C}" type="pres">
      <dgm:prSet presAssocID="{CC82EFBF-7107-494A-8AAB-7C60D9A18C52}" presName="arrow" presStyleLbl="bgShp" presStyleIdx="0" presStyleCnt="1"/>
      <dgm:spPr/>
    </dgm:pt>
    <dgm:pt modelId="{A97DD83C-6A98-4091-B61C-9812DDC6BF82}" type="pres">
      <dgm:prSet presAssocID="{CC82EFBF-7107-494A-8AAB-7C60D9A18C52}" presName="linearProcess" presStyleCnt="0"/>
      <dgm:spPr/>
    </dgm:pt>
    <dgm:pt modelId="{B5819A44-3F39-4942-91AB-6CD9827FCCA5}" type="pres">
      <dgm:prSet presAssocID="{D5F06DD9-2FFF-4343-814C-B31E3889ACCB}" presName="textNode" presStyleLbl="node1" presStyleIdx="0" presStyleCnt="4">
        <dgm:presLayoutVars>
          <dgm:bulletEnabled val="1"/>
        </dgm:presLayoutVars>
      </dgm:prSet>
      <dgm:spPr/>
    </dgm:pt>
    <dgm:pt modelId="{13E00F69-C04D-459C-9C6D-52BAA6ABF799}" type="pres">
      <dgm:prSet presAssocID="{D670B910-3613-4ABD-B4EF-F8302081AD61}" presName="sibTrans" presStyleCnt="0"/>
      <dgm:spPr/>
    </dgm:pt>
    <dgm:pt modelId="{02C6F657-DC22-4874-B839-ED01F19A363A}" type="pres">
      <dgm:prSet presAssocID="{544E611A-A92D-47AE-8209-1291FA008FC7}" presName="textNode" presStyleLbl="node1" presStyleIdx="1" presStyleCnt="4">
        <dgm:presLayoutVars>
          <dgm:bulletEnabled val="1"/>
        </dgm:presLayoutVars>
      </dgm:prSet>
      <dgm:spPr/>
    </dgm:pt>
    <dgm:pt modelId="{8A421316-76C1-42B6-99E9-1E657EFF2B4A}" type="pres">
      <dgm:prSet presAssocID="{581760DF-0F87-43C8-AF78-7383A1D234FB}" presName="sibTrans" presStyleCnt="0"/>
      <dgm:spPr/>
    </dgm:pt>
    <dgm:pt modelId="{C00E62EC-C631-4907-A6A9-ACFBFA247E6A}" type="pres">
      <dgm:prSet presAssocID="{97EF6E1C-BA7C-4636-98C5-BAF25E72A9EA}" presName="textNode" presStyleLbl="node1" presStyleIdx="2" presStyleCnt="4">
        <dgm:presLayoutVars>
          <dgm:bulletEnabled val="1"/>
        </dgm:presLayoutVars>
      </dgm:prSet>
      <dgm:spPr/>
    </dgm:pt>
    <dgm:pt modelId="{990CDBD4-F756-4EED-8B52-90FCFB437DE4}" type="pres">
      <dgm:prSet presAssocID="{9AE711F1-83FF-473B-9D0A-AB57E372EB08}" presName="sibTrans" presStyleCnt="0"/>
      <dgm:spPr/>
    </dgm:pt>
    <dgm:pt modelId="{2B39B381-C3F6-40EF-9153-96AC0478B650}" type="pres">
      <dgm:prSet presAssocID="{5A9BC8F0-D7E0-407D-82A5-3EE52FE05DF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C83ED522-35C7-4177-8D72-358078CACD54}" srcId="{CC82EFBF-7107-494A-8AAB-7C60D9A18C52}" destId="{97EF6E1C-BA7C-4636-98C5-BAF25E72A9EA}" srcOrd="2" destOrd="0" parTransId="{CC6E4465-715C-44B9-8F5A-A614F0AF83EB}" sibTransId="{9AE711F1-83FF-473B-9D0A-AB57E372EB08}"/>
    <dgm:cxn modelId="{A12B8D56-7091-4E96-B4DA-9B12CBF3D848}" type="presOf" srcId="{544E611A-A92D-47AE-8209-1291FA008FC7}" destId="{02C6F657-DC22-4874-B839-ED01F19A363A}" srcOrd="0" destOrd="0" presId="urn:microsoft.com/office/officeart/2005/8/layout/hProcess9"/>
    <dgm:cxn modelId="{8BE6B87B-BB74-499A-AA04-C383BD12B3AC}" type="presOf" srcId="{D5F06DD9-2FFF-4343-814C-B31E3889ACCB}" destId="{B5819A44-3F39-4942-91AB-6CD9827FCCA5}" srcOrd="0" destOrd="0" presId="urn:microsoft.com/office/officeart/2005/8/layout/hProcess9"/>
    <dgm:cxn modelId="{437ACB81-26B8-4C36-928C-DE8051A9AA85}" srcId="{CC82EFBF-7107-494A-8AAB-7C60D9A18C52}" destId="{544E611A-A92D-47AE-8209-1291FA008FC7}" srcOrd="1" destOrd="0" parTransId="{257DBADF-88C0-492E-A62A-4A73B487F3F0}" sibTransId="{581760DF-0F87-43C8-AF78-7383A1D234FB}"/>
    <dgm:cxn modelId="{F2F10E88-2076-4B33-A6FD-7D9F58D19910}" type="presOf" srcId="{97EF6E1C-BA7C-4636-98C5-BAF25E72A9EA}" destId="{C00E62EC-C631-4907-A6A9-ACFBFA247E6A}" srcOrd="0" destOrd="0" presId="urn:microsoft.com/office/officeart/2005/8/layout/hProcess9"/>
    <dgm:cxn modelId="{F8063FC1-6BD8-4162-8CB9-8D3139B06914}" type="presOf" srcId="{CC82EFBF-7107-494A-8AAB-7C60D9A18C52}" destId="{7047978F-7B94-453E-9392-49241B4E3952}" srcOrd="0" destOrd="0" presId="urn:microsoft.com/office/officeart/2005/8/layout/hProcess9"/>
    <dgm:cxn modelId="{B1D4D4C1-723D-4F84-B522-078EBCE805CC}" srcId="{CC82EFBF-7107-494A-8AAB-7C60D9A18C52}" destId="{D5F06DD9-2FFF-4343-814C-B31E3889ACCB}" srcOrd="0" destOrd="0" parTransId="{3D5B19E5-87A6-4D3B-9B61-5918DF25FDF0}" sibTransId="{D670B910-3613-4ABD-B4EF-F8302081AD61}"/>
    <dgm:cxn modelId="{32D180CA-215D-4D8E-BC5A-ECBB7F3838EE}" srcId="{CC82EFBF-7107-494A-8AAB-7C60D9A18C52}" destId="{5A9BC8F0-D7E0-407D-82A5-3EE52FE05DF5}" srcOrd="3" destOrd="0" parTransId="{B5075FD9-CDA1-4398-AB61-C112EF4FC073}" sibTransId="{D954C522-4F7C-4CC3-8C16-5B8309720BC8}"/>
    <dgm:cxn modelId="{DFB6F8FE-B388-4003-A03F-230FB289B3D0}" type="presOf" srcId="{5A9BC8F0-D7E0-407D-82A5-3EE52FE05DF5}" destId="{2B39B381-C3F6-40EF-9153-96AC0478B650}" srcOrd="0" destOrd="0" presId="urn:microsoft.com/office/officeart/2005/8/layout/hProcess9"/>
    <dgm:cxn modelId="{A8BE6ECB-571B-444C-9AED-028DA600BB12}" type="presParOf" srcId="{7047978F-7B94-453E-9392-49241B4E3952}" destId="{E8E2B53E-EF74-4B45-95E3-9B5C82B1340C}" srcOrd="0" destOrd="0" presId="urn:microsoft.com/office/officeart/2005/8/layout/hProcess9"/>
    <dgm:cxn modelId="{FF50508F-C8D3-41DC-B2DA-A7CB897F377C}" type="presParOf" srcId="{7047978F-7B94-453E-9392-49241B4E3952}" destId="{A97DD83C-6A98-4091-B61C-9812DDC6BF82}" srcOrd="1" destOrd="0" presId="urn:microsoft.com/office/officeart/2005/8/layout/hProcess9"/>
    <dgm:cxn modelId="{E5C7D865-914A-43F9-A8E5-5D6486FF9CC7}" type="presParOf" srcId="{A97DD83C-6A98-4091-B61C-9812DDC6BF82}" destId="{B5819A44-3F39-4942-91AB-6CD9827FCCA5}" srcOrd="0" destOrd="0" presId="urn:microsoft.com/office/officeart/2005/8/layout/hProcess9"/>
    <dgm:cxn modelId="{F0ECEBC4-E961-4C18-9E84-E14A33C433CD}" type="presParOf" srcId="{A97DD83C-6A98-4091-B61C-9812DDC6BF82}" destId="{13E00F69-C04D-459C-9C6D-52BAA6ABF799}" srcOrd="1" destOrd="0" presId="urn:microsoft.com/office/officeart/2005/8/layout/hProcess9"/>
    <dgm:cxn modelId="{5168CB5F-752A-4896-A6CC-0217EAC4E0A5}" type="presParOf" srcId="{A97DD83C-6A98-4091-B61C-9812DDC6BF82}" destId="{02C6F657-DC22-4874-B839-ED01F19A363A}" srcOrd="2" destOrd="0" presId="urn:microsoft.com/office/officeart/2005/8/layout/hProcess9"/>
    <dgm:cxn modelId="{0A24029F-0FBA-4B53-81C3-8E968BE3D3DE}" type="presParOf" srcId="{A97DD83C-6A98-4091-B61C-9812DDC6BF82}" destId="{8A421316-76C1-42B6-99E9-1E657EFF2B4A}" srcOrd="3" destOrd="0" presId="urn:microsoft.com/office/officeart/2005/8/layout/hProcess9"/>
    <dgm:cxn modelId="{2E504A25-CAB0-4E1D-9DC9-10476FD2A1EB}" type="presParOf" srcId="{A97DD83C-6A98-4091-B61C-9812DDC6BF82}" destId="{C00E62EC-C631-4907-A6A9-ACFBFA247E6A}" srcOrd="4" destOrd="0" presId="urn:microsoft.com/office/officeart/2005/8/layout/hProcess9"/>
    <dgm:cxn modelId="{293D8225-2230-46AA-9AD0-D4BDB887B88F}" type="presParOf" srcId="{A97DD83C-6A98-4091-B61C-9812DDC6BF82}" destId="{990CDBD4-F756-4EED-8B52-90FCFB437DE4}" srcOrd="5" destOrd="0" presId="urn:microsoft.com/office/officeart/2005/8/layout/hProcess9"/>
    <dgm:cxn modelId="{E17C0112-6E1D-4442-982B-6F457DF83C11}" type="presParOf" srcId="{A97DD83C-6A98-4091-B61C-9812DDC6BF82}" destId="{2B39B381-C3F6-40EF-9153-96AC0478B65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19A2F-77BC-4938-9885-093F435A8A47}">
      <dsp:nvSpPr>
        <dsp:cNvPr id="0" name=""/>
        <dsp:cNvSpPr/>
      </dsp:nvSpPr>
      <dsp:spPr>
        <a:xfrm>
          <a:off x="2157913" y="1476707"/>
          <a:ext cx="1876959" cy="162364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Cloud migration</a:t>
          </a:r>
        </a:p>
      </dsp:txBody>
      <dsp:txXfrm>
        <a:off x="2468951" y="1745768"/>
        <a:ext cx="1254883" cy="1085524"/>
      </dsp:txXfrm>
    </dsp:sp>
    <dsp:sp modelId="{16108406-D824-48AA-986F-F20B13B82A81}">
      <dsp:nvSpPr>
        <dsp:cNvPr id="0" name=""/>
        <dsp:cNvSpPr/>
      </dsp:nvSpPr>
      <dsp:spPr>
        <a:xfrm>
          <a:off x="3333251" y="699902"/>
          <a:ext cx="708171" cy="61018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0AA78-D63F-4F3A-AFA6-EAE5E0314406}">
      <dsp:nvSpPr>
        <dsp:cNvPr id="0" name=""/>
        <dsp:cNvSpPr/>
      </dsp:nvSpPr>
      <dsp:spPr>
        <a:xfrm>
          <a:off x="2330808" y="0"/>
          <a:ext cx="1538155" cy="1330685"/>
        </a:xfrm>
        <a:prstGeom prst="hexagon">
          <a:avLst>
            <a:gd name="adj" fmla="val 28570"/>
            <a:gd name="vf" fmla="val 11547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Time to customer value</a:t>
          </a:r>
        </a:p>
      </dsp:txBody>
      <dsp:txXfrm>
        <a:off x="2585713" y="220523"/>
        <a:ext cx="1028345" cy="889639"/>
      </dsp:txXfrm>
    </dsp:sp>
    <dsp:sp modelId="{322F9847-0308-445A-A02E-9697140899BE}">
      <dsp:nvSpPr>
        <dsp:cNvPr id="0" name=""/>
        <dsp:cNvSpPr/>
      </dsp:nvSpPr>
      <dsp:spPr>
        <a:xfrm>
          <a:off x="4159742" y="1840620"/>
          <a:ext cx="708171" cy="61018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9140C-2F89-460C-BE44-85A64DE59F52}">
      <dsp:nvSpPr>
        <dsp:cNvPr id="0" name=""/>
        <dsp:cNvSpPr/>
      </dsp:nvSpPr>
      <dsp:spPr>
        <a:xfrm>
          <a:off x="3741475" y="818460"/>
          <a:ext cx="1538155" cy="1330685"/>
        </a:xfrm>
        <a:prstGeom prst="hexagon">
          <a:avLst>
            <a:gd name="adj" fmla="val 28570"/>
            <a:gd name="vf" fmla="val 115470"/>
          </a:avLst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Organize for effectiveness</a:t>
          </a:r>
        </a:p>
      </dsp:txBody>
      <dsp:txXfrm>
        <a:off x="3996380" y="1038983"/>
        <a:ext cx="1028345" cy="889639"/>
      </dsp:txXfrm>
    </dsp:sp>
    <dsp:sp modelId="{76DF7524-118F-4A3C-8039-C7730AC993D2}">
      <dsp:nvSpPr>
        <dsp:cNvPr id="0" name=""/>
        <dsp:cNvSpPr/>
      </dsp:nvSpPr>
      <dsp:spPr>
        <a:xfrm>
          <a:off x="3585608" y="3128277"/>
          <a:ext cx="708171" cy="61018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B8E64-BB27-433B-A701-D00D0ADFE0F2}">
      <dsp:nvSpPr>
        <dsp:cNvPr id="0" name=""/>
        <dsp:cNvSpPr/>
      </dsp:nvSpPr>
      <dsp:spPr>
        <a:xfrm>
          <a:off x="3741475" y="2427458"/>
          <a:ext cx="1538155" cy="1330685"/>
        </a:xfrm>
        <a:prstGeom prst="hexagon">
          <a:avLst>
            <a:gd name="adj" fmla="val 28570"/>
            <a:gd name="vf" fmla="val 11547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Digital stability</a:t>
          </a:r>
        </a:p>
      </dsp:txBody>
      <dsp:txXfrm>
        <a:off x="3996380" y="2647981"/>
        <a:ext cx="1028345" cy="889639"/>
      </dsp:txXfrm>
    </dsp:sp>
    <dsp:sp modelId="{6A5105C0-DF27-4B27-8885-6430EAC6309F}">
      <dsp:nvSpPr>
        <dsp:cNvPr id="0" name=""/>
        <dsp:cNvSpPr/>
      </dsp:nvSpPr>
      <dsp:spPr>
        <a:xfrm>
          <a:off x="2161406" y="3261940"/>
          <a:ext cx="708171" cy="61018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699A4-5871-457E-B5AC-85BE314A9854}">
      <dsp:nvSpPr>
        <dsp:cNvPr id="0" name=""/>
        <dsp:cNvSpPr/>
      </dsp:nvSpPr>
      <dsp:spPr>
        <a:xfrm>
          <a:off x="2330808" y="3246834"/>
          <a:ext cx="1538155" cy="1330685"/>
        </a:xfrm>
        <a:prstGeom prst="hexagon">
          <a:avLst>
            <a:gd name="adj" fmla="val 28570"/>
            <a:gd name="vf" fmla="val 11547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Business Innovation at speed</a:t>
          </a:r>
          <a:endParaRPr lang="en-US" sz="1200" kern="1200" dirty="0"/>
        </a:p>
      </dsp:txBody>
      <dsp:txXfrm>
        <a:off x="2585713" y="3467357"/>
        <a:ext cx="1028345" cy="889639"/>
      </dsp:txXfrm>
    </dsp:sp>
    <dsp:sp modelId="{49B31C55-29E4-4F65-B048-7407A37441AB}">
      <dsp:nvSpPr>
        <dsp:cNvPr id="0" name=""/>
        <dsp:cNvSpPr/>
      </dsp:nvSpPr>
      <dsp:spPr>
        <a:xfrm>
          <a:off x="1321380" y="2121680"/>
          <a:ext cx="708171" cy="610183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1BEF1-AC06-4D76-AA94-62F6EB75537B}">
      <dsp:nvSpPr>
        <dsp:cNvPr id="0" name=""/>
        <dsp:cNvSpPr/>
      </dsp:nvSpPr>
      <dsp:spPr>
        <a:xfrm>
          <a:off x="913592" y="2428374"/>
          <a:ext cx="1538155" cy="1330685"/>
        </a:xfrm>
        <a:prstGeom prst="hexagon">
          <a:avLst>
            <a:gd name="adj" fmla="val 28570"/>
            <a:gd name="vf" fmla="val 11547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Enable transformation</a:t>
          </a:r>
        </a:p>
      </dsp:txBody>
      <dsp:txXfrm>
        <a:off x="1168497" y="2648897"/>
        <a:ext cx="1028345" cy="889639"/>
      </dsp:txXfrm>
    </dsp:sp>
    <dsp:sp modelId="{C5A425D9-4151-4A77-AD71-BFDEBC1E8358}">
      <dsp:nvSpPr>
        <dsp:cNvPr id="0" name=""/>
        <dsp:cNvSpPr/>
      </dsp:nvSpPr>
      <dsp:spPr>
        <a:xfrm>
          <a:off x="913592" y="816629"/>
          <a:ext cx="1538155" cy="1330685"/>
        </a:xfrm>
        <a:prstGeom prst="hexagon">
          <a:avLst>
            <a:gd name="adj" fmla="val 2857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Intelligent </a:t>
          </a:r>
          <a:r>
            <a:rPr lang="en-US" altLang="zh-CN" sz="1200" kern="1200" dirty="0"/>
            <a:t>automation</a:t>
          </a:r>
          <a:endParaRPr lang="en-US" sz="1200" kern="1200" dirty="0"/>
        </a:p>
      </dsp:txBody>
      <dsp:txXfrm>
        <a:off x="1168497" y="1037152"/>
        <a:ext cx="1028345" cy="889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2B53E-EF74-4B45-95E3-9B5C82B1340C}">
      <dsp:nvSpPr>
        <dsp:cNvPr id="0" name=""/>
        <dsp:cNvSpPr/>
      </dsp:nvSpPr>
      <dsp:spPr>
        <a:xfrm>
          <a:off x="887011" y="0"/>
          <a:ext cx="10052792" cy="170503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19A44-3F39-4942-91AB-6CD9827FCCA5}">
      <dsp:nvSpPr>
        <dsp:cNvPr id="0" name=""/>
        <dsp:cNvSpPr/>
      </dsp:nvSpPr>
      <dsp:spPr>
        <a:xfrm>
          <a:off x="4042" y="511509"/>
          <a:ext cx="2626384" cy="6820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</a:t>
          </a:r>
        </a:p>
      </dsp:txBody>
      <dsp:txXfrm>
        <a:off x="37335" y="544802"/>
        <a:ext cx="2559798" cy="615427"/>
      </dsp:txXfrm>
    </dsp:sp>
    <dsp:sp modelId="{02C6F657-DC22-4874-B839-ED01F19A363A}">
      <dsp:nvSpPr>
        <dsp:cNvPr id="0" name=""/>
        <dsp:cNvSpPr/>
      </dsp:nvSpPr>
      <dsp:spPr>
        <a:xfrm>
          <a:off x="3068157" y="511509"/>
          <a:ext cx="2626384" cy="6820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Prep</a:t>
          </a:r>
          <a:endParaRPr lang="en-US" sz="2800" kern="1200" dirty="0"/>
        </a:p>
      </dsp:txBody>
      <dsp:txXfrm>
        <a:off x="3101450" y="544802"/>
        <a:ext cx="2559798" cy="615427"/>
      </dsp:txXfrm>
    </dsp:sp>
    <dsp:sp modelId="{C00E62EC-C631-4907-A6A9-ACFBFA247E6A}">
      <dsp:nvSpPr>
        <dsp:cNvPr id="0" name=""/>
        <dsp:cNvSpPr/>
      </dsp:nvSpPr>
      <dsp:spPr>
        <a:xfrm>
          <a:off x="6132272" y="511509"/>
          <a:ext cx="2626384" cy="6820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model</a:t>
          </a:r>
        </a:p>
      </dsp:txBody>
      <dsp:txXfrm>
        <a:off x="6165565" y="544802"/>
        <a:ext cx="2559798" cy="615427"/>
      </dsp:txXfrm>
    </dsp:sp>
    <dsp:sp modelId="{2B39B381-C3F6-40EF-9153-96AC0478B650}">
      <dsp:nvSpPr>
        <dsp:cNvPr id="0" name=""/>
        <dsp:cNvSpPr/>
      </dsp:nvSpPr>
      <dsp:spPr>
        <a:xfrm>
          <a:off x="9196388" y="511509"/>
          <a:ext cx="2626384" cy="6820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output</a:t>
          </a:r>
        </a:p>
      </dsp:txBody>
      <dsp:txXfrm>
        <a:off x="9229681" y="544802"/>
        <a:ext cx="2559798" cy="61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1C52-8FA2-8BD5-A09A-E2927998A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20DFD-1E22-43DB-B35A-A079F8612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F970-51F4-F8FF-7CC7-4222A790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10EAA-2FA5-56C7-8951-076BA09F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8ED45-4974-A9FC-71CC-4816E7C7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1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7186-89DF-9CB8-4905-E3764650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B069-61BC-88A8-7129-04D9DE104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66261-B9DB-F723-6370-7A2BE145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FC1C7-900A-75A8-37D4-6418EF26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CA64D-CED8-81DD-DD8E-6C2B8E82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3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9715-852C-65F4-297E-D5D6846B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01182-6EBC-B8D9-9261-D530A7FEC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11C86-E388-47EC-ADE5-928E2CF0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9C5C6-3FCF-F7A3-6284-9848D7F0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C8735-3DD6-066A-549A-28756E93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9239-5851-39CB-E48C-E3869DB4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DD86-D1FF-622C-EE29-4547413FC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3FEA1-DBDF-9B51-7EF3-FCC79BCD9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D9EB8-21D8-35AC-CBD2-D4868F29D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285C-90C9-6210-85DD-458A1116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3E3E6-5B83-248D-D496-783C4D44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7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B853-8877-7B47-39C1-4F9EDB9A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2F7D5-EB90-766B-3793-980AF7D18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54DC2-E07B-43C5-D0B9-248712301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E8FB9-D875-925D-8A56-D0840193F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CDF8A-3ED5-9F97-0153-800E4D402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7D5C6-5139-DA91-578B-F0446B7B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41C5F-C87E-06B5-1854-71302365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159F2-9D9B-4DEC-85C4-D57A3FB1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3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7832A-7CB3-697F-8CB0-63DD05F9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AA103-D99E-EED8-460A-2E4F441C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6CD83-4435-5A36-ECC9-AF13AF51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6D96A-C93B-0064-3417-C373F25F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4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E9850-78F3-5240-B045-6DE4C69C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0C0D0-7279-369A-5C8F-F7E2D6F8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46D61-AA17-7427-67FF-10457941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1AD7-9282-7742-2BE4-B7B10DE6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6B71D-B0CD-BD22-E0C1-C3F3FB6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0DAA7-E757-4399-8FBA-366FEE4AC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D27CE-5C66-F2DA-7397-4169FDE3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1ABEF-D45D-EBEC-7B02-D9353472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F374A-7CCD-9D7E-93F3-F8A9FD1A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1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A8C5-4A06-AABD-B859-B81844C8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D4E36-BB88-B72C-8301-C6D3A3784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F1AB4-D14B-8C18-0B88-B3BE7939E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64A77-2E9D-ADB8-E5A7-BC9AA3E2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DAAFE-7CA5-F0D7-F4A0-57DCF4FA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30CF4-8E2A-AEBA-E501-87DC4729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3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DF36-2EB3-D0A6-DB8C-2F98992E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2F9CF-58AE-56A1-9DFC-2F41CCD79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BDEA3-8BA9-FAD4-4329-BEDA8FBE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D4CF-4A1A-3FB2-DF00-98C123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D4D3-D9A9-7945-53EC-09072CA6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25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BE66C-533B-759D-6C0C-87020D3CB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23655-78FC-D214-11D5-494FECF48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9B5D6-A190-C68C-4BA2-715AF8A3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7C4A7-DC25-1B97-582A-BF44EBEA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C8477-5A1B-857D-0290-37251759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EC3F2-AEAA-D5A7-58DD-B8F5E9F7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7A714-DB7C-42A2-743A-8E2CD351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5DB4D-76AC-304C-9D64-9DBC973EC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F5FDE-556D-4288-960F-3880543CC0D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0D65C-CA1B-1EB8-5CB5-C2FDDDCCB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EF16-6C3A-73D2-B3AD-89144B5DD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052D6-915B-481B-98DC-569BDBEA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0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eU8rsZ82TA" TargetMode="External"/><Relationship Id="rId7" Type="http://schemas.openxmlformats.org/officeDocument/2006/relationships/hyperlink" Target="https://github.com/CSOIreland/Code-Transcompiler-using-LLMs-public/blob/main/README.md" TargetMode="External"/><Relationship Id="rId2" Type="http://schemas.openxmlformats.org/officeDocument/2006/relationships/hyperlink" Target="https://www.youtube.com/watch?v=vioJCGXSejQ&amp;t=356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snr/sas-to-r" TargetMode="External"/><Relationship Id="rId5" Type="http://schemas.openxmlformats.org/officeDocument/2006/relationships/hyperlink" Target="https://builder.aws.com/content/2cKbgI3WsAYTiDM0J48uEMVqOVW/understanding-the-7-rs-cloud-migration-strategies" TargetMode="External"/><Relationship Id="rId4" Type="http://schemas.openxmlformats.org/officeDocument/2006/relationships/hyperlink" Target="https://aws.amazon.com/what-is/cloud-migration-strategy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09A87-E946-B534-2098-9ADB162D3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17" y="311771"/>
            <a:ext cx="12056165" cy="2387600"/>
          </a:xfrm>
        </p:spPr>
        <p:txBody>
          <a:bodyPr>
            <a:normAutofit fontScale="90000"/>
          </a:bodyPr>
          <a:lstStyle/>
          <a:p>
            <a:r>
              <a:rPr lang="en-US" sz="8000" b="1" dirty="0">
                <a:latin typeface="+mn-lt"/>
                <a:cs typeface="Times New Roman" panose="02020603050405020304" pitchFamily="18" charset="0"/>
              </a:rPr>
              <a:t>From On-Premise</a:t>
            </a:r>
            <a:r>
              <a:rPr lang="en-US" altLang="zh-CN" sz="8000" b="1" dirty="0">
                <a:latin typeface="+mn-lt"/>
                <a:cs typeface="Times New Roman" panose="02020603050405020304" pitchFamily="18" charset="0"/>
              </a:rPr>
              <a:t>s</a:t>
            </a:r>
            <a:r>
              <a:rPr lang="en-US" sz="8000" b="1" dirty="0">
                <a:latin typeface="+mn-lt"/>
                <a:cs typeface="Times New Roman" panose="02020603050405020304" pitchFamily="18" charset="0"/>
              </a:rPr>
              <a:t> to Cloud: </a:t>
            </a:r>
            <a:br>
              <a:rPr lang="en-US" b="1" dirty="0">
                <a:latin typeface="+mn-lt"/>
                <a:cs typeface="Times New Roman" panose="02020603050405020304" pitchFamily="18" charset="0"/>
              </a:rPr>
            </a:b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600" b="1" dirty="0">
                <a:latin typeface="+mn-lt"/>
                <a:cs typeface="Times New Roman" panose="02020603050405020304" pitchFamily="18" charset="0"/>
              </a:rPr>
              <a:t>Lessons Learned from an Enterprise AWS Migration at Fannie Mae</a:t>
            </a:r>
            <a:endParaRPr lang="en-US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8DE2D-D5B9-D25A-E851-B1C7758AA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8629"/>
            <a:ext cx="9144000" cy="1655762"/>
          </a:xfrm>
        </p:spPr>
        <p:txBody>
          <a:bodyPr/>
          <a:lstStyle/>
          <a:p>
            <a:r>
              <a:rPr lang="en-US" altLang="zh-CN" b="1" dirty="0">
                <a:cs typeface="Times New Roman" panose="02020603050405020304" pitchFamily="18" charset="0"/>
              </a:rPr>
              <a:t>Wujian Xue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Oct 2026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Cincinnati, OH</a:t>
            </a:r>
          </a:p>
        </p:txBody>
      </p:sp>
    </p:spTree>
    <p:extLst>
      <p:ext uri="{BB962C8B-B14F-4D97-AF65-F5344CB8AC3E}">
        <p14:creationId xmlns:p14="http://schemas.microsoft.com/office/powerpoint/2010/main" val="257215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0338-C315-D975-5D8F-2109AEE0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E6403-ACCF-DA80-E763-D2DE51B2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Background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Cloud Migration at Fannie Mae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My work in the migration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Additional value: Efficiency and Accuracy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Gen AI and future of code conversion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BC297-F8DE-1784-BFD2-67AEED894C57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401535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F433-6378-4049-F2C3-EE92E004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53" y="72592"/>
            <a:ext cx="11092132" cy="1133126"/>
          </a:xfrm>
        </p:spPr>
        <p:txBody>
          <a:bodyPr/>
          <a:lstStyle/>
          <a:p>
            <a:r>
              <a:rPr lang="en-US" dirty="0"/>
              <a:t>1.Background – Fannie Mae and cloud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38B1-29DE-A684-2D91-585BAAF4F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547" y="6329758"/>
            <a:ext cx="2364503" cy="455650"/>
          </a:xfrm>
        </p:spPr>
        <p:txBody>
          <a:bodyPr>
            <a:normAutofit fontScale="70000" lnSpcReduction="20000"/>
          </a:bodyPr>
          <a:lstStyle/>
          <a:p>
            <a:r>
              <a:rPr lang="en-US" sz="1500" dirty="0"/>
              <a:t>What is the problem and why</a:t>
            </a:r>
          </a:p>
          <a:p>
            <a:r>
              <a:rPr lang="en-US" altLang="zh-CN" sz="1500" dirty="0"/>
              <a:t>Women in the migration</a:t>
            </a:r>
            <a:endParaRPr lang="en-US" sz="15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AE49C-C251-F75B-7AAE-63C6E117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207" y="1397420"/>
            <a:ext cx="2269375" cy="1191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F343E3-B481-8821-EE0D-C79034097980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09CA8B3-F6AF-00DD-B037-578938DDC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375990"/>
              </p:ext>
            </p:extLst>
          </p:nvPr>
        </p:nvGraphicFramePr>
        <p:xfrm>
          <a:off x="6770569" y="1821369"/>
          <a:ext cx="6193224" cy="457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F379E69-1A2C-A431-2445-45C07F7232B2}"/>
              </a:ext>
            </a:extLst>
          </p:cNvPr>
          <p:cNvSpPr txBox="1">
            <a:spLocks/>
          </p:cNvSpPr>
          <p:nvPr/>
        </p:nvSpPr>
        <p:spPr>
          <a:xfrm>
            <a:off x="323439" y="2588543"/>
            <a:ext cx="6797027" cy="3670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Business: </a:t>
            </a:r>
          </a:p>
          <a:p>
            <a:pPr lvl="1"/>
            <a:r>
              <a:rPr lang="en-US" sz="1600" dirty="0"/>
              <a:t>Buy mortgage from lenders across the U.S., give lenders cash to make more home loans.</a:t>
            </a:r>
          </a:p>
          <a:p>
            <a:pPr lvl="1"/>
            <a:r>
              <a:rPr lang="en-US" sz="1600" dirty="0"/>
              <a:t>Pool most of the loans into mortgage-backed securities(MBS) and guarantees investors timely payment of principal and interest.</a:t>
            </a:r>
          </a:p>
          <a:p>
            <a:pPr lvl="1"/>
            <a:r>
              <a:rPr lang="en-US" sz="1600" dirty="0"/>
              <a:t>Earns guarantee fees on the security and interest income on the loan</a:t>
            </a:r>
          </a:p>
          <a:p>
            <a:endParaRPr lang="en-US" sz="2000" dirty="0"/>
          </a:p>
          <a:p>
            <a:r>
              <a:rPr lang="en-US" sz="2000" dirty="0"/>
              <a:t>Numbers: </a:t>
            </a:r>
          </a:p>
          <a:p>
            <a:pPr lvl="1"/>
            <a:r>
              <a:rPr lang="en-US" sz="1600" dirty="0"/>
              <a:t>Chartered by the Congress in 1938, under federal conservatorship in 2008. </a:t>
            </a:r>
          </a:p>
          <a:p>
            <a:pPr lvl="1"/>
            <a:r>
              <a:rPr lang="en-US" sz="1600" dirty="0"/>
              <a:t>Hold $43. trillion assets, 25%  homes in the U.S. are financed by Fannie Mae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78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B569-8DFD-66E2-48FC-0E51EBAA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96B7E-4004-A095-EE40-DCB4D9B6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33" y="11441"/>
            <a:ext cx="10515600" cy="1325563"/>
          </a:xfrm>
        </p:spPr>
        <p:txBody>
          <a:bodyPr/>
          <a:lstStyle/>
          <a:p>
            <a:r>
              <a:rPr lang="en-US" dirty="0"/>
              <a:t>2.Cloud Migration in Fannie Mae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B221D-14C4-F1B4-56D8-C8BBFA8E5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3" y="1204849"/>
            <a:ext cx="8228162" cy="512133"/>
          </a:xfrm>
        </p:spPr>
        <p:txBody>
          <a:bodyPr/>
          <a:lstStyle/>
          <a:p>
            <a:r>
              <a:rPr lang="en-US" altLang="zh-CN" dirty="0"/>
              <a:t>Cloud adoption is a key for the digital transformation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C3A5D-6610-AA58-25BF-30BC75C3918A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BA9E7C-9A80-3F03-CBAB-AD3A0761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7" y="3018213"/>
            <a:ext cx="4140679" cy="3428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523028-E3C7-8565-37A0-0CFFDC70841B}"/>
              </a:ext>
            </a:extLst>
          </p:cNvPr>
          <p:cNvSpPr txBox="1"/>
          <p:nvPr/>
        </p:nvSpPr>
        <p:spPr>
          <a:xfrm>
            <a:off x="938618" y="2541058"/>
            <a:ext cx="2950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 Rs in AWS Cloud Migration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63698-66A8-108C-94D6-43284B120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67" y="2398611"/>
            <a:ext cx="1290890" cy="861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602E8-F311-D5EB-0349-5E5FF992C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943" y="3691313"/>
            <a:ext cx="1388533" cy="104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7BABC-73FF-17A8-86F9-905F442F4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765" y="3759799"/>
            <a:ext cx="1253067" cy="939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47517D-7D0A-30F0-A5C2-3BF87FF00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7547" y="5037177"/>
            <a:ext cx="1580274" cy="939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DBA27B-B3D6-2D04-E029-B9D763561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6007" y="3759799"/>
            <a:ext cx="1531814" cy="7089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9811D6-30DE-53EC-DF81-C0AC4D13C5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6970" y="5125343"/>
            <a:ext cx="1514018" cy="8516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7EF65C-5FE5-2B72-10BD-5E19F6412F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5138" y="5037177"/>
            <a:ext cx="1577323" cy="10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1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882F-D782-9FDA-A7C4-638CA99A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A0EB-8A86-C17A-5138-140FA594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52" y="360888"/>
            <a:ext cx="11855517" cy="1325563"/>
          </a:xfrm>
        </p:spPr>
        <p:txBody>
          <a:bodyPr/>
          <a:lstStyle/>
          <a:p>
            <a:r>
              <a:rPr lang="en-US" dirty="0"/>
              <a:t>1.Background – cloud in other 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E67F2-C177-752E-1FA2-340506D3C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15" y="1498251"/>
            <a:ext cx="5691996" cy="585066"/>
          </a:xfrm>
        </p:spPr>
        <p:txBody>
          <a:bodyPr/>
          <a:lstStyle/>
          <a:p>
            <a:r>
              <a:rPr lang="en-US" dirty="0"/>
              <a:t>What is the problem and why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FC91A-FA92-5907-9456-EA27FC61D67C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0F641-F8E6-3057-3D70-DDCFE555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9" y="3576330"/>
            <a:ext cx="2007612" cy="2007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480D7-26D2-3482-A7ED-592B9035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91" y="2508702"/>
            <a:ext cx="1257396" cy="1257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B4DBD-0145-6AEA-FF24-821FDDB1F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894" y="2572732"/>
            <a:ext cx="1887113" cy="1049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79E0B5-B727-D5A9-055D-3DC0F311C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415" y="5508119"/>
            <a:ext cx="2174759" cy="12050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E0E9E8-3561-D27F-FB1C-BD3FE6C2A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2751" y="4015106"/>
            <a:ext cx="1699245" cy="11300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4EBAE1-AC87-5FC3-440B-94B9F0AD86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7339" y="2824063"/>
            <a:ext cx="2244365" cy="626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9F4ED9-5067-B79E-010F-3149E4123E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295" y="3879436"/>
            <a:ext cx="2350433" cy="1322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C5BCCF-B960-1C48-CEDA-C71C3CDE5A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766" y="5619747"/>
            <a:ext cx="1455214" cy="8731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693828-9283-DE27-DB38-5E94EE2819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7306" y="2290094"/>
            <a:ext cx="2647611" cy="158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33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EECB-BE89-FA10-B559-C2D06E9B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2.Cloud Migration in Fannie Mae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C73C9-79BC-BE4B-D99B-67D620D6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0902" cy="4351338"/>
          </a:xfrm>
        </p:spPr>
        <p:txBody>
          <a:bodyPr/>
          <a:lstStyle/>
          <a:p>
            <a:r>
              <a:rPr lang="en-US" dirty="0"/>
              <a:t>What has been done about it?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55003-FA9F-622B-44E4-FC338B76A12B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A128A-3E1F-2F81-712A-3809EA2AC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618" y="2410690"/>
            <a:ext cx="3642982" cy="3016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02E16F-7A83-3FFA-BF0B-8B32BA61716B}"/>
              </a:ext>
            </a:extLst>
          </p:cNvPr>
          <p:cNvSpPr txBox="1"/>
          <p:nvPr/>
        </p:nvSpPr>
        <p:spPr>
          <a:xfrm>
            <a:off x="8279058" y="1698736"/>
            <a:ext cx="2950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 Rs in AWS Cloud Migration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087BF-A1B2-3CB3-9920-38BE92E30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13" y="3623715"/>
            <a:ext cx="1290890" cy="861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282124-3EF7-4252-3560-5FC11F8C4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13" y="5194362"/>
            <a:ext cx="1877291" cy="769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7C989E-9BF8-3A3A-3F0C-0FFB672243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295" y="3501925"/>
            <a:ext cx="2143471" cy="8031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BA16AA-692D-7041-DE6B-C2AAAA535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1690" y="4997264"/>
            <a:ext cx="2862262" cy="9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6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86BA-7B79-D560-2DEE-637F0E8C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F5B2-2031-0D7D-9030-AC5DD355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My work in the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CAF14-6B14-4040-C260-9DEF69839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has been done about it?</a:t>
            </a:r>
          </a:p>
          <a:p>
            <a:r>
              <a:rPr lang="en-US" dirty="0"/>
              <a:t>EMA team single family loss severity and cash flow.</a:t>
            </a:r>
          </a:p>
          <a:p>
            <a:r>
              <a:rPr lang="en-US" dirty="0"/>
              <a:t>Loss severity = dollar loss / unpaid principle balance(UPB)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68606-9E81-E44C-879B-FB4E3B5113C4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114712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6789-BA5D-116A-9606-AAEF943A7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refactoring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65D244A-BC2B-A613-E67C-48CF73C5F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776967"/>
              </p:ext>
            </p:extLst>
          </p:nvPr>
        </p:nvGraphicFramePr>
        <p:xfrm>
          <a:off x="146649" y="1525848"/>
          <a:ext cx="11826815" cy="1705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AB3908-57C4-C0B7-4C30-8AC2917A9C16}"/>
              </a:ext>
            </a:extLst>
          </p:cNvPr>
          <p:cNvSpPr txBox="1">
            <a:spLocks/>
          </p:cNvSpPr>
          <p:nvPr/>
        </p:nvSpPr>
        <p:spPr>
          <a:xfrm>
            <a:off x="146648" y="3079730"/>
            <a:ext cx="3087153" cy="320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400" dirty="0"/>
              <a:t>Convert sas7bdat to </a:t>
            </a:r>
            <a:r>
              <a:rPr lang="en-US" sz="7400" dirty="0" err="1"/>
              <a:t>rds</a:t>
            </a:r>
            <a:endParaRPr lang="en-US" sz="7400" dirty="0"/>
          </a:p>
          <a:p>
            <a:r>
              <a:rPr lang="en-US" sz="7400" dirty="0"/>
              <a:t>Import dataset</a:t>
            </a:r>
          </a:p>
          <a:p>
            <a:r>
              <a:rPr lang="en-US" sz="7400" dirty="0"/>
              <a:t>Data format: sas7bdat/</a:t>
            </a:r>
            <a:r>
              <a:rPr lang="en-US" sz="7400" dirty="0" err="1"/>
              <a:t>rds</a:t>
            </a:r>
            <a:r>
              <a:rPr lang="en-US" sz="7400" dirty="0"/>
              <a:t>/parquet</a:t>
            </a:r>
          </a:p>
          <a:p>
            <a:endParaRPr lang="en-US" sz="7400" dirty="0"/>
          </a:p>
          <a:p>
            <a:r>
              <a:rPr lang="en-US" sz="7400" dirty="0"/>
              <a:t>date/month/time,</a:t>
            </a:r>
          </a:p>
          <a:p>
            <a:r>
              <a:rPr lang="en-US" altLang="zh-CN" sz="7400" dirty="0"/>
              <a:t>Origin date</a:t>
            </a:r>
            <a:endParaRPr lang="en-US" sz="7400" dirty="0"/>
          </a:p>
          <a:p>
            <a:r>
              <a:rPr lang="en-US" sz="7400" dirty="0"/>
              <a:t>missing values, </a:t>
            </a:r>
          </a:p>
          <a:p>
            <a:r>
              <a:rPr lang="en-US" sz="7400" dirty="0"/>
              <a:t>N/A </a:t>
            </a:r>
          </a:p>
          <a:p>
            <a:r>
              <a:rPr lang="en-US" sz="7400" dirty="0"/>
              <a:t>Updated monthly</a:t>
            </a:r>
          </a:p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472C4E-723B-DF16-860A-479E2B15B381}"/>
              </a:ext>
            </a:extLst>
          </p:cNvPr>
          <p:cNvSpPr txBox="1">
            <a:spLocks/>
          </p:cNvSpPr>
          <p:nvPr/>
        </p:nvSpPr>
        <p:spPr>
          <a:xfrm>
            <a:off x="3260785" y="3079730"/>
            <a:ext cx="3022456" cy="341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Variables: filter data </a:t>
            </a:r>
          </a:p>
          <a:p>
            <a:r>
              <a:rPr lang="en-US" sz="2400" dirty="0"/>
              <a:t>merge tables</a:t>
            </a:r>
          </a:p>
          <a:p>
            <a:pPr marL="458788" lvl="1" indent="-342900">
              <a:buFont typeface="Courier New" panose="02070309020205020404" pitchFamily="49" charset="0"/>
              <a:buChar char="o"/>
            </a:pPr>
            <a:r>
              <a:rPr lang="en-US" dirty="0"/>
              <a:t>Concatenate</a:t>
            </a:r>
          </a:p>
          <a:p>
            <a:pPr marL="458788" lvl="1" indent="-342900">
              <a:buFont typeface="Courier New" panose="02070309020205020404" pitchFamily="49" charset="0"/>
              <a:buChar char="o"/>
            </a:pPr>
            <a:r>
              <a:rPr lang="en-US" dirty="0"/>
              <a:t>match merging (with n= dataset option)</a:t>
            </a:r>
          </a:p>
          <a:p>
            <a:pPr marL="458788" lvl="1" indent="-342900">
              <a:buFont typeface="Courier New" panose="02070309020205020404" pitchFamily="49" charset="0"/>
              <a:buChar char="o"/>
            </a:pPr>
            <a:r>
              <a:rPr lang="en-US" dirty="0"/>
              <a:t>match merging (if a and b)</a:t>
            </a:r>
          </a:p>
          <a:p>
            <a:pPr marL="228600" lvl="1">
              <a:spcBef>
                <a:spcPts val="1000"/>
              </a:spcBef>
            </a:pPr>
            <a:r>
              <a:rPr lang="en-US" altLang="zh-CN" dirty="0"/>
              <a:t>Loops: </a:t>
            </a:r>
          </a:p>
          <a:p>
            <a:pPr marL="458788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altLang="zh-CN" dirty="0"/>
              <a:t>do until</a:t>
            </a:r>
          </a:p>
          <a:p>
            <a:pPr marL="458788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Nested do loops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A66A781-E17E-6043-235A-E5DF2C57F5D7}"/>
              </a:ext>
            </a:extLst>
          </p:cNvPr>
          <p:cNvSpPr txBox="1">
            <a:spLocks/>
          </p:cNvSpPr>
          <p:nvPr/>
        </p:nvSpPr>
        <p:spPr>
          <a:xfrm>
            <a:off x="6310224" y="2923282"/>
            <a:ext cx="3334107" cy="79680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Spline in Linear/logistic regression</a:t>
            </a:r>
          </a:p>
          <a:p>
            <a:r>
              <a:rPr lang="en-US" dirty="0"/>
              <a:t>Two </a:t>
            </a:r>
            <a:r>
              <a:rPr lang="en-US"/>
              <a:t>step regression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C66BB-B97B-380D-5781-54F8B1CBEC03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3588703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D0B7-14BF-9591-2491-51EC0B8A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B53C-360B-A7DC-1397-EE5C9B1C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SAS Steps/Proc vs R package/functions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9187F8-9708-A2D8-B314-1950D2AA2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56" y="1690688"/>
            <a:ext cx="1877291" cy="769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93ED12-F9C4-7300-59D7-16AC1808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404" y="1690688"/>
            <a:ext cx="2143471" cy="803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EB734-6903-49D5-A647-AE7BC6E4E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581" y="1608873"/>
            <a:ext cx="2862262" cy="96678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2E8D98-C1AD-CCC4-08D9-50F3BE804787}"/>
              </a:ext>
            </a:extLst>
          </p:cNvPr>
          <p:cNvSpPr txBox="1">
            <a:spLocks/>
          </p:cNvSpPr>
          <p:nvPr/>
        </p:nvSpPr>
        <p:spPr>
          <a:xfrm>
            <a:off x="4574363" y="2735206"/>
            <a:ext cx="2233762" cy="3413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tidyverse</a:t>
            </a:r>
            <a:r>
              <a:rPr lang="en-US" altLang="zh-CN" dirty="0"/>
              <a:t>, </a:t>
            </a:r>
          </a:p>
          <a:p>
            <a:r>
              <a:rPr lang="en-US" altLang="zh-CN" dirty="0"/>
              <a:t>arsenal,</a:t>
            </a:r>
          </a:p>
          <a:p>
            <a:r>
              <a:rPr lang="en-US" altLang="zh-CN" dirty="0"/>
              <a:t>Haven</a:t>
            </a:r>
          </a:p>
          <a:p>
            <a:r>
              <a:rPr lang="en-US" altLang="zh-CN" dirty="0" err="1"/>
              <a:t>aod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C96031-E926-D7AB-F4F4-6F05AB85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016" y="2735206"/>
            <a:ext cx="4012387" cy="468559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PROC TABULATE – </a:t>
            </a:r>
            <a:r>
              <a:rPr lang="en-US" dirty="0" err="1"/>
              <a:t>summarise</a:t>
            </a:r>
            <a:r>
              <a:rPr lang="en-US" dirty="0"/>
              <a:t>()</a:t>
            </a:r>
          </a:p>
          <a:p>
            <a:r>
              <a:rPr lang="en-US" dirty="0"/>
              <a:t>PROC GENMOD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43CC5-CEC4-33F3-BEEC-1F69BADAA8CF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342157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5404-4793-4153-45B6-147571F0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2713-65CC-0B2F-4169-1F342A16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refactoring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5A04A-A19E-03F6-5A6F-E66D9D66B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1936" cy="7968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Convert in 4 methods</a:t>
            </a:r>
          </a:p>
          <a:p>
            <a:r>
              <a:rPr lang="en-US" dirty="0"/>
              <a:t>Page 99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76FA3-9937-CE0D-6532-8C7B6F12DE9F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31050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74CE9-62D6-2BB2-E61F-1B1261FA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2F8B-F4C9-4874-7DA4-22CD5867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refactoring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C23D4-DEEC-D0CD-B063-D5658C599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47216"/>
            <a:ext cx="5277727" cy="3543961"/>
          </a:xfrm>
        </p:spPr>
        <p:txBody>
          <a:bodyPr>
            <a:normAutofit/>
          </a:bodyPr>
          <a:lstStyle/>
          <a:p>
            <a:r>
              <a:rPr lang="en-US" dirty="0"/>
              <a:t>What have I done about it?</a:t>
            </a:r>
          </a:p>
          <a:p>
            <a:r>
              <a:rPr lang="en-US" altLang="zh-CN" dirty="0"/>
              <a:t>Enterprise Modeling and Analytics – the Cash Flow model</a:t>
            </a:r>
          </a:p>
          <a:p>
            <a:r>
              <a:rPr lang="en-US" altLang="zh-CN" dirty="0"/>
              <a:t>SAS: PROC compare</a:t>
            </a:r>
          </a:p>
          <a:p>
            <a:r>
              <a:rPr lang="en-US" dirty="0"/>
              <a:t>R: compared</a:t>
            </a:r>
          </a:p>
          <a:p>
            <a:r>
              <a:rPr lang="en-US" dirty="0"/>
              <a:t>How to make a tolerance level?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42BA1-1151-4CFE-D8B5-E02DDD41A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97" y="5207810"/>
            <a:ext cx="1877291" cy="769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468B4-F5B5-FE68-0C47-CC2309DE1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64" y="5174343"/>
            <a:ext cx="2143471" cy="803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AC54FE-1225-9162-8A7B-6CAB854D7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702" y="5210176"/>
            <a:ext cx="2862262" cy="96678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DAD067-F15E-9C00-BF8C-B324CCAB9A23}"/>
              </a:ext>
            </a:extLst>
          </p:cNvPr>
          <p:cNvSpPr txBox="1">
            <a:spLocks/>
          </p:cNvSpPr>
          <p:nvPr/>
        </p:nvSpPr>
        <p:spPr>
          <a:xfrm>
            <a:off x="6304675" y="1347216"/>
            <a:ext cx="4349496" cy="341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Enterprise Modeling and Analytics – the Cash Flow model</a:t>
            </a:r>
          </a:p>
          <a:p>
            <a:r>
              <a:rPr lang="en-US" dirty="0"/>
              <a:t>Data: date/month/time, missing values, N/A</a:t>
            </a:r>
          </a:p>
          <a:p>
            <a:r>
              <a:rPr lang="en-US" dirty="0"/>
              <a:t>Variables: filter data, </a:t>
            </a:r>
          </a:p>
          <a:p>
            <a:r>
              <a:rPr lang="en-US" dirty="0"/>
              <a:t>merge tables</a:t>
            </a:r>
          </a:p>
          <a:p>
            <a:pPr lvl="1"/>
            <a:r>
              <a:rPr lang="en-US" dirty="0"/>
              <a:t>Concatenate</a:t>
            </a:r>
          </a:p>
          <a:p>
            <a:pPr lvl="1"/>
            <a:r>
              <a:rPr lang="en-US" dirty="0"/>
              <a:t>match merging (with n= dataset option)</a:t>
            </a:r>
          </a:p>
          <a:p>
            <a:r>
              <a:rPr lang="en-US" dirty="0"/>
              <a:t>Models: logistic regression with splines</a:t>
            </a:r>
          </a:p>
          <a:p>
            <a:pPr lvl="1"/>
            <a:r>
              <a:rPr lang="en-US" dirty="0"/>
              <a:t>Choose number and location of the knots.</a:t>
            </a:r>
          </a:p>
          <a:p>
            <a:r>
              <a:rPr lang="en-US" dirty="0"/>
              <a:t>Macro functions</a:t>
            </a:r>
          </a:p>
          <a:p>
            <a:r>
              <a:rPr lang="en-US" dirty="0"/>
              <a:t>Output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02195-335B-6B7B-3FC8-0E3B8884489C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4097000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0D58-006F-0ED1-D928-9053639D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0A5E-A212-3E5A-61F0-5486D95F0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R/ Python is slower than</a:t>
            </a:r>
          </a:p>
          <a:p>
            <a:r>
              <a:rPr lang="en-US" altLang="zh-CN" dirty="0"/>
              <a:t>Do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459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3D30-F5D8-4541-A08A-A1F0FD25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21899-9ED9-44BF-4E51-990C192720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𝑝𝑟𝑖𝑐𝑒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Var2 and var3 have differences at  E-09 level.</a:t>
                </a:r>
              </a:p>
              <a:p>
                <a:r>
                  <a:rPr lang="en-US" dirty="0"/>
                  <a:t>Home price is a large number, </a:t>
                </a:r>
              </a:p>
              <a:p>
                <a:pPr lvl="1"/>
                <a:r>
                  <a:rPr lang="en-US" dirty="0"/>
                  <a:t>e.g. $1,000,000, </a:t>
                </a:r>
              </a:p>
              <a:p>
                <a:pPr lvl="1"/>
                <a:r>
                  <a:rPr lang="en-US" dirty="0"/>
                  <a:t>median house price in the U.S. :$430,000</a:t>
                </a:r>
              </a:p>
              <a:p>
                <a:r>
                  <a:rPr lang="en-US" dirty="0"/>
                  <a:t>Var 1 are different</a:t>
                </a:r>
              </a:p>
              <a:p>
                <a:r>
                  <a:rPr lang="en-US" dirty="0"/>
                  <a:t>This can be applied to many cases, such as population, distance.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21899-9ED9-44BF-4E51-990C192720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B99E25-EC46-C1F5-C053-56B96913954B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3973137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1B93-71FC-ED4E-DAD1-2DC88351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Merge Tables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8754-420C-E67C-1B6E-990DE7260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concatenation</a:t>
            </a:r>
          </a:p>
        </p:txBody>
      </p:sp>
    </p:spTree>
    <p:extLst>
      <p:ext uri="{BB962C8B-B14F-4D97-AF65-F5344CB8AC3E}">
        <p14:creationId xmlns:p14="http://schemas.microsoft.com/office/powerpoint/2010/main" val="251001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6558-4EC7-F455-AEE9-D12FD0A8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E68B-3CB9-4EB7-342D-A9E2A3772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additional value does my approach provide?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F3816E-67F8-3536-C248-C26EC415F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832" y="5242539"/>
            <a:ext cx="4156942" cy="146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1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1912-C0D5-AF85-91B0-7D953292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637E-A23A-F19C-2EC6-9A9B52F8A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 we go from there?</a:t>
            </a:r>
          </a:p>
          <a:p>
            <a:r>
              <a:rPr lang="en-US" dirty="0"/>
              <a:t>Tech in 2020 seems pretty old at 2026. So how will we see in 2030?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81C29-D8CF-F939-8E3B-1003A551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102" y="2949940"/>
            <a:ext cx="6998898" cy="37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2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5071-DC72-93E5-9B2F-5F473699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56FF-E78F-8DA1-FCFF-D93708555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AWS </a:t>
            </a:r>
            <a:r>
              <a:rPr lang="en-US" sz="2000" dirty="0" err="1">
                <a:hlinkClick r:id="rId2"/>
              </a:rPr>
              <a:t>re:Invent</a:t>
            </a:r>
            <a:r>
              <a:rPr lang="en-US" sz="2000" dirty="0">
                <a:hlinkClick r:id="rId2"/>
              </a:rPr>
              <a:t> 2021 - Fannie Mae: Migrating at scale without lifting and shifting</a:t>
            </a:r>
            <a:endParaRPr lang="en-US" sz="2000" dirty="0"/>
          </a:p>
          <a:p>
            <a:r>
              <a:rPr lang="en-US" sz="2000" dirty="0">
                <a:hlinkClick r:id="rId3"/>
              </a:rPr>
              <a:t>Fannie Mae’s Digital Transformation Journey with AWS | Amazon Web Services</a:t>
            </a:r>
            <a:endParaRPr lang="en-US" sz="2000" dirty="0"/>
          </a:p>
          <a:p>
            <a:r>
              <a:rPr lang="en-US" sz="2000" dirty="0">
                <a:hlinkClick r:id="rId4"/>
              </a:rPr>
              <a:t>What is a Cloud Migration Strategy? - Cloud Migration Strategy Explained – AWS</a:t>
            </a:r>
            <a:endParaRPr lang="en-US" sz="2000" dirty="0"/>
          </a:p>
          <a:p>
            <a:r>
              <a:rPr lang="en-US" sz="2000" dirty="0">
                <a:hlinkClick r:id="rId5"/>
              </a:rPr>
              <a:t>Understanding the “7 Rs” - Cloud Migration Strategies | AWS Builder Center</a:t>
            </a:r>
            <a:endParaRPr lang="en-US" sz="2000" dirty="0"/>
          </a:p>
          <a:p>
            <a:r>
              <a:rPr lang="en-US" sz="2000" dirty="0" err="1">
                <a:hlinkClick r:id="rId6"/>
              </a:rPr>
              <a:t>asnr</a:t>
            </a:r>
            <a:r>
              <a:rPr lang="en-US" sz="2000" dirty="0">
                <a:hlinkClick r:id="rId6"/>
              </a:rPr>
              <a:t>/</a:t>
            </a:r>
            <a:r>
              <a:rPr lang="en-US" sz="2000" dirty="0" err="1">
                <a:hlinkClick r:id="rId6"/>
              </a:rPr>
              <a:t>sas</a:t>
            </a:r>
            <a:r>
              <a:rPr lang="en-US" sz="2000" dirty="0">
                <a:hlinkClick r:id="rId6"/>
              </a:rPr>
              <a:t>-to-r: Translate SAS to R</a:t>
            </a:r>
            <a:endParaRPr lang="en-US" sz="2000" dirty="0"/>
          </a:p>
          <a:p>
            <a:r>
              <a:rPr lang="en-US" sz="2000" dirty="0">
                <a:hlinkClick r:id="rId7"/>
              </a:rPr>
              <a:t>Code-Transcompiler-using-LLMs-public/README.md at main · </a:t>
            </a:r>
            <a:r>
              <a:rPr lang="en-US" sz="2000" dirty="0" err="1">
                <a:hlinkClick r:id="rId7"/>
              </a:rPr>
              <a:t>CSOIreland</a:t>
            </a:r>
            <a:r>
              <a:rPr lang="en-US" sz="2000" dirty="0">
                <a:hlinkClick r:id="rId7"/>
              </a:rPr>
              <a:t>/Code-Transcompiler-using-LLMs-public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627DE-ACAC-D1AB-193D-32D1237B2FE8}"/>
              </a:ext>
            </a:extLst>
          </p:cNvPr>
          <p:cNvSpPr txBox="1"/>
          <p:nvPr/>
        </p:nvSpPr>
        <p:spPr>
          <a:xfrm>
            <a:off x="7542363" y="6492875"/>
            <a:ext cx="4649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2026, Women in Statistics and Data Science Conference, Cincinnati, OH</a:t>
            </a:r>
          </a:p>
        </p:txBody>
      </p:sp>
    </p:spTree>
    <p:extLst>
      <p:ext uri="{BB962C8B-B14F-4D97-AF65-F5344CB8AC3E}">
        <p14:creationId xmlns:p14="http://schemas.microsoft.com/office/powerpoint/2010/main" val="1077489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5B5A-22EB-F6BE-03B9-DA990AE0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9DD26-0915-7E46-B9E9-A23C10025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5414009"/>
            <a:ext cx="1173480" cy="3324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My </a:t>
            </a:r>
            <a:r>
              <a:rPr lang="en-US" dirty="0" err="1"/>
              <a:t>Github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50AFE-4C70-3BD6-2457-93F253C69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468880"/>
            <a:ext cx="2499360" cy="249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</TotalTime>
  <Words>811</Words>
  <Application>Microsoft Office PowerPoint</Application>
  <PresentationFormat>Widescreen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From On-Premises to Cloud:   Lessons Learned from an Enterprise AWS Migration at Fannie Mae</vt:lpstr>
      <vt:lpstr>Agenda</vt:lpstr>
      <vt:lpstr>1.Background – Fannie Mae and cloud migration</vt:lpstr>
      <vt:lpstr>2.Cloud Migration in Fannie Mae</vt:lpstr>
      <vt:lpstr>1.Background – cloud in other organizations</vt:lpstr>
      <vt:lpstr>2.Cloud Migration in Fannie Mae</vt:lpstr>
      <vt:lpstr>3. My work in the Migration</vt:lpstr>
      <vt:lpstr>Steps for refactoring</vt:lpstr>
      <vt:lpstr>Major SAS Steps/Proc vs R package/functions</vt:lpstr>
      <vt:lpstr>Steps for refactoring</vt:lpstr>
      <vt:lpstr>Steps for refactoring</vt:lpstr>
      <vt:lpstr>Efficiency</vt:lpstr>
      <vt:lpstr>Accuracy</vt:lpstr>
      <vt:lpstr>Merge Tables</vt:lpstr>
      <vt:lpstr>PowerPoint Presentation</vt:lpstr>
      <vt:lpstr>PowerPoint Presentation</vt:lpstr>
      <vt:lpstr>Reference: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Wujian Xue</dc:creator>
  <cp:lastModifiedBy>Wujian Xue</cp:lastModifiedBy>
  <cp:revision>38</cp:revision>
  <dcterms:created xsi:type="dcterms:W3CDTF">2026-09-28T02:18:07Z</dcterms:created>
  <dcterms:modified xsi:type="dcterms:W3CDTF">2026-10-16T16:20:20Z</dcterms:modified>
</cp:coreProperties>
</file>